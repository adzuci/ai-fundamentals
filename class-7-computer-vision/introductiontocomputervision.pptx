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6406" y="503598"/>
            <a:ext cx="10011286" cy="95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rgbClr val="050A19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9292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050A19"/>
                </a:solidFill>
                <a:latin typeface="Source Sans Pro"/>
                <a:cs typeface="Source Sans Pr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29292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29166"/>
            <a:ext cx="20073011" cy="888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050A19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81" y="343539"/>
            <a:ext cx="2671929" cy="63123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"/>
            <a:ext cx="20104100" cy="113085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050A19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29166"/>
            <a:ext cx="20073011" cy="8880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36799" y="190372"/>
            <a:ext cx="3915677" cy="11473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104101" cy="113085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329166"/>
            <a:ext cx="20073011" cy="888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4843" y="382105"/>
            <a:ext cx="18174412" cy="195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rgbClr val="050A19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249" y="1749078"/>
            <a:ext cx="18103215" cy="4577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9292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4566" y="4714637"/>
            <a:ext cx="7171690" cy="2601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0"/>
              </a:spcBef>
            </a:pPr>
            <a:r>
              <a:rPr sz="7300" b="1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7300" b="1" spc="-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7300" b="1" spc="-25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7300" b="1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7300" b="1" spc="-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7300" b="1" spc="-10" dirty="0">
                <a:solidFill>
                  <a:srgbClr val="FFFFFF"/>
                </a:solidFill>
                <a:latin typeface="Cambria"/>
                <a:cs typeface="Cambria"/>
              </a:rPr>
              <a:t>Vision</a:t>
            </a:r>
            <a:endParaRPr sz="7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830" rIns="0" bIns="0" rtlCol="0">
            <a:spAutoFit/>
          </a:bodyPr>
          <a:lstStyle/>
          <a:p>
            <a:pPr marL="5998845">
              <a:lnSpc>
                <a:spcPct val="100000"/>
              </a:lnSpc>
              <a:spcBef>
                <a:spcPts val="130"/>
              </a:spcBef>
            </a:pPr>
            <a:r>
              <a:rPr sz="9450" dirty="0"/>
              <a:t>Our</a:t>
            </a:r>
            <a:r>
              <a:rPr sz="9450" spc="5" dirty="0"/>
              <a:t> </a:t>
            </a:r>
            <a:r>
              <a:rPr sz="9450" spc="-10" dirty="0"/>
              <a:t>Agenda</a:t>
            </a:r>
            <a:endParaRPr sz="9450"/>
          </a:p>
        </p:txBody>
      </p:sp>
      <p:sp>
        <p:nvSpPr>
          <p:cNvPr id="3" name="object 3"/>
          <p:cNvSpPr/>
          <p:nvPr/>
        </p:nvSpPr>
        <p:spPr>
          <a:xfrm>
            <a:off x="2861599" y="3458648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494563" y="989127"/>
                </a:moveTo>
                <a:lnTo>
                  <a:pt x="446934" y="986863"/>
                </a:lnTo>
                <a:lnTo>
                  <a:pt x="400585" y="980210"/>
                </a:lnTo>
                <a:lnTo>
                  <a:pt x="355724" y="969373"/>
                </a:lnTo>
                <a:lnTo>
                  <a:pt x="312559" y="954562"/>
                </a:lnTo>
                <a:lnTo>
                  <a:pt x="271297" y="935982"/>
                </a:lnTo>
                <a:lnTo>
                  <a:pt x="232144" y="913842"/>
                </a:lnTo>
                <a:lnTo>
                  <a:pt x="195309" y="888348"/>
                </a:lnTo>
                <a:lnTo>
                  <a:pt x="160998" y="859708"/>
                </a:lnTo>
                <a:lnTo>
                  <a:pt x="129419" y="828129"/>
                </a:lnTo>
                <a:lnTo>
                  <a:pt x="100779" y="793818"/>
                </a:lnTo>
                <a:lnTo>
                  <a:pt x="75285" y="756983"/>
                </a:lnTo>
                <a:lnTo>
                  <a:pt x="53145" y="717830"/>
                </a:lnTo>
                <a:lnTo>
                  <a:pt x="34565" y="676568"/>
                </a:lnTo>
                <a:lnTo>
                  <a:pt x="19754" y="633403"/>
                </a:lnTo>
                <a:lnTo>
                  <a:pt x="8917" y="588542"/>
                </a:lnTo>
                <a:lnTo>
                  <a:pt x="2263" y="542193"/>
                </a:lnTo>
                <a:lnTo>
                  <a:pt x="0" y="494563"/>
                </a:lnTo>
                <a:lnTo>
                  <a:pt x="2263" y="446934"/>
                </a:lnTo>
                <a:lnTo>
                  <a:pt x="8917" y="400585"/>
                </a:lnTo>
                <a:lnTo>
                  <a:pt x="19754" y="355724"/>
                </a:lnTo>
                <a:lnTo>
                  <a:pt x="34565" y="312559"/>
                </a:lnTo>
                <a:lnTo>
                  <a:pt x="53145" y="271296"/>
                </a:lnTo>
                <a:lnTo>
                  <a:pt x="75285" y="232144"/>
                </a:lnTo>
                <a:lnTo>
                  <a:pt x="100779" y="195309"/>
                </a:lnTo>
                <a:lnTo>
                  <a:pt x="129419" y="160998"/>
                </a:lnTo>
                <a:lnTo>
                  <a:pt x="160998" y="129419"/>
                </a:lnTo>
                <a:lnTo>
                  <a:pt x="195309" y="100779"/>
                </a:lnTo>
                <a:lnTo>
                  <a:pt x="232144" y="75285"/>
                </a:lnTo>
                <a:lnTo>
                  <a:pt x="271297" y="53145"/>
                </a:lnTo>
                <a:lnTo>
                  <a:pt x="312559" y="34565"/>
                </a:lnTo>
                <a:lnTo>
                  <a:pt x="355724" y="19754"/>
                </a:lnTo>
                <a:lnTo>
                  <a:pt x="400585" y="8917"/>
                </a:lnTo>
                <a:lnTo>
                  <a:pt x="446934" y="2263"/>
                </a:lnTo>
                <a:lnTo>
                  <a:pt x="494563" y="0"/>
                </a:lnTo>
                <a:lnTo>
                  <a:pt x="543445" y="2420"/>
                </a:lnTo>
                <a:lnTo>
                  <a:pt x="591499" y="9590"/>
                </a:lnTo>
                <a:lnTo>
                  <a:pt x="638400" y="21377"/>
                </a:lnTo>
                <a:lnTo>
                  <a:pt x="683825" y="37646"/>
                </a:lnTo>
                <a:lnTo>
                  <a:pt x="727449" y="58262"/>
                </a:lnTo>
                <a:lnTo>
                  <a:pt x="768948" y="83092"/>
                </a:lnTo>
                <a:lnTo>
                  <a:pt x="807997" y="112001"/>
                </a:lnTo>
                <a:lnTo>
                  <a:pt x="844273" y="144854"/>
                </a:lnTo>
                <a:lnTo>
                  <a:pt x="877126" y="181130"/>
                </a:lnTo>
                <a:lnTo>
                  <a:pt x="906035" y="220179"/>
                </a:lnTo>
                <a:lnTo>
                  <a:pt x="930864" y="261678"/>
                </a:lnTo>
                <a:lnTo>
                  <a:pt x="951481" y="305302"/>
                </a:lnTo>
                <a:lnTo>
                  <a:pt x="967750" y="350727"/>
                </a:lnTo>
                <a:lnTo>
                  <a:pt x="979537" y="397628"/>
                </a:lnTo>
                <a:lnTo>
                  <a:pt x="986707" y="445682"/>
                </a:lnTo>
                <a:lnTo>
                  <a:pt x="989127" y="494563"/>
                </a:lnTo>
                <a:lnTo>
                  <a:pt x="986863" y="542193"/>
                </a:lnTo>
                <a:lnTo>
                  <a:pt x="980210" y="588542"/>
                </a:lnTo>
                <a:lnTo>
                  <a:pt x="969373" y="633403"/>
                </a:lnTo>
                <a:lnTo>
                  <a:pt x="954562" y="676568"/>
                </a:lnTo>
                <a:lnTo>
                  <a:pt x="935982" y="717830"/>
                </a:lnTo>
                <a:lnTo>
                  <a:pt x="913842" y="756983"/>
                </a:lnTo>
                <a:lnTo>
                  <a:pt x="888348" y="793818"/>
                </a:lnTo>
                <a:lnTo>
                  <a:pt x="859708" y="828129"/>
                </a:lnTo>
                <a:lnTo>
                  <a:pt x="828129" y="859708"/>
                </a:lnTo>
                <a:lnTo>
                  <a:pt x="793818" y="888348"/>
                </a:lnTo>
                <a:lnTo>
                  <a:pt x="756983" y="913842"/>
                </a:lnTo>
                <a:lnTo>
                  <a:pt x="717830" y="935982"/>
                </a:lnTo>
                <a:lnTo>
                  <a:pt x="676568" y="954562"/>
                </a:lnTo>
                <a:lnTo>
                  <a:pt x="633403" y="969373"/>
                </a:lnTo>
                <a:lnTo>
                  <a:pt x="588542" y="980210"/>
                </a:lnTo>
                <a:lnTo>
                  <a:pt x="542193" y="986863"/>
                </a:lnTo>
                <a:lnTo>
                  <a:pt x="494563" y="989127"/>
                </a:lnTo>
                <a:close/>
              </a:path>
            </a:pathLst>
          </a:custGeom>
          <a:solidFill>
            <a:srgbClr val="09B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56580" y="3580805"/>
            <a:ext cx="5988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0" spc="-25" dirty="0">
                <a:solidFill>
                  <a:srgbClr val="FFFFFF"/>
                </a:solidFill>
                <a:latin typeface="Open Sans Light"/>
                <a:cs typeface="Open Sans Light"/>
              </a:rPr>
              <a:t>01</a:t>
            </a:r>
            <a:endParaRPr sz="3950">
              <a:latin typeface="Open Sans Light"/>
              <a:cs typeface="Open Sans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4956" y="3683540"/>
            <a:ext cx="577977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Introduction</a:t>
            </a:r>
            <a:r>
              <a:rPr sz="3100" b="0" spc="85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to</a:t>
            </a:r>
            <a:r>
              <a:rPr sz="3100" b="0" spc="8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Computer</a:t>
            </a:r>
            <a:r>
              <a:rPr sz="3100" b="0" spc="9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spc="-10" dirty="0">
                <a:solidFill>
                  <a:srgbClr val="050A19"/>
                </a:solidFill>
                <a:latin typeface="Open Sans Light"/>
                <a:cs typeface="Open Sans Light"/>
              </a:rPr>
              <a:t>Vision</a:t>
            </a:r>
            <a:endParaRPr sz="3100">
              <a:latin typeface="Open Sans Light"/>
              <a:cs typeface="Open Sans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1599" y="4809743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494563" y="989128"/>
                </a:moveTo>
                <a:lnTo>
                  <a:pt x="446934" y="986864"/>
                </a:lnTo>
                <a:lnTo>
                  <a:pt x="400585" y="980210"/>
                </a:lnTo>
                <a:lnTo>
                  <a:pt x="355724" y="969374"/>
                </a:lnTo>
                <a:lnTo>
                  <a:pt x="312559" y="954562"/>
                </a:lnTo>
                <a:lnTo>
                  <a:pt x="271297" y="935982"/>
                </a:lnTo>
                <a:lnTo>
                  <a:pt x="232144" y="913842"/>
                </a:lnTo>
                <a:lnTo>
                  <a:pt x="195309" y="888348"/>
                </a:lnTo>
                <a:lnTo>
                  <a:pt x="160998" y="859708"/>
                </a:lnTo>
                <a:lnTo>
                  <a:pt x="129419" y="828129"/>
                </a:lnTo>
                <a:lnTo>
                  <a:pt x="100779" y="793818"/>
                </a:lnTo>
                <a:lnTo>
                  <a:pt x="75285" y="756983"/>
                </a:lnTo>
                <a:lnTo>
                  <a:pt x="53145" y="717830"/>
                </a:lnTo>
                <a:lnTo>
                  <a:pt x="34565" y="676568"/>
                </a:lnTo>
                <a:lnTo>
                  <a:pt x="19754" y="633403"/>
                </a:lnTo>
                <a:lnTo>
                  <a:pt x="8917" y="588542"/>
                </a:lnTo>
                <a:lnTo>
                  <a:pt x="2263" y="542193"/>
                </a:lnTo>
                <a:lnTo>
                  <a:pt x="0" y="494563"/>
                </a:lnTo>
                <a:lnTo>
                  <a:pt x="2263" y="446934"/>
                </a:lnTo>
                <a:lnTo>
                  <a:pt x="8917" y="400585"/>
                </a:lnTo>
                <a:lnTo>
                  <a:pt x="19754" y="355724"/>
                </a:lnTo>
                <a:lnTo>
                  <a:pt x="34565" y="312559"/>
                </a:lnTo>
                <a:lnTo>
                  <a:pt x="53145" y="271297"/>
                </a:lnTo>
                <a:lnTo>
                  <a:pt x="75285" y="232144"/>
                </a:lnTo>
                <a:lnTo>
                  <a:pt x="100779" y="195309"/>
                </a:lnTo>
                <a:lnTo>
                  <a:pt x="129419" y="160998"/>
                </a:lnTo>
                <a:lnTo>
                  <a:pt x="160998" y="129419"/>
                </a:lnTo>
                <a:lnTo>
                  <a:pt x="195309" y="100779"/>
                </a:lnTo>
                <a:lnTo>
                  <a:pt x="232144" y="75285"/>
                </a:lnTo>
                <a:lnTo>
                  <a:pt x="271297" y="53145"/>
                </a:lnTo>
                <a:lnTo>
                  <a:pt x="312559" y="34565"/>
                </a:lnTo>
                <a:lnTo>
                  <a:pt x="355724" y="19754"/>
                </a:lnTo>
                <a:lnTo>
                  <a:pt x="400585" y="8917"/>
                </a:lnTo>
                <a:lnTo>
                  <a:pt x="446934" y="2263"/>
                </a:lnTo>
                <a:lnTo>
                  <a:pt x="494563" y="0"/>
                </a:lnTo>
                <a:lnTo>
                  <a:pt x="543445" y="2420"/>
                </a:lnTo>
                <a:lnTo>
                  <a:pt x="591499" y="9590"/>
                </a:lnTo>
                <a:lnTo>
                  <a:pt x="638400" y="21377"/>
                </a:lnTo>
                <a:lnTo>
                  <a:pt x="683825" y="37646"/>
                </a:lnTo>
                <a:lnTo>
                  <a:pt x="727449" y="58262"/>
                </a:lnTo>
                <a:lnTo>
                  <a:pt x="768948" y="83092"/>
                </a:lnTo>
                <a:lnTo>
                  <a:pt x="807997" y="112001"/>
                </a:lnTo>
                <a:lnTo>
                  <a:pt x="844273" y="144854"/>
                </a:lnTo>
                <a:lnTo>
                  <a:pt x="877126" y="181130"/>
                </a:lnTo>
                <a:lnTo>
                  <a:pt x="906035" y="220179"/>
                </a:lnTo>
                <a:lnTo>
                  <a:pt x="930864" y="261678"/>
                </a:lnTo>
                <a:lnTo>
                  <a:pt x="951481" y="305302"/>
                </a:lnTo>
                <a:lnTo>
                  <a:pt x="967750" y="350727"/>
                </a:lnTo>
                <a:lnTo>
                  <a:pt x="979537" y="397628"/>
                </a:lnTo>
                <a:lnTo>
                  <a:pt x="986707" y="445682"/>
                </a:lnTo>
                <a:lnTo>
                  <a:pt x="989127" y="494563"/>
                </a:lnTo>
                <a:lnTo>
                  <a:pt x="986863" y="542193"/>
                </a:lnTo>
                <a:lnTo>
                  <a:pt x="980210" y="588542"/>
                </a:lnTo>
                <a:lnTo>
                  <a:pt x="969373" y="633403"/>
                </a:lnTo>
                <a:lnTo>
                  <a:pt x="954562" y="676568"/>
                </a:lnTo>
                <a:lnTo>
                  <a:pt x="935982" y="717830"/>
                </a:lnTo>
                <a:lnTo>
                  <a:pt x="913842" y="756983"/>
                </a:lnTo>
                <a:lnTo>
                  <a:pt x="888348" y="793818"/>
                </a:lnTo>
                <a:lnTo>
                  <a:pt x="859708" y="828129"/>
                </a:lnTo>
                <a:lnTo>
                  <a:pt x="828129" y="859708"/>
                </a:lnTo>
                <a:lnTo>
                  <a:pt x="793818" y="888348"/>
                </a:lnTo>
                <a:lnTo>
                  <a:pt x="756983" y="913842"/>
                </a:lnTo>
                <a:lnTo>
                  <a:pt x="717830" y="935982"/>
                </a:lnTo>
                <a:lnTo>
                  <a:pt x="676568" y="954562"/>
                </a:lnTo>
                <a:lnTo>
                  <a:pt x="633403" y="969374"/>
                </a:lnTo>
                <a:lnTo>
                  <a:pt x="588542" y="980210"/>
                </a:lnTo>
                <a:lnTo>
                  <a:pt x="542193" y="986864"/>
                </a:lnTo>
                <a:lnTo>
                  <a:pt x="494563" y="989128"/>
                </a:lnTo>
                <a:close/>
              </a:path>
            </a:pathLst>
          </a:custGeom>
          <a:solidFill>
            <a:srgbClr val="31C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56580" y="4906094"/>
            <a:ext cx="5988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0" spc="-25" dirty="0">
                <a:solidFill>
                  <a:srgbClr val="FFFFFF"/>
                </a:solidFill>
                <a:latin typeface="Open Sans Light"/>
                <a:cs typeface="Open Sans Light"/>
              </a:rPr>
              <a:t>02</a:t>
            </a:r>
            <a:endParaRPr sz="3950">
              <a:latin typeface="Open Sans Light"/>
              <a:cs typeface="Open Sa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3342" y="5034614"/>
            <a:ext cx="506476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How</a:t>
            </a:r>
            <a:r>
              <a:rPr sz="3100" b="0" spc="7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Computer</a:t>
            </a:r>
            <a:r>
              <a:rPr sz="3100" b="0" spc="75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Vision</a:t>
            </a:r>
            <a:r>
              <a:rPr sz="3100" b="0" spc="8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spc="-10" dirty="0">
                <a:solidFill>
                  <a:srgbClr val="050A19"/>
                </a:solidFill>
                <a:latin typeface="Open Sans Light"/>
                <a:cs typeface="Open Sans Light"/>
              </a:rPr>
              <a:t>works</a:t>
            </a:r>
            <a:endParaRPr sz="3100">
              <a:latin typeface="Open Sans Light"/>
              <a:cs typeface="Open Sans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61578" y="6160828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494563" y="989127"/>
                </a:moveTo>
                <a:lnTo>
                  <a:pt x="446934" y="986863"/>
                </a:lnTo>
                <a:lnTo>
                  <a:pt x="400585" y="980210"/>
                </a:lnTo>
                <a:lnTo>
                  <a:pt x="355724" y="969373"/>
                </a:lnTo>
                <a:lnTo>
                  <a:pt x="312559" y="954562"/>
                </a:lnTo>
                <a:lnTo>
                  <a:pt x="271297" y="935982"/>
                </a:lnTo>
                <a:lnTo>
                  <a:pt x="232144" y="913842"/>
                </a:lnTo>
                <a:lnTo>
                  <a:pt x="195309" y="888348"/>
                </a:lnTo>
                <a:lnTo>
                  <a:pt x="160998" y="859708"/>
                </a:lnTo>
                <a:lnTo>
                  <a:pt x="129419" y="828129"/>
                </a:lnTo>
                <a:lnTo>
                  <a:pt x="100779" y="793818"/>
                </a:lnTo>
                <a:lnTo>
                  <a:pt x="75285" y="756983"/>
                </a:lnTo>
                <a:lnTo>
                  <a:pt x="53145" y="717830"/>
                </a:lnTo>
                <a:lnTo>
                  <a:pt x="34565" y="676568"/>
                </a:lnTo>
                <a:lnTo>
                  <a:pt x="19754" y="633403"/>
                </a:lnTo>
                <a:lnTo>
                  <a:pt x="8917" y="588542"/>
                </a:lnTo>
                <a:lnTo>
                  <a:pt x="2263" y="542193"/>
                </a:lnTo>
                <a:lnTo>
                  <a:pt x="0" y="494563"/>
                </a:lnTo>
                <a:lnTo>
                  <a:pt x="2263" y="446934"/>
                </a:lnTo>
                <a:lnTo>
                  <a:pt x="8917" y="400585"/>
                </a:lnTo>
                <a:lnTo>
                  <a:pt x="19754" y="355724"/>
                </a:lnTo>
                <a:lnTo>
                  <a:pt x="34565" y="312559"/>
                </a:lnTo>
                <a:lnTo>
                  <a:pt x="53145" y="271296"/>
                </a:lnTo>
                <a:lnTo>
                  <a:pt x="75285" y="232144"/>
                </a:lnTo>
                <a:lnTo>
                  <a:pt x="100779" y="195309"/>
                </a:lnTo>
                <a:lnTo>
                  <a:pt x="129419" y="160998"/>
                </a:lnTo>
                <a:lnTo>
                  <a:pt x="160998" y="129419"/>
                </a:lnTo>
                <a:lnTo>
                  <a:pt x="195309" y="100779"/>
                </a:lnTo>
                <a:lnTo>
                  <a:pt x="232144" y="75285"/>
                </a:lnTo>
                <a:lnTo>
                  <a:pt x="271297" y="53145"/>
                </a:lnTo>
                <a:lnTo>
                  <a:pt x="312559" y="34565"/>
                </a:lnTo>
                <a:lnTo>
                  <a:pt x="355724" y="19753"/>
                </a:lnTo>
                <a:lnTo>
                  <a:pt x="400585" y="8917"/>
                </a:lnTo>
                <a:lnTo>
                  <a:pt x="446934" y="2263"/>
                </a:lnTo>
                <a:lnTo>
                  <a:pt x="494563" y="0"/>
                </a:lnTo>
                <a:lnTo>
                  <a:pt x="543445" y="2420"/>
                </a:lnTo>
                <a:lnTo>
                  <a:pt x="591499" y="9590"/>
                </a:lnTo>
                <a:lnTo>
                  <a:pt x="638400" y="21377"/>
                </a:lnTo>
                <a:lnTo>
                  <a:pt x="683825" y="37646"/>
                </a:lnTo>
                <a:lnTo>
                  <a:pt x="727449" y="58262"/>
                </a:lnTo>
                <a:lnTo>
                  <a:pt x="768948" y="83092"/>
                </a:lnTo>
                <a:lnTo>
                  <a:pt x="807997" y="112001"/>
                </a:lnTo>
                <a:lnTo>
                  <a:pt x="844273" y="144854"/>
                </a:lnTo>
                <a:lnTo>
                  <a:pt x="877126" y="181130"/>
                </a:lnTo>
                <a:lnTo>
                  <a:pt x="906035" y="220179"/>
                </a:lnTo>
                <a:lnTo>
                  <a:pt x="930864" y="261678"/>
                </a:lnTo>
                <a:lnTo>
                  <a:pt x="951481" y="305302"/>
                </a:lnTo>
                <a:lnTo>
                  <a:pt x="967750" y="350727"/>
                </a:lnTo>
                <a:lnTo>
                  <a:pt x="979537" y="397628"/>
                </a:lnTo>
                <a:lnTo>
                  <a:pt x="986707" y="445682"/>
                </a:lnTo>
                <a:lnTo>
                  <a:pt x="989127" y="494563"/>
                </a:lnTo>
                <a:lnTo>
                  <a:pt x="986863" y="542193"/>
                </a:lnTo>
                <a:lnTo>
                  <a:pt x="980210" y="588542"/>
                </a:lnTo>
                <a:lnTo>
                  <a:pt x="969373" y="633403"/>
                </a:lnTo>
                <a:lnTo>
                  <a:pt x="954562" y="676568"/>
                </a:lnTo>
                <a:lnTo>
                  <a:pt x="935982" y="717830"/>
                </a:lnTo>
                <a:lnTo>
                  <a:pt x="913842" y="756983"/>
                </a:lnTo>
                <a:lnTo>
                  <a:pt x="888348" y="793818"/>
                </a:lnTo>
                <a:lnTo>
                  <a:pt x="859708" y="828129"/>
                </a:lnTo>
                <a:lnTo>
                  <a:pt x="828129" y="859708"/>
                </a:lnTo>
                <a:lnTo>
                  <a:pt x="793818" y="888348"/>
                </a:lnTo>
                <a:lnTo>
                  <a:pt x="756983" y="913842"/>
                </a:lnTo>
                <a:lnTo>
                  <a:pt x="717830" y="935982"/>
                </a:lnTo>
                <a:lnTo>
                  <a:pt x="676568" y="954562"/>
                </a:lnTo>
                <a:lnTo>
                  <a:pt x="633403" y="969373"/>
                </a:lnTo>
                <a:lnTo>
                  <a:pt x="588542" y="980210"/>
                </a:lnTo>
                <a:lnTo>
                  <a:pt x="542193" y="986863"/>
                </a:lnTo>
                <a:lnTo>
                  <a:pt x="494563" y="989127"/>
                </a:lnTo>
                <a:close/>
              </a:path>
            </a:pathLst>
          </a:custGeom>
          <a:solidFill>
            <a:srgbClr val="558E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56621" y="6376797"/>
            <a:ext cx="5988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0" spc="-25" dirty="0">
                <a:solidFill>
                  <a:srgbClr val="FFFFFF"/>
                </a:solidFill>
                <a:latin typeface="Open Sans Light"/>
                <a:cs typeface="Open Sans Light"/>
              </a:rPr>
              <a:t>03</a:t>
            </a:r>
            <a:endParaRPr sz="3950">
              <a:latin typeface="Open Sans Light"/>
              <a:cs typeface="Open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3348" y="6385688"/>
            <a:ext cx="554164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Application</a:t>
            </a:r>
            <a:r>
              <a:rPr sz="3100" b="0" spc="8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of</a:t>
            </a:r>
            <a:r>
              <a:rPr sz="3100" b="0" spc="85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Computer</a:t>
            </a:r>
            <a:r>
              <a:rPr sz="3100" b="0" spc="8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spc="-10" dirty="0">
                <a:solidFill>
                  <a:srgbClr val="050A19"/>
                </a:solidFill>
                <a:latin typeface="Open Sans Light"/>
                <a:cs typeface="Open Sans Light"/>
              </a:rPr>
              <a:t>Vision</a:t>
            </a:r>
            <a:endParaRPr sz="3100">
              <a:latin typeface="Open Sans Light"/>
              <a:cs typeface="Open Sans Ligh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61681" y="7640996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494563" y="989127"/>
                </a:moveTo>
                <a:lnTo>
                  <a:pt x="446934" y="986863"/>
                </a:lnTo>
                <a:lnTo>
                  <a:pt x="400585" y="980210"/>
                </a:lnTo>
                <a:lnTo>
                  <a:pt x="355724" y="969373"/>
                </a:lnTo>
                <a:lnTo>
                  <a:pt x="312559" y="954562"/>
                </a:lnTo>
                <a:lnTo>
                  <a:pt x="271297" y="935982"/>
                </a:lnTo>
                <a:lnTo>
                  <a:pt x="232144" y="913842"/>
                </a:lnTo>
                <a:lnTo>
                  <a:pt x="195309" y="888348"/>
                </a:lnTo>
                <a:lnTo>
                  <a:pt x="160998" y="859708"/>
                </a:lnTo>
                <a:lnTo>
                  <a:pt x="129419" y="828129"/>
                </a:lnTo>
                <a:lnTo>
                  <a:pt x="100779" y="793818"/>
                </a:lnTo>
                <a:lnTo>
                  <a:pt x="75285" y="756983"/>
                </a:lnTo>
                <a:lnTo>
                  <a:pt x="53145" y="717830"/>
                </a:lnTo>
                <a:lnTo>
                  <a:pt x="34565" y="676568"/>
                </a:lnTo>
                <a:lnTo>
                  <a:pt x="19754" y="633403"/>
                </a:lnTo>
                <a:lnTo>
                  <a:pt x="8917" y="588542"/>
                </a:lnTo>
                <a:lnTo>
                  <a:pt x="2263" y="542193"/>
                </a:lnTo>
                <a:lnTo>
                  <a:pt x="0" y="494563"/>
                </a:lnTo>
                <a:lnTo>
                  <a:pt x="2263" y="446934"/>
                </a:lnTo>
                <a:lnTo>
                  <a:pt x="8917" y="400585"/>
                </a:lnTo>
                <a:lnTo>
                  <a:pt x="19754" y="355724"/>
                </a:lnTo>
                <a:lnTo>
                  <a:pt x="34565" y="312559"/>
                </a:lnTo>
                <a:lnTo>
                  <a:pt x="53145" y="271296"/>
                </a:lnTo>
                <a:lnTo>
                  <a:pt x="75285" y="232144"/>
                </a:lnTo>
                <a:lnTo>
                  <a:pt x="100779" y="195309"/>
                </a:lnTo>
                <a:lnTo>
                  <a:pt x="129419" y="160998"/>
                </a:lnTo>
                <a:lnTo>
                  <a:pt x="160998" y="129419"/>
                </a:lnTo>
                <a:lnTo>
                  <a:pt x="195309" y="100779"/>
                </a:lnTo>
                <a:lnTo>
                  <a:pt x="232144" y="75285"/>
                </a:lnTo>
                <a:lnTo>
                  <a:pt x="271297" y="53145"/>
                </a:lnTo>
                <a:lnTo>
                  <a:pt x="312559" y="34565"/>
                </a:lnTo>
                <a:lnTo>
                  <a:pt x="355724" y="19753"/>
                </a:lnTo>
                <a:lnTo>
                  <a:pt x="400585" y="8917"/>
                </a:lnTo>
                <a:lnTo>
                  <a:pt x="446934" y="2263"/>
                </a:lnTo>
                <a:lnTo>
                  <a:pt x="494563" y="0"/>
                </a:lnTo>
                <a:lnTo>
                  <a:pt x="543445" y="2420"/>
                </a:lnTo>
                <a:lnTo>
                  <a:pt x="591499" y="9590"/>
                </a:lnTo>
                <a:lnTo>
                  <a:pt x="638400" y="21377"/>
                </a:lnTo>
                <a:lnTo>
                  <a:pt x="683825" y="37646"/>
                </a:lnTo>
                <a:lnTo>
                  <a:pt x="727449" y="58262"/>
                </a:lnTo>
                <a:lnTo>
                  <a:pt x="768948" y="83092"/>
                </a:lnTo>
                <a:lnTo>
                  <a:pt x="807997" y="112001"/>
                </a:lnTo>
                <a:lnTo>
                  <a:pt x="844273" y="144854"/>
                </a:lnTo>
                <a:lnTo>
                  <a:pt x="877126" y="181130"/>
                </a:lnTo>
                <a:lnTo>
                  <a:pt x="906035" y="220179"/>
                </a:lnTo>
                <a:lnTo>
                  <a:pt x="930864" y="261678"/>
                </a:lnTo>
                <a:lnTo>
                  <a:pt x="951481" y="305302"/>
                </a:lnTo>
                <a:lnTo>
                  <a:pt x="967750" y="350727"/>
                </a:lnTo>
                <a:lnTo>
                  <a:pt x="979536" y="397628"/>
                </a:lnTo>
                <a:lnTo>
                  <a:pt x="986707" y="445682"/>
                </a:lnTo>
                <a:lnTo>
                  <a:pt x="989127" y="494563"/>
                </a:lnTo>
                <a:lnTo>
                  <a:pt x="986863" y="542193"/>
                </a:lnTo>
                <a:lnTo>
                  <a:pt x="980209" y="588542"/>
                </a:lnTo>
                <a:lnTo>
                  <a:pt x="969373" y="633403"/>
                </a:lnTo>
                <a:lnTo>
                  <a:pt x="954562" y="676568"/>
                </a:lnTo>
                <a:lnTo>
                  <a:pt x="935982" y="717830"/>
                </a:lnTo>
                <a:lnTo>
                  <a:pt x="913842" y="756983"/>
                </a:lnTo>
                <a:lnTo>
                  <a:pt x="888348" y="793818"/>
                </a:lnTo>
                <a:lnTo>
                  <a:pt x="859708" y="828129"/>
                </a:lnTo>
                <a:lnTo>
                  <a:pt x="828129" y="859708"/>
                </a:lnTo>
                <a:lnTo>
                  <a:pt x="793818" y="888348"/>
                </a:lnTo>
                <a:lnTo>
                  <a:pt x="756983" y="913842"/>
                </a:lnTo>
                <a:lnTo>
                  <a:pt x="717830" y="935982"/>
                </a:lnTo>
                <a:lnTo>
                  <a:pt x="676568" y="954562"/>
                </a:lnTo>
                <a:lnTo>
                  <a:pt x="633403" y="969373"/>
                </a:lnTo>
                <a:lnTo>
                  <a:pt x="588542" y="980210"/>
                </a:lnTo>
                <a:lnTo>
                  <a:pt x="542193" y="986863"/>
                </a:lnTo>
                <a:lnTo>
                  <a:pt x="494563" y="989127"/>
                </a:lnTo>
                <a:close/>
              </a:path>
            </a:pathLst>
          </a:custGeom>
          <a:solidFill>
            <a:srgbClr val="387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34962" y="7865916"/>
            <a:ext cx="546481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Challenges</a:t>
            </a:r>
            <a:r>
              <a:rPr sz="3100" b="0" spc="75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in</a:t>
            </a:r>
            <a:r>
              <a:rPr sz="3100" b="0" spc="80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dirty="0">
                <a:solidFill>
                  <a:srgbClr val="050A19"/>
                </a:solidFill>
                <a:latin typeface="Open Sans Light"/>
                <a:cs typeface="Open Sans Light"/>
              </a:rPr>
              <a:t>Computer</a:t>
            </a:r>
            <a:r>
              <a:rPr sz="3100" b="0" spc="85" dirty="0">
                <a:solidFill>
                  <a:srgbClr val="050A19"/>
                </a:solidFill>
                <a:latin typeface="Open Sans Light"/>
                <a:cs typeface="Open Sans Light"/>
              </a:rPr>
              <a:t> </a:t>
            </a:r>
            <a:r>
              <a:rPr sz="3100" b="0" spc="-10" dirty="0">
                <a:solidFill>
                  <a:srgbClr val="050A19"/>
                </a:solidFill>
                <a:latin typeface="Open Sans Light"/>
                <a:cs typeface="Open Sans Light"/>
              </a:rPr>
              <a:t>Vision</a:t>
            </a:r>
            <a:endParaRPr sz="3100">
              <a:latin typeface="Open Sans Light"/>
              <a:cs typeface="Open Sans 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1581" y="8863028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494563" y="989127"/>
                </a:moveTo>
                <a:lnTo>
                  <a:pt x="446934" y="986863"/>
                </a:lnTo>
                <a:lnTo>
                  <a:pt x="400585" y="980210"/>
                </a:lnTo>
                <a:lnTo>
                  <a:pt x="355724" y="969373"/>
                </a:lnTo>
                <a:lnTo>
                  <a:pt x="312559" y="954562"/>
                </a:lnTo>
                <a:lnTo>
                  <a:pt x="271296" y="935982"/>
                </a:lnTo>
                <a:lnTo>
                  <a:pt x="232144" y="913842"/>
                </a:lnTo>
                <a:lnTo>
                  <a:pt x="195309" y="888348"/>
                </a:lnTo>
                <a:lnTo>
                  <a:pt x="160998" y="859708"/>
                </a:lnTo>
                <a:lnTo>
                  <a:pt x="129419" y="828129"/>
                </a:lnTo>
                <a:lnTo>
                  <a:pt x="100779" y="793818"/>
                </a:lnTo>
                <a:lnTo>
                  <a:pt x="75285" y="756983"/>
                </a:lnTo>
                <a:lnTo>
                  <a:pt x="53145" y="717830"/>
                </a:lnTo>
                <a:lnTo>
                  <a:pt x="34565" y="676568"/>
                </a:lnTo>
                <a:lnTo>
                  <a:pt x="19754" y="633403"/>
                </a:lnTo>
                <a:lnTo>
                  <a:pt x="8917" y="588542"/>
                </a:lnTo>
                <a:lnTo>
                  <a:pt x="2263" y="542193"/>
                </a:lnTo>
                <a:lnTo>
                  <a:pt x="0" y="494563"/>
                </a:lnTo>
                <a:lnTo>
                  <a:pt x="2263" y="446934"/>
                </a:lnTo>
                <a:lnTo>
                  <a:pt x="8917" y="400585"/>
                </a:lnTo>
                <a:lnTo>
                  <a:pt x="19754" y="355724"/>
                </a:lnTo>
                <a:lnTo>
                  <a:pt x="34565" y="312559"/>
                </a:lnTo>
                <a:lnTo>
                  <a:pt x="53145" y="271297"/>
                </a:lnTo>
                <a:lnTo>
                  <a:pt x="75285" y="232144"/>
                </a:lnTo>
                <a:lnTo>
                  <a:pt x="100779" y="195309"/>
                </a:lnTo>
                <a:lnTo>
                  <a:pt x="129419" y="160998"/>
                </a:lnTo>
                <a:lnTo>
                  <a:pt x="160998" y="129419"/>
                </a:lnTo>
                <a:lnTo>
                  <a:pt x="195309" y="100779"/>
                </a:lnTo>
                <a:lnTo>
                  <a:pt x="232144" y="75285"/>
                </a:lnTo>
                <a:lnTo>
                  <a:pt x="271296" y="53145"/>
                </a:lnTo>
                <a:lnTo>
                  <a:pt x="312559" y="34565"/>
                </a:lnTo>
                <a:lnTo>
                  <a:pt x="355724" y="19754"/>
                </a:lnTo>
                <a:lnTo>
                  <a:pt x="400585" y="8917"/>
                </a:lnTo>
                <a:lnTo>
                  <a:pt x="446934" y="2263"/>
                </a:lnTo>
                <a:lnTo>
                  <a:pt x="494563" y="0"/>
                </a:lnTo>
                <a:lnTo>
                  <a:pt x="543445" y="2420"/>
                </a:lnTo>
                <a:lnTo>
                  <a:pt x="591499" y="9590"/>
                </a:lnTo>
                <a:lnTo>
                  <a:pt x="638400" y="21377"/>
                </a:lnTo>
                <a:lnTo>
                  <a:pt x="683825" y="37646"/>
                </a:lnTo>
                <a:lnTo>
                  <a:pt x="727449" y="58263"/>
                </a:lnTo>
                <a:lnTo>
                  <a:pt x="768948" y="83092"/>
                </a:lnTo>
                <a:lnTo>
                  <a:pt x="807997" y="112001"/>
                </a:lnTo>
                <a:lnTo>
                  <a:pt x="844273" y="144854"/>
                </a:lnTo>
                <a:lnTo>
                  <a:pt x="877126" y="181130"/>
                </a:lnTo>
                <a:lnTo>
                  <a:pt x="906035" y="220179"/>
                </a:lnTo>
                <a:lnTo>
                  <a:pt x="930864" y="261678"/>
                </a:lnTo>
                <a:lnTo>
                  <a:pt x="951481" y="305302"/>
                </a:lnTo>
                <a:lnTo>
                  <a:pt x="967750" y="350727"/>
                </a:lnTo>
                <a:lnTo>
                  <a:pt x="979537" y="397628"/>
                </a:lnTo>
                <a:lnTo>
                  <a:pt x="986707" y="445682"/>
                </a:lnTo>
                <a:lnTo>
                  <a:pt x="989127" y="494563"/>
                </a:lnTo>
                <a:lnTo>
                  <a:pt x="986863" y="542193"/>
                </a:lnTo>
                <a:lnTo>
                  <a:pt x="980210" y="588542"/>
                </a:lnTo>
                <a:lnTo>
                  <a:pt x="969373" y="633403"/>
                </a:lnTo>
                <a:lnTo>
                  <a:pt x="954562" y="676568"/>
                </a:lnTo>
                <a:lnTo>
                  <a:pt x="935982" y="717830"/>
                </a:lnTo>
                <a:lnTo>
                  <a:pt x="913842" y="756983"/>
                </a:lnTo>
                <a:lnTo>
                  <a:pt x="888348" y="793818"/>
                </a:lnTo>
                <a:lnTo>
                  <a:pt x="859708" y="828129"/>
                </a:lnTo>
                <a:lnTo>
                  <a:pt x="828129" y="859708"/>
                </a:lnTo>
                <a:lnTo>
                  <a:pt x="793818" y="888348"/>
                </a:lnTo>
                <a:lnTo>
                  <a:pt x="756983" y="913842"/>
                </a:lnTo>
                <a:lnTo>
                  <a:pt x="717830" y="935982"/>
                </a:lnTo>
                <a:lnTo>
                  <a:pt x="676568" y="954562"/>
                </a:lnTo>
                <a:lnTo>
                  <a:pt x="633403" y="969373"/>
                </a:lnTo>
                <a:lnTo>
                  <a:pt x="588542" y="980210"/>
                </a:lnTo>
                <a:lnTo>
                  <a:pt x="542193" y="986863"/>
                </a:lnTo>
                <a:lnTo>
                  <a:pt x="494563" y="989127"/>
                </a:lnTo>
                <a:close/>
              </a:path>
            </a:pathLst>
          </a:custGeom>
          <a:solidFill>
            <a:srgbClr val="558E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56662" y="7866420"/>
            <a:ext cx="598805" cy="1851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0" spc="-25" dirty="0">
                <a:solidFill>
                  <a:srgbClr val="FFFFFF"/>
                </a:solidFill>
                <a:latin typeface="Open Sans Light"/>
                <a:cs typeface="Open Sans Light"/>
              </a:rPr>
              <a:t>04</a:t>
            </a:r>
            <a:endParaRPr sz="3950">
              <a:latin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spcBef>
                <a:spcPts val="4884"/>
              </a:spcBef>
            </a:pPr>
            <a:r>
              <a:rPr sz="3950" b="0" spc="-25" dirty="0">
                <a:solidFill>
                  <a:srgbClr val="FFFFFF"/>
                </a:solidFill>
                <a:latin typeface="Open Sans Light"/>
                <a:cs typeface="Open Sans Light"/>
              </a:rPr>
              <a:t>05</a:t>
            </a:r>
            <a:endParaRPr sz="3950">
              <a:latin typeface="Open Sans Light"/>
              <a:cs typeface="Open Sans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34962" y="9087835"/>
            <a:ext cx="110934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0" spc="-20" dirty="0">
                <a:solidFill>
                  <a:srgbClr val="050A19"/>
                </a:solidFill>
                <a:latin typeface="Open Sans Light"/>
                <a:cs typeface="Open Sans Light"/>
              </a:rPr>
              <a:t>Demo</a:t>
            </a:r>
            <a:endParaRPr sz="310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7915" y="4796239"/>
            <a:ext cx="10249535" cy="3166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79115" marR="5080" indent="-3067050">
              <a:lnSpc>
                <a:spcPct val="100000"/>
              </a:lnSpc>
              <a:spcBef>
                <a:spcPts val="105"/>
              </a:spcBef>
            </a:pPr>
            <a:r>
              <a:rPr sz="10300" dirty="0">
                <a:solidFill>
                  <a:srgbClr val="FFFFFF"/>
                </a:solidFill>
              </a:rPr>
              <a:t>What</a:t>
            </a:r>
            <a:r>
              <a:rPr sz="10300" spc="-114" dirty="0">
                <a:solidFill>
                  <a:srgbClr val="FFFFFF"/>
                </a:solidFill>
              </a:rPr>
              <a:t> </a:t>
            </a:r>
            <a:r>
              <a:rPr sz="10300" dirty="0">
                <a:solidFill>
                  <a:srgbClr val="FFFFFF"/>
                </a:solidFill>
              </a:rPr>
              <a:t>is</a:t>
            </a:r>
            <a:r>
              <a:rPr sz="10300" spc="-114" dirty="0">
                <a:solidFill>
                  <a:srgbClr val="FFFFFF"/>
                </a:solidFill>
              </a:rPr>
              <a:t> </a:t>
            </a:r>
            <a:r>
              <a:rPr sz="10300" spc="-25" dirty="0">
                <a:solidFill>
                  <a:srgbClr val="FFFFFF"/>
                </a:solidFill>
              </a:rPr>
              <a:t>Computer </a:t>
            </a:r>
            <a:r>
              <a:rPr sz="10300" spc="-10" dirty="0">
                <a:solidFill>
                  <a:srgbClr val="FFFFFF"/>
                </a:solidFill>
              </a:rPr>
              <a:t>Vision?</a:t>
            </a:r>
            <a:endParaRPr sz="10300"/>
          </a:p>
        </p:txBody>
      </p:sp>
      <p:sp>
        <p:nvSpPr>
          <p:cNvPr id="3" name="object 3"/>
          <p:cNvSpPr/>
          <p:nvPr/>
        </p:nvSpPr>
        <p:spPr>
          <a:xfrm>
            <a:off x="4596671" y="4459173"/>
            <a:ext cx="1376045" cy="1891030"/>
          </a:xfrm>
          <a:custGeom>
            <a:avLst/>
            <a:gdLst/>
            <a:ahLst/>
            <a:cxnLst/>
            <a:rect l="l" t="t" r="r" b="b"/>
            <a:pathLst>
              <a:path w="1376045" h="1891029">
                <a:moveTo>
                  <a:pt x="1375924" y="19287"/>
                </a:moveTo>
                <a:lnTo>
                  <a:pt x="9488" y="19287"/>
                </a:lnTo>
              </a:path>
              <a:path w="1376045" h="1891029">
                <a:moveTo>
                  <a:pt x="0" y="0"/>
                </a:moveTo>
                <a:lnTo>
                  <a:pt x="0" y="1891032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023635" y="6506241"/>
            <a:ext cx="1376045" cy="1891030"/>
          </a:xfrm>
          <a:custGeom>
            <a:avLst/>
            <a:gdLst/>
            <a:ahLst/>
            <a:cxnLst/>
            <a:rect l="l" t="t" r="r" b="b"/>
            <a:pathLst>
              <a:path w="1376044" h="1891029">
                <a:moveTo>
                  <a:pt x="0" y="1871744"/>
                </a:moveTo>
                <a:lnTo>
                  <a:pt x="1366435" y="1871744"/>
                </a:lnTo>
              </a:path>
              <a:path w="1376044" h="1891029">
                <a:moveTo>
                  <a:pt x="1375924" y="1891032"/>
                </a:moveTo>
                <a:lnTo>
                  <a:pt x="1375924" y="0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192" rIns="0" bIns="0" rtlCol="0">
            <a:spAutoFit/>
          </a:bodyPr>
          <a:lstStyle/>
          <a:p>
            <a:pPr marL="477329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45" dirty="0"/>
              <a:t> </a:t>
            </a:r>
            <a:r>
              <a:rPr dirty="0"/>
              <a:t>is</a:t>
            </a:r>
            <a:r>
              <a:rPr spc="-140" dirty="0"/>
              <a:t> </a:t>
            </a:r>
            <a:r>
              <a:rPr dirty="0"/>
              <a:t>Computer</a:t>
            </a:r>
            <a:r>
              <a:rPr spc="-145" dirty="0"/>
              <a:t> </a:t>
            </a:r>
            <a:r>
              <a:rPr spc="-10" dirty="0"/>
              <a:t>Vision?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048" y="3148116"/>
            <a:ext cx="9170035" cy="366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 marR="18415" indent="-387985">
              <a:lnSpc>
                <a:spcPct val="114900"/>
              </a:lnSpc>
              <a:spcBef>
                <a:spcPts val="100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-1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field</a:t>
            </a:r>
            <a:r>
              <a:rPr sz="2600" spc="2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of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Science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focuses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on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analyzing</a:t>
            </a:r>
            <a:r>
              <a:rPr sz="2600" spc="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2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processing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visual</a:t>
            </a:r>
            <a:r>
              <a:rPr sz="2600" spc="-8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images</a:t>
            </a:r>
            <a:r>
              <a:rPr sz="2600" spc="-8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or</a:t>
            </a:r>
            <a:r>
              <a:rPr sz="2600" spc="-8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videos</a:t>
            </a:r>
            <a:r>
              <a:rPr sz="2600" spc="-8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intelligently</a:t>
            </a:r>
            <a:r>
              <a:rPr sz="2600" spc="-8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like</a:t>
            </a:r>
            <a:r>
              <a:rPr sz="2600" spc="-8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humans.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marR="5080" indent="-387985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Enable</a:t>
            </a:r>
            <a:r>
              <a:rPr sz="2600" spc="-2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machines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learn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understand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images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at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pixel</a:t>
            </a:r>
            <a:r>
              <a:rPr sz="2600" spc="-1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level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through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training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validation.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marR="6985" indent="-387985">
              <a:lnSpc>
                <a:spcPct val="114900"/>
              </a:lnSpc>
              <a:buFont typeface="Arial"/>
              <a:buChar char="●"/>
              <a:tabLst>
                <a:tab pos="400050" algn="l"/>
                <a:tab pos="1833245" algn="l"/>
                <a:tab pos="2988945" algn="l"/>
                <a:tab pos="3926204" algn="l"/>
                <a:tab pos="5716905" algn="l"/>
                <a:tab pos="6745605" algn="l"/>
                <a:tab pos="7078980" algn="l"/>
                <a:tab pos="7486650" algn="l"/>
                <a:tab pos="8752205" algn="l"/>
              </a:tabLst>
            </a:pP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Machines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retrieve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visual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information,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handle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it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&amp;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interpret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the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result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by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getting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training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from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special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ML</a:t>
            </a:r>
            <a:r>
              <a:rPr sz="2600" spc="-15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software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algorithms.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9836" y="2854140"/>
            <a:ext cx="8885288" cy="5408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192" rIns="0" bIns="0" rtlCol="0">
            <a:spAutoFit/>
          </a:bodyPr>
          <a:lstStyle/>
          <a:p>
            <a:pPr marL="2998470">
              <a:lnSpc>
                <a:spcPct val="100000"/>
              </a:lnSpc>
              <a:spcBef>
                <a:spcPts val="100"/>
              </a:spcBef>
            </a:pPr>
            <a:r>
              <a:rPr dirty="0"/>
              <a:t>Seeing</a:t>
            </a:r>
            <a:r>
              <a:rPr spc="-200" dirty="0"/>
              <a:t> </a:t>
            </a:r>
            <a:r>
              <a:rPr dirty="0"/>
              <a:t>results</a:t>
            </a:r>
            <a:r>
              <a:rPr spc="-200" dirty="0"/>
              <a:t> </a:t>
            </a:r>
            <a:r>
              <a:rPr dirty="0"/>
              <a:t>with</a:t>
            </a:r>
            <a:r>
              <a:rPr spc="-195" dirty="0"/>
              <a:t> </a:t>
            </a:r>
            <a:r>
              <a:rPr spc="-20" dirty="0"/>
              <a:t>computer</a:t>
            </a:r>
            <a:r>
              <a:rPr spc="-200" dirty="0"/>
              <a:t> </a:t>
            </a:r>
            <a:r>
              <a:rPr spc="-10"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6176" y="6451318"/>
            <a:ext cx="15011400" cy="240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users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many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industries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are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seeing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real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results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–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ts val="312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5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can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distinguish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between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staged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real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auto</a:t>
            </a:r>
            <a:r>
              <a:rPr sz="2600" spc="-5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damage</a:t>
            </a: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ts val="3115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enables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facial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recognition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for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security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applications</a:t>
            </a: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ts val="3115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makes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automatic</a:t>
            </a:r>
            <a:r>
              <a:rPr sz="2600" spc="-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checkout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possible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in</a:t>
            </a:r>
            <a:r>
              <a:rPr sz="2600" spc="-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modern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retail</a:t>
            </a:r>
            <a:r>
              <a:rPr sz="2600" spc="-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stores.</a:t>
            </a: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ts val="312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makes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it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possible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for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automatic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Fast-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Tag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deductions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E-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challans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for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violating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traffic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rules.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955" y="2035696"/>
            <a:ext cx="14353115" cy="39426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539" y="4796239"/>
            <a:ext cx="12449175" cy="3166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2579" marR="5080" indent="-4120515">
              <a:lnSpc>
                <a:spcPct val="100000"/>
              </a:lnSpc>
              <a:spcBef>
                <a:spcPts val="105"/>
              </a:spcBef>
            </a:pPr>
            <a:r>
              <a:rPr sz="10300" dirty="0">
                <a:solidFill>
                  <a:srgbClr val="FFFFFF"/>
                </a:solidFill>
              </a:rPr>
              <a:t>How</a:t>
            </a:r>
            <a:r>
              <a:rPr sz="10300" spc="-155" dirty="0">
                <a:solidFill>
                  <a:srgbClr val="FFFFFF"/>
                </a:solidFill>
              </a:rPr>
              <a:t> </a:t>
            </a:r>
            <a:r>
              <a:rPr sz="10300" dirty="0">
                <a:solidFill>
                  <a:srgbClr val="FFFFFF"/>
                </a:solidFill>
              </a:rPr>
              <a:t>Computer</a:t>
            </a:r>
            <a:r>
              <a:rPr sz="10300" spc="-150" dirty="0">
                <a:solidFill>
                  <a:srgbClr val="FFFFFF"/>
                </a:solidFill>
              </a:rPr>
              <a:t> </a:t>
            </a:r>
            <a:r>
              <a:rPr sz="10300" spc="-10" dirty="0">
                <a:solidFill>
                  <a:srgbClr val="FFFFFF"/>
                </a:solidFill>
              </a:rPr>
              <a:t>Vision Works?</a:t>
            </a:r>
            <a:endParaRPr sz="10300"/>
          </a:p>
        </p:txBody>
      </p:sp>
      <p:sp>
        <p:nvSpPr>
          <p:cNvPr id="3" name="object 3"/>
          <p:cNvSpPr/>
          <p:nvPr/>
        </p:nvSpPr>
        <p:spPr>
          <a:xfrm>
            <a:off x="3586089" y="4443759"/>
            <a:ext cx="1655445" cy="1891664"/>
          </a:xfrm>
          <a:custGeom>
            <a:avLst/>
            <a:gdLst/>
            <a:ahLst/>
            <a:cxnLst/>
            <a:rect l="l" t="t" r="r" b="b"/>
            <a:pathLst>
              <a:path w="1655445" h="1891664">
                <a:moveTo>
                  <a:pt x="1655044" y="19287"/>
                </a:moveTo>
                <a:lnTo>
                  <a:pt x="11346" y="19287"/>
                </a:lnTo>
              </a:path>
              <a:path w="1655445" h="1891664">
                <a:moveTo>
                  <a:pt x="0" y="0"/>
                </a:moveTo>
                <a:lnTo>
                  <a:pt x="0" y="1891109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25408" y="6490750"/>
            <a:ext cx="1655445" cy="1891664"/>
          </a:xfrm>
          <a:custGeom>
            <a:avLst/>
            <a:gdLst/>
            <a:ahLst/>
            <a:cxnLst/>
            <a:rect l="l" t="t" r="r" b="b"/>
            <a:pathLst>
              <a:path w="1655444" h="1891665">
                <a:moveTo>
                  <a:pt x="0" y="1871823"/>
                </a:moveTo>
                <a:lnTo>
                  <a:pt x="1643698" y="1871823"/>
                </a:lnTo>
              </a:path>
              <a:path w="1655444" h="1891665">
                <a:moveTo>
                  <a:pt x="1655045" y="1891110"/>
                </a:moveTo>
                <a:lnTo>
                  <a:pt x="1655045" y="0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14" dirty="0"/>
              <a:t> </a:t>
            </a:r>
            <a:r>
              <a:rPr dirty="0"/>
              <a:t>Computer</a:t>
            </a:r>
            <a:r>
              <a:rPr spc="-110" dirty="0"/>
              <a:t> </a:t>
            </a:r>
            <a:r>
              <a:rPr dirty="0"/>
              <a:t>Vision</a:t>
            </a:r>
            <a:r>
              <a:rPr spc="-114" dirty="0"/>
              <a:t> </a:t>
            </a:r>
            <a:r>
              <a:rPr spc="-1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792" y="2599119"/>
            <a:ext cx="7073900" cy="509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3150" spc="-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3150" spc="-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works</a:t>
            </a:r>
            <a:r>
              <a:rPr sz="3150" spc="-1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in</a:t>
            </a:r>
            <a:r>
              <a:rPr sz="3150" spc="-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three</a:t>
            </a:r>
            <a:r>
              <a:rPr sz="3150" spc="-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2B2B2B"/>
                </a:solidFill>
                <a:latin typeface="Times New Roman"/>
                <a:cs typeface="Times New Roman"/>
              </a:rPr>
              <a:t>basic</a:t>
            </a:r>
            <a:r>
              <a:rPr sz="3150" spc="-10" dirty="0">
                <a:solidFill>
                  <a:srgbClr val="2B2B2B"/>
                </a:solidFill>
                <a:latin typeface="Times New Roman"/>
                <a:cs typeface="Times New Roman"/>
              </a:rPr>
              <a:t> steps:</a:t>
            </a:r>
            <a:endParaRPr sz="31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130" y="4249901"/>
            <a:ext cx="16816643" cy="3001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7553" y="503598"/>
            <a:ext cx="1001014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14" dirty="0"/>
              <a:t> </a:t>
            </a:r>
            <a:r>
              <a:rPr dirty="0"/>
              <a:t>Computer</a:t>
            </a:r>
            <a:r>
              <a:rPr spc="-110" dirty="0"/>
              <a:t> </a:t>
            </a:r>
            <a:r>
              <a:rPr dirty="0"/>
              <a:t>Vision</a:t>
            </a:r>
            <a:r>
              <a:rPr spc="-114" dirty="0"/>
              <a:t> </a:t>
            </a:r>
            <a:r>
              <a:rPr spc="-1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751" y="2272095"/>
            <a:ext cx="18440400" cy="6338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050" indent="-387350">
              <a:lnSpc>
                <a:spcPct val="100000"/>
              </a:lnSpc>
              <a:spcBef>
                <a:spcPts val="95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technology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tends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mimic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way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human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brain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works.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But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how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does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our</a:t>
            </a:r>
            <a:r>
              <a:rPr sz="2600" spc="-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brain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solve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visual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object</a:t>
            </a:r>
            <a:r>
              <a:rPr sz="2600" spc="-6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recognition?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marR="13970" indent="-387985">
              <a:lnSpc>
                <a:spcPct val="114900"/>
              </a:lnSpc>
              <a:buFont typeface="Arial"/>
              <a:buChar char="●"/>
              <a:tabLst>
                <a:tab pos="400050" algn="l"/>
                <a:tab pos="1091565" algn="l"/>
                <a:tab pos="1510030" algn="l"/>
                <a:tab pos="2054860" algn="l"/>
                <a:tab pos="3205480" algn="l"/>
                <a:tab pos="4759325" algn="l"/>
                <a:tab pos="5634990" algn="l"/>
                <a:tab pos="6271260" algn="l"/>
                <a:tab pos="6854190" algn="l"/>
                <a:tab pos="7803515" algn="l"/>
                <a:tab pos="8458835" algn="l"/>
                <a:tab pos="8931910" algn="l"/>
                <a:tab pos="10118725" algn="l"/>
                <a:tab pos="10518775" algn="l"/>
                <a:tab pos="11593830" algn="l"/>
                <a:tab pos="13072110" algn="l"/>
                <a:tab pos="14225905" algn="l"/>
                <a:tab pos="14955519" algn="l"/>
                <a:tab pos="16122015" algn="l"/>
                <a:tab pos="16485235" algn="l"/>
                <a:tab pos="17232630" algn="l"/>
                <a:tab pos="17632680" algn="l"/>
              </a:tabLst>
            </a:pP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One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of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popular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hypothesis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states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B2B2B"/>
                </a:solidFill>
                <a:latin typeface="Times New Roman"/>
                <a:cs typeface="Times New Roman"/>
              </a:rPr>
              <a:t>that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our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brains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B2B2B"/>
                </a:solidFill>
                <a:latin typeface="Times New Roman"/>
                <a:cs typeface="Times New Roman"/>
              </a:rPr>
              <a:t>rely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on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patterns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decode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individual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objects.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B2B2B"/>
                </a:solidFill>
                <a:latin typeface="Times New Roman"/>
                <a:cs typeface="Times New Roman"/>
              </a:rPr>
              <a:t>This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concept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is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B2B2B"/>
                </a:solidFill>
                <a:latin typeface="Times New Roman"/>
                <a:cs typeface="Times New Roman"/>
              </a:rPr>
              <a:t>used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create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9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8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systems.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ct val="1000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vision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algorithms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that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we</a:t>
            </a:r>
            <a:r>
              <a:rPr sz="2600" spc="-5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use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today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are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based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on</a:t>
            </a:r>
            <a:r>
              <a:rPr sz="2600" spc="-5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pattern</a:t>
            </a:r>
            <a:r>
              <a:rPr sz="2600" spc="-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recognition.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marR="34925" indent="-387985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We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train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computers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on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massive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amount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of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visual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B2B2B"/>
                </a:solidFill>
                <a:latin typeface="Times New Roman"/>
                <a:cs typeface="Times New Roman"/>
              </a:rPr>
              <a:t>data—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computers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process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images,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label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objects</a:t>
            </a:r>
            <a:r>
              <a:rPr sz="2600" spc="10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on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them,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find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patterns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in</a:t>
            </a:r>
            <a:r>
              <a:rPr sz="2600" spc="10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those objects.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marR="5080" indent="-387985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For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example,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if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we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send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million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images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of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flowers,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will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analyze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them,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identify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patterns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that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are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similar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spc="17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all</a:t>
            </a:r>
            <a:r>
              <a:rPr sz="2600" spc="17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flowers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and,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at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end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of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this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process,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will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create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model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“flower.”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2B2B2B"/>
              </a:buClr>
              <a:buFont typeface="Arial"/>
              <a:buChar char="●"/>
            </a:pP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ct val="1000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As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result,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computer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will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be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able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to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accurately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detect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whether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particular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image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is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a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flower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every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time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we</a:t>
            </a:r>
            <a:r>
              <a:rPr sz="2600" spc="-3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send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B2B2B"/>
                </a:solidFill>
                <a:latin typeface="Times New Roman"/>
                <a:cs typeface="Times New Roman"/>
              </a:rPr>
              <a:t>them</a:t>
            </a:r>
            <a:r>
              <a:rPr sz="2600" spc="-3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B2B2B"/>
                </a:solidFill>
                <a:latin typeface="Times New Roman"/>
                <a:cs typeface="Times New Roman"/>
              </a:rPr>
              <a:t>pictures.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29166"/>
            <a:ext cx="20073011" cy="8880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189" rIns="0" bIns="0" rtlCol="0">
            <a:spAutoFit/>
          </a:bodyPr>
          <a:lstStyle/>
          <a:p>
            <a:pPr marL="294957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14" dirty="0"/>
              <a:t> </a:t>
            </a:r>
            <a:r>
              <a:rPr dirty="0"/>
              <a:t>Computer</a:t>
            </a:r>
            <a:r>
              <a:rPr spc="-110" dirty="0"/>
              <a:t> </a:t>
            </a:r>
            <a:r>
              <a:rPr dirty="0"/>
              <a:t>Vision</a:t>
            </a:r>
            <a:r>
              <a:rPr spc="-114" dirty="0"/>
              <a:t> </a:t>
            </a:r>
            <a:r>
              <a:rPr spc="-10" dirty="0"/>
              <a:t>Works?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1639" y="1694717"/>
            <a:ext cx="14317720" cy="8720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6233" y="4796239"/>
            <a:ext cx="9572625" cy="3166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75615">
              <a:lnSpc>
                <a:spcPct val="100000"/>
              </a:lnSpc>
              <a:spcBef>
                <a:spcPts val="105"/>
              </a:spcBef>
            </a:pPr>
            <a:r>
              <a:rPr sz="10300" dirty="0">
                <a:solidFill>
                  <a:srgbClr val="FFFFFF"/>
                </a:solidFill>
              </a:rPr>
              <a:t>Applications</a:t>
            </a:r>
            <a:r>
              <a:rPr sz="10300" spc="-335" dirty="0">
                <a:solidFill>
                  <a:srgbClr val="FFFFFF"/>
                </a:solidFill>
              </a:rPr>
              <a:t> </a:t>
            </a:r>
            <a:r>
              <a:rPr sz="10300" spc="-25" dirty="0">
                <a:solidFill>
                  <a:srgbClr val="FFFFFF"/>
                </a:solidFill>
              </a:rPr>
              <a:t>of </a:t>
            </a:r>
            <a:r>
              <a:rPr sz="10300" dirty="0">
                <a:solidFill>
                  <a:srgbClr val="FFFFFF"/>
                </a:solidFill>
              </a:rPr>
              <a:t>Computer</a:t>
            </a:r>
            <a:r>
              <a:rPr sz="10300" spc="-229" dirty="0">
                <a:solidFill>
                  <a:srgbClr val="FFFFFF"/>
                </a:solidFill>
              </a:rPr>
              <a:t> </a:t>
            </a:r>
            <a:r>
              <a:rPr sz="10300" spc="-10" dirty="0">
                <a:solidFill>
                  <a:srgbClr val="FFFFFF"/>
                </a:solidFill>
              </a:rPr>
              <a:t>Vision</a:t>
            </a:r>
            <a:endParaRPr sz="10300"/>
          </a:p>
        </p:txBody>
      </p:sp>
      <p:sp>
        <p:nvSpPr>
          <p:cNvPr id="3" name="object 3"/>
          <p:cNvSpPr/>
          <p:nvPr/>
        </p:nvSpPr>
        <p:spPr>
          <a:xfrm>
            <a:off x="4964718" y="4413015"/>
            <a:ext cx="1329055" cy="1876425"/>
          </a:xfrm>
          <a:custGeom>
            <a:avLst/>
            <a:gdLst/>
            <a:ahLst/>
            <a:cxnLst/>
            <a:rect l="l" t="t" r="r" b="b"/>
            <a:pathLst>
              <a:path w="1329054" h="1876425">
                <a:moveTo>
                  <a:pt x="1329040" y="19136"/>
                </a:moveTo>
                <a:lnTo>
                  <a:pt x="9111" y="19136"/>
                </a:lnTo>
              </a:path>
              <a:path w="1329054" h="1876425">
                <a:moveTo>
                  <a:pt x="0" y="0"/>
                </a:moveTo>
                <a:lnTo>
                  <a:pt x="0" y="1876392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070458" y="6444076"/>
            <a:ext cx="1329055" cy="1876425"/>
          </a:xfrm>
          <a:custGeom>
            <a:avLst/>
            <a:gdLst/>
            <a:ahLst/>
            <a:cxnLst/>
            <a:rect l="l" t="t" r="r" b="b"/>
            <a:pathLst>
              <a:path w="1329055" h="1876425">
                <a:moveTo>
                  <a:pt x="0" y="1857255"/>
                </a:moveTo>
                <a:lnTo>
                  <a:pt x="1319928" y="1857255"/>
                </a:lnTo>
              </a:path>
              <a:path w="1329055" h="1876425">
                <a:moveTo>
                  <a:pt x="1329039" y="1876392"/>
                </a:moveTo>
                <a:lnTo>
                  <a:pt x="1329039" y="0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192" rIns="0" bIns="0" rtlCol="0">
            <a:spAutoFit/>
          </a:bodyPr>
          <a:lstStyle/>
          <a:p>
            <a:pPr marL="37598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Application</a:t>
            </a:r>
            <a:r>
              <a:rPr spc="-13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Computer</a:t>
            </a:r>
            <a:r>
              <a:rPr spc="-135" dirty="0"/>
              <a:t> </a:t>
            </a:r>
            <a:r>
              <a:rPr spc="-10"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8925" y="2358500"/>
            <a:ext cx="7508875" cy="493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050" indent="-387350">
              <a:lnSpc>
                <a:spcPct val="100000"/>
              </a:lnSpc>
              <a:spcBef>
                <a:spcPts val="95"/>
              </a:spcBef>
              <a:buFont typeface="Arial"/>
              <a:buChar char="●"/>
              <a:tabLst>
                <a:tab pos="400050" algn="l"/>
                <a:tab pos="1907539" algn="l"/>
                <a:tab pos="2902585" algn="l"/>
                <a:tab pos="3311525" algn="l"/>
                <a:tab pos="3975735" algn="l"/>
                <a:tab pos="4438650" algn="l"/>
                <a:tab pos="5029835" algn="l"/>
                <a:tab pos="5895340" algn="l"/>
                <a:tab pos="6340475" algn="l"/>
              </a:tabLst>
            </a:pP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Computer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vision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is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one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of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the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areas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Machine</a:t>
            </a:r>
            <a:endParaRPr sz="2600">
              <a:latin typeface="Times New Roman"/>
              <a:cs typeface="Times New Roman"/>
            </a:endParaRPr>
          </a:p>
          <a:p>
            <a:pPr marL="400050" marR="5080" algn="just">
              <a:lnSpc>
                <a:spcPct val="217899"/>
              </a:lnSpc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Learning</a:t>
            </a:r>
            <a:r>
              <a:rPr sz="2600" spc="16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where</a:t>
            </a:r>
            <a:r>
              <a:rPr sz="2600" spc="165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core</a:t>
            </a:r>
            <a:r>
              <a:rPr sz="2600" spc="16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concepts</a:t>
            </a:r>
            <a:r>
              <a:rPr sz="2600" spc="165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are</a:t>
            </a:r>
            <a:r>
              <a:rPr sz="2600" spc="16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already</a:t>
            </a:r>
            <a:r>
              <a:rPr sz="2600" spc="165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being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integrated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into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major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products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that</a:t>
            </a:r>
            <a:r>
              <a:rPr sz="2600" spc="11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we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use</a:t>
            </a:r>
            <a:r>
              <a:rPr sz="2600" spc="11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every</a:t>
            </a:r>
            <a:r>
              <a:rPr sz="2600" spc="114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day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like: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ts val="2985"/>
              </a:lnSpc>
              <a:buFont typeface="Arial"/>
              <a:buChar char="○"/>
              <a:tabLst>
                <a:tab pos="777240" algn="l"/>
              </a:tabLst>
            </a:pP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b="1" spc="-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Times New Roman"/>
                <a:cs typeface="Times New Roman"/>
              </a:rPr>
              <a:t>Self-</a:t>
            </a: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Driving</a:t>
            </a:r>
            <a:r>
              <a:rPr sz="2600" b="1" spc="-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Times New Roman"/>
                <a:cs typeface="Times New Roman"/>
              </a:rPr>
              <a:t>Cars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ts val="2845"/>
              </a:lnSpc>
              <a:buFont typeface="Arial"/>
              <a:buChar char="○"/>
              <a:tabLst>
                <a:tab pos="777240" algn="l"/>
              </a:tabLst>
            </a:pP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b="1" spc="-7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Facial</a:t>
            </a:r>
            <a:r>
              <a:rPr sz="2600" b="1" spc="-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292929"/>
                </a:solidFill>
                <a:latin typeface="Times New Roman"/>
                <a:cs typeface="Times New Roman"/>
              </a:rPr>
              <a:t>Recognition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ts val="2845"/>
              </a:lnSpc>
              <a:buFont typeface="Arial"/>
              <a:buChar char="○"/>
              <a:tabLst>
                <a:tab pos="777240" algn="l"/>
              </a:tabLst>
            </a:pPr>
            <a:r>
              <a:rPr sz="2600" b="1" spc="-20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b="1" spc="-1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292929"/>
                </a:solidFill>
                <a:latin typeface="Times New Roman"/>
                <a:cs typeface="Times New Roman"/>
              </a:rPr>
              <a:t>Augmented</a:t>
            </a:r>
            <a:r>
              <a:rPr sz="2600" b="1" spc="-9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Reality</a:t>
            </a:r>
            <a:r>
              <a:rPr sz="2600" b="1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&amp;</a:t>
            </a:r>
            <a:r>
              <a:rPr sz="2600" b="1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Mixed</a:t>
            </a:r>
            <a:r>
              <a:rPr sz="2600" b="1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292929"/>
                </a:solidFill>
                <a:latin typeface="Times New Roman"/>
                <a:cs typeface="Times New Roman"/>
              </a:rPr>
              <a:t>Reality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ts val="2985"/>
              </a:lnSpc>
              <a:buFont typeface="Arial"/>
              <a:buChar char="○"/>
              <a:tabLst>
                <a:tab pos="777240" algn="l"/>
              </a:tabLst>
            </a:pPr>
            <a:r>
              <a:rPr sz="2600" b="1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b="1" spc="-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292929"/>
                </a:solidFill>
                <a:latin typeface="Times New Roman"/>
                <a:cs typeface="Times New Roman"/>
              </a:rPr>
              <a:t>Healthcare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924" y="2250890"/>
            <a:ext cx="10748301" cy="5917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192" rIns="0" bIns="0" rtlCol="0">
            <a:spAutoFit/>
          </a:bodyPr>
          <a:lstStyle/>
          <a:p>
            <a:pPr marL="2957195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</a:t>
            </a:r>
            <a:r>
              <a:rPr spc="-75" dirty="0"/>
              <a:t> </a:t>
            </a:r>
            <a:r>
              <a:rPr dirty="0"/>
              <a:t>Vision</a:t>
            </a:r>
            <a:r>
              <a:rPr spc="-7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Self</a:t>
            </a:r>
            <a:r>
              <a:rPr spc="-70" dirty="0"/>
              <a:t> </a:t>
            </a:r>
            <a:r>
              <a:rPr dirty="0"/>
              <a:t>Driving</a:t>
            </a:r>
            <a:r>
              <a:rPr spc="-75" dirty="0"/>
              <a:t> </a:t>
            </a:r>
            <a:r>
              <a:rPr spc="-20" dirty="0"/>
              <a:t>Cars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9800" y="2491007"/>
            <a:ext cx="8831580" cy="412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 marR="27940" indent="-387985" algn="just">
              <a:lnSpc>
                <a:spcPct val="114900"/>
              </a:lnSpc>
              <a:spcBef>
                <a:spcPts val="100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It’s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not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just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tech</a:t>
            </a:r>
            <a:r>
              <a:rPr sz="2600" spc="-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companies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that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are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leverage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Machine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Learning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for</a:t>
            </a:r>
            <a:r>
              <a:rPr sz="2600" spc="-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image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applications.</a:t>
            </a:r>
            <a:endParaRPr sz="2600">
              <a:latin typeface="Times New Roman"/>
              <a:cs typeface="Times New Roman"/>
            </a:endParaRPr>
          </a:p>
          <a:p>
            <a:pPr marL="400050" marR="5080" indent="-387985" algn="just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Computer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vision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enables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self-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driving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cars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5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make</a:t>
            </a:r>
            <a:r>
              <a:rPr sz="2600" spc="5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sense</a:t>
            </a:r>
            <a:r>
              <a:rPr sz="2600" spc="5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of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their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surroundings.</a:t>
            </a:r>
            <a:endParaRPr sz="2600">
              <a:latin typeface="Times New Roman"/>
              <a:cs typeface="Times New Roman"/>
            </a:endParaRPr>
          </a:p>
          <a:p>
            <a:pPr marL="400050" marR="13335" indent="-387985" algn="just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Cameras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capture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video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from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different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angles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around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car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and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feed</a:t>
            </a:r>
            <a:r>
              <a:rPr sz="2600" spc="-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it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computer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vision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software.</a:t>
            </a:r>
            <a:endParaRPr sz="2600">
              <a:latin typeface="Times New Roman"/>
              <a:cs typeface="Times New Roman"/>
            </a:endParaRPr>
          </a:p>
          <a:p>
            <a:pPr marL="400050" marR="9525" indent="-387985" algn="just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CV</a:t>
            </a:r>
            <a:r>
              <a:rPr sz="2600" spc="2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processes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the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images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real-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time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find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the</a:t>
            </a:r>
            <a:r>
              <a:rPr sz="2600" spc="6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extremities</a:t>
            </a:r>
            <a:r>
              <a:rPr sz="2600" spc="7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of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roads,</a:t>
            </a:r>
            <a:r>
              <a:rPr sz="2600" spc="30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read</a:t>
            </a:r>
            <a:r>
              <a:rPr sz="2600" spc="31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traffic</a:t>
            </a:r>
            <a:r>
              <a:rPr sz="2600" spc="31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signs,</a:t>
            </a:r>
            <a:r>
              <a:rPr sz="2600" spc="31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detect</a:t>
            </a:r>
            <a:r>
              <a:rPr sz="2600" spc="31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other</a:t>
            </a:r>
            <a:r>
              <a:rPr sz="2600" spc="315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cars,</a:t>
            </a:r>
            <a:r>
              <a:rPr sz="2600" spc="310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objects</a:t>
            </a:r>
            <a:r>
              <a:rPr sz="2600" spc="315" dirty="0">
                <a:solidFill>
                  <a:srgbClr val="292929"/>
                </a:solidFill>
                <a:latin typeface="Times New Roman"/>
                <a:cs typeface="Times New Roman"/>
              </a:rPr>
              <a:t> 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and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pedestrians.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3574" y="2505592"/>
            <a:ext cx="9370906" cy="74833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1460" y="503598"/>
            <a:ext cx="1290510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</a:t>
            </a:r>
            <a:r>
              <a:rPr spc="-105" dirty="0"/>
              <a:t> </a:t>
            </a:r>
            <a:r>
              <a:rPr dirty="0"/>
              <a:t>Vision</a:t>
            </a:r>
            <a:r>
              <a:rPr spc="-100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20" dirty="0"/>
              <a:t>Facial</a:t>
            </a:r>
            <a:r>
              <a:rPr spc="-100" dirty="0"/>
              <a:t> </a:t>
            </a:r>
            <a:r>
              <a:rPr spc="-10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220" y="2250963"/>
            <a:ext cx="9030335" cy="299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 marR="24765" indent="-387985">
              <a:lnSpc>
                <a:spcPct val="149800"/>
              </a:lnSpc>
              <a:spcBef>
                <a:spcPts val="100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CV</a:t>
            </a:r>
            <a:r>
              <a:rPr sz="2600" spc="-7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enables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computers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match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images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of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people’s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faces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their identities.</a:t>
            </a: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ct val="100000"/>
              </a:lnSpc>
              <a:spcBef>
                <a:spcPts val="1555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Social</a:t>
            </a:r>
            <a:r>
              <a:rPr sz="2600" spc="-6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media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apps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use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facial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recognition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detect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and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tag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users.</a:t>
            </a:r>
            <a:endParaRPr sz="2600">
              <a:latin typeface="Times New Roman"/>
              <a:cs typeface="Times New Roman"/>
            </a:endParaRPr>
          </a:p>
          <a:p>
            <a:pPr marL="400050" marR="5080" indent="-387985">
              <a:lnSpc>
                <a:spcPct val="149800"/>
              </a:lnSpc>
              <a:buFont typeface="Arial"/>
              <a:buChar char="●"/>
              <a:tabLst>
                <a:tab pos="400050" algn="l"/>
                <a:tab pos="1220470" algn="l"/>
                <a:tab pos="3100705" algn="l"/>
                <a:tab pos="4470400" algn="l"/>
                <a:tab pos="5236845" algn="l"/>
                <a:tab pos="5984240" algn="l"/>
                <a:tab pos="6548755" algn="l"/>
                <a:tab pos="7514590" algn="l"/>
              </a:tabLst>
            </a:pP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Law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enforcement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agencies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also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rely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on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facial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recognition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technology</a:t>
            </a:r>
            <a:r>
              <a:rPr sz="2600" spc="-8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to</a:t>
            </a:r>
            <a:r>
              <a:rPr sz="2600" spc="-7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identify</a:t>
            </a:r>
            <a:r>
              <a:rPr sz="2600" spc="-8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criminals</a:t>
            </a:r>
            <a:r>
              <a:rPr sz="2600" spc="-7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spc="-7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video</a:t>
            </a:r>
            <a:r>
              <a:rPr sz="2600" spc="-8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feeds.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0158" y="2281497"/>
            <a:ext cx="9398897" cy="62690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704" y="382105"/>
            <a:ext cx="13159105" cy="18821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948429" marR="5080" indent="-3936365">
              <a:lnSpc>
                <a:spcPts val="7300"/>
              </a:lnSpc>
              <a:spcBef>
                <a:spcPts val="215"/>
              </a:spcBef>
            </a:pPr>
            <a:r>
              <a:rPr dirty="0"/>
              <a:t>Computer</a:t>
            </a:r>
            <a:r>
              <a:rPr spc="-95" dirty="0"/>
              <a:t> </a:t>
            </a:r>
            <a:r>
              <a:rPr dirty="0"/>
              <a:t>Vision</a:t>
            </a:r>
            <a:r>
              <a:rPr spc="-90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dirty="0"/>
              <a:t>Augmented</a:t>
            </a:r>
            <a:r>
              <a:rPr spc="-90" dirty="0"/>
              <a:t> </a:t>
            </a:r>
            <a:r>
              <a:rPr spc="-10" dirty="0"/>
              <a:t>Reality </a:t>
            </a:r>
            <a:r>
              <a:rPr dirty="0"/>
              <a:t>&amp;</a:t>
            </a:r>
            <a:r>
              <a:rPr spc="-140" dirty="0"/>
              <a:t> </a:t>
            </a:r>
            <a:r>
              <a:rPr spc="-10" dirty="0"/>
              <a:t>Mixed</a:t>
            </a:r>
            <a:r>
              <a:rPr spc="-135" dirty="0"/>
              <a:t> </a:t>
            </a:r>
            <a:r>
              <a:rPr spc="-10" dirty="0"/>
              <a:t>Reality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220" y="2752618"/>
            <a:ext cx="9032875" cy="418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 marR="6350" indent="-387985" algn="just">
              <a:lnSpc>
                <a:spcPct val="149800"/>
              </a:lnSpc>
              <a:spcBef>
                <a:spcPts val="100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Computer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vision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also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plays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an</a:t>
            </a:r>
            <a:r>
              <a:rPr sz="2600" spc="1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important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role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in</a:t>
            </a:r>
            <a:r>
              <a:rPr sz="2600" spc="1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augmented</a:t>
            </a:r>
            <a:r>
              <a:rPr sz="2600" spc="1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and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mixed</a:t>
            </a:r>
            <a:r>
              <a:rPr sz="2600" spc="-7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reality.</a:t>
            </a:r>
            <a:endParaRPr sz="2600">
              <a:latin typeface="Times New Roman"/>
              <a:cs typeface="Times New Roman"/>
            </a:endParaRPr>
          </a:p>
          <a:p>
            <a:pPr marL="400050" marR="21590" indent="-387985" algn="just">
              <a:lnSpc>
                <a:spcPct val="149800"/>
              </a:lnSpc>
              <a:buFont typeface="Arial"/>
              <a:buChar char="●"/>
              <a:tabLst>
                <a:tab pos="400050" algn="l"/>
              </a:tabLst>
            </a:pPr>
            <a:r>
              <a:rPr sz="2600" b="1" dirty="0">
                <a:solidFill>
                  <a:srgbClr val="231F20"/>
                </a:solidFill>
                <a:latin typeface="Times New Roman"/>
                <a:cs typeface="Times New Roman"/>
              </a:rPr>
              <a:t>AR</a:t>
            </a:r>
            <a:r>
              <a:rPr sz="26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31F20"/>
                </a:solidFill>
                <a:latin typeface="Times New Roman"/>
                <a:cs typeface="Times New Roman"/>
              </a:rPr>
              <a:t>employs</a:t>
            </a:r>
            <a:r>
              <a:rPr sz="26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31F20"/>
                </a:solidFill>
                <a:latin typeface="Times New Roman"/>
                <a:cs typeface="Times New Roman"/>
              </a:rPr>
              <a:t>computer</a:t>
            </a:r>
            <a:r>
              <a:rPr sz="2600" b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31F20"/>
                </a:solidFill>
                <a:latin typeface="Times New Roman"/>
                <a:cs typeface="Times New Roman"/>
              </a:rPr>
              <a:t>vision</a:t>
            </a:r>
            <a:r>
              <a:rPr sz="26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31F20"/>
                </a:solidFill>
                <a:latin typeface="Times New Roman"/>
                <a:cs typeface="Times New Roman"/>
              </a:rPr>
              <a:t>capabilities</a:t>
            </a:r>
            <a:r>
              <a:rPr sz="2600" b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in</a:t>
            </a:r>
            <a:r>
              <a:rPr sz="260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order</a:t>
            </a:r>
            <a:r>
              <a:rPr sz="2600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260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31F20"/>
                </a:solidFill>
                <a:latin typeface="Times New Roman"/>
                <a:cs typeface="Times New Roman"/>
              </a:rPr>
              <a:t>properly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integrate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real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virtual</a:t>
            </a:r>
            <a:r>
              <a:rPr sz="2600" spc="-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31F20"/>
                </a:solidFill>
                <a:latin typeface="Times New Roman"/>
                <a:cs typeface="Times New Roman"/>
              </a:rPr>
              <a:t>world.</a:t>
            </a:r>
            <a:endParaRPr sz="2600">
              <a:latin typeface="Times New Roman"/>
              <a:cs typeface="Times New Roman"/>
            </a:endParaRPr>
          </a:p>
          <a:p>
            <a:pPr marL="400050" marR="5080" indent="-387985" algn="just">
              <a:lnSpc>
                <a:spcPct val="1498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600" spc="370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integration</a:t>
            </a:r>
            <a:r>
              <a:rPr sz="2600" spc="370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involves</a:t>
            </a:r>
            <a:r>
              <a:rPr sz="2600" spc="370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600" spc="375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user's</a:t>
            </a:r>
            <a:r>
              <a:rPr sz="2600" spc="370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location,</a:t>
            </a:r>
            <a:r>
              <a:rPr sz="2600" spc="370" dirty="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object-</a:t>
            </a:r>
            <a:r>
              <a:rPr sz="2600" spc="-10" dirty="0">
                <a:solidFill>
                  <a:srgbClr val="231F20"/>
                </a:solidFill>
                <a:latin typeface="Times New Roman"/>
                <a:cs typeface="Times New Roman"/>
              </a:rPr>
              <a:t>based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interaction,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2D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or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3D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annotations,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or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precise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alignment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26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31F20"/>
                </a:solidFill>
                <a:latin typeface="Times New Roman"/>
                <a:cs typeface="Times New Roman"/>
              </a:rPr>
              <a:t>image overlays.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6407" y="2905732"/>
            <a:ext cx="9355551" cy="64317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774" y="382105"/>
            <a:ext cx="1050988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</a:t>
            </a:r>
            <a:r>
              <a:rPr spc="-55" dirty="0"/>
              <a:t> </a:t>
            </a:r>
            <a:r>
              <a:rPr dirty="0"/>
              <a:t>Vision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10" dirty="0"/>
              <a:t>HealthCare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249" y="1610549"/>
            <a:ext cx="9030335" cy="833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 marR="5080" indent="-387985">
              <a:lnSpc>
                <a:spcPct val="149800"/>
              </a:lnSpc>
              <a:spcBef>
                <a:spcPts val="100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Computer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vision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has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also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been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an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important</a:t>
            </a:r>
            <a:r>
              <a:rPr sz="2600" spc="1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part</a:t>
            </a:r>
            <a:r>
              <a:rPr sz="2600" spc="1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of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advances</a:t>
            </a:r>
            <a:r>
              <a:rPr sz="2600" spc="13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Times New Roman"/>
                <a:cs typeface="Times New Roman"/>
              </a:rPr>
              <a:t>in 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health-</a:t>
            </a:r>
            <a:r>
              <a:rPr sz="2600" spc="-10" dirty="0">
                <a:solidFill>
                  <a:srgbClr val="292929"/>
                </a:solidFill>
                <a:latin typeface="Times New Roman"/>
                <a:cs typeface="Times New Roman"/>
              </a:rPr>
              <a:t>tech.</a:t>
            </a:r>
            <a:endParaRPr sz="2600">
              <a:latin typeface="Times New Roman"/>
              <a:cs typeface="Times New Roman"/>
            </a:endParaRPr>
          </a:p>
          <a:p>
            <a:pPr marL="400050" marR="16510" indent="-387985">
              <a:lnSpc>
                <a:spcPct val="149800"/>
              </a:lnSpc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02124"/>
                </a:solidFill>
                <a:latin typeface="Times New Roman"/>
                <a:cs typeface="Times New Roman"/>
              </a:rPr>
              <a:t>Using</a:t>
            </a:r>
            <a:r>
              <a:rPr sz="2600" spc="-1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02124"/>
                </a:solidFill>
                <a:latin typeface="Times New Roman"/>
                <a:cs typeface="Times New Roman"/>
              </a:rPr>
              <a:t>Computer</a:t>
            </a:r>
            <a:r>
              <a:rPr sz="2600" spc="-1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02124"/>
                </a:solidFill>
                <a:latin typeface="Times New Roman"/>
                <a:cs typeface="Times New Roman"/>
              </a:rPr>
              <a:t>vision</a:t>
            </a:r>
            <a:r>
              <a:rPr sz="2600" spc="-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medical</a:t>
            </a:r>
            <a:r>
              <a:rPr sz="2600" b="1" spc="-1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professionals</a:t>
            </a:r>
            <a:r>
              <a:rPr sz="2600" b="1" spc="-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can</a:t>
            </a:r>
            <a:r>
              <a:rPr sz="2600" b="1" spc="-1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make</a:t>
            </a:r>
            <a:r>
              <a:rPr sz="2600" b="1" spc="-10" dirty="0">
                <a:solidFill>
                  <a:srgbClr val="202124"/>
                </a:solidFill>
                <a:latin typeface="Times New Roman"/>
                <a:cs typeface="Times New Roman"/>
              </a:rPr>
              <a:t> better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decisions</a:t>
            </a:r>
            <a:r>
              <a:rPr sz="2600" b="1" spc="-8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regarding</a:t>
            </a:r>
            <a:r>
              <a:rPr sz="2600" b="1" spc="-8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2600" b="1" spc="-8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treatment</a:t>
            </a:r>
            <a:r>
              <a:rPr sz="2600" b="1" spc="-8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202124"/>
                </a:solidFill>
                <a:latin typeface="Times New Roman"/>
                <a:cs typeface="Times New Roman"/>
              </a:rPr>
              <a:t>of</a:t>
            </a:r>
            <a:r>
              <a:rPr sz="2600" b="1" spc="-8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202124"/>
                </a:solidFill>
                <a:latin typeface="Times New Roman"/>
                <a:cs typeface="Times New Roman"/>
              </a:rPr>
              <a:t>patients</a:t>
            </a:r>
            <a:r>
              <a:rPr sz="2600" spc="-10" dirty="0">
                <a:solidFill>
                  <a:srgbClr val="202124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400050" indent="-387350">
              <a:lnSpc>
                <a:spcPct val="100000"/>
              </a:lnSpc>
              <a:spcBef>
                <a:spcPts val="1555"/>
              </a:spcBef>
              <a:buFont typeface="Arial"/>
              <a:buChar char="●"/>
              <a:tabLst>
                <a:tab pos="400050" algn="l"/>
              </a:tabLst>
            </a:pP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Some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of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the</a:t>
            </a:r>
            <a:r>
              <a:rPr sz="2600" spc="-5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application</a:t>
            </a:r>
            <a:r>
              <a:rPr sz="26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92929"/>
                </a:solidFill>
                <a:latin typeface="Times New Roman"/>
                <a:cs typeface="Times New Roman"/>
              </a:rPr>
              <a:t>areas</a:t>
            </a:r>
            <a:r>
              <a:rPr sz="2600" spc="-5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92929"/>
                </a:solidFill>
                <a:latin typeface="Times New Roman"/>
                <a:cs typeface="Times New Roman"/>
              </a:rPr>
              <a:t>are: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Clr>
                <a:srgbClr val="292929"/>
              </a:buClr>
              <a:buFont typeface="Arial"/>
              <a:buChar char="○"/>
              <a:tabLst>
                <a:tab pos="777240" algn="l"/>
              </a:tabLst>
            </a:pP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Blood</a:t>
            </a:r>
            <a:r>
              <a:rPr sz="2600" spc="-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loss</a:t>
            </a:r>
            <a:r>
              <a:rPr sz="2600" spc="-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measurement.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Cardiology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Tumor</a:t>
            </a:r>
            <a:r>
              <a:rPr sz="2600" spc="-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detection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Cancer</a:t>
            </a:r>
            <a:r>
              <a:rPr sz="2600" spc="-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Detection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Timely</a:t>
            </a:r>
            <a:r>
              <a:rPr sz="2600" spc="-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detection</a:t>
            </a:r>
            <a:r>
              <a:rPr sz="2600" spc="-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sz="2600" spc="-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symptoms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Home-based</a:t>
            </a:r>
            <a:r>
              <a:rPr sz="2600" spc="-6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patient</a:t>
            </a:r>
            <a:r>
              <a:rPr sz="2600" spc="-5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rehabilitation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Minimising</a:t>
            </a:r>
            <a:r>
              <a:rPr sz="2600" spc="-8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false</a:t>
            </a:r>
            <a:r>
              <a:rPr sz="2600" spc="-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positives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dirty="0">
                <a:solidFill>
                  <a:srgbClr val="1A1A1A"/>
                </a:solidFill>
                <a:latin typeface="Times New Roman"/>
                <a:cs typeface="Times New Roman"/>
              </a:rPr>
              <a:t>Medical</a:t>
            </a:r>
            <a:r>
              <a:rPr sz="2600" spc="-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imaging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1555"/>
              </a:spcBef>
              <a:buFont typeface="Arial"/>
              <a:buChar char="○"/>
              <a:tabLst>
                <a:tab pos="777240" algn="l"/>
              </a:tabLst>
            </a:pPr>
            <a:r>
              <a:rPr sz="2600" spc="-10" dirty="0">
                <a:solidFill>
                  <a:srgbClr val="1A1A1A"/>
                </a:solidFill>
                <a:latin typeface="Times New Roman"/>
                <a:cs typeface="Times New Roman"/>
              </a:rPr>
              <a:t>Surgeries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574" y="3017389"/>
            <a:ext cx="8760071" cy="56386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6233" y="4796239"/>
            <a:ext cx="9572625" cy="3166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05510">
              <a:lnSpc>
                <a:spcPct val="100000"/>
              </a:lnSpc>
              <a:spcBef>
                <a:spcPts val="105"/>
              </a:spcBef>
            </a:pPr>
            <a:r>
              <a:rPr sz="10300" dirty="0">
                <a:solidFill>
                  <a:srgbClr val="FFFFFF"/>
                </a:solidFill>
              </a:rPr>
              <a:t>Challenges</a:t>
            </a:r>
            <a:r>
              <a:rPr sz="10300" spc="-190" dirty="0">
                <a:solidFill>
                  <a:srgbClr val="FFFFFF"/>
                </a:solidFill>
              </a:rPr>
              <a:t> </a:t>
            </a:r>
            <a:r>
              <a:rPr sz="10300" spc="-25" dirty="0">
                <a:solidFill>
                  <a:srgbClr val="FFFFFF"/>
                </a:solidFill>
              </a:rPr>
              <a:t>of </a:t>
            </a:r>
            <a:r>
              <a:rPr sz="10300" dirty="0">
                <a:solidFill>
                  <a:srgbClr val="FFFFFF"/>
                </a:solidFill>
              </a:rPr>
              <a:t>Computer</a:t>
            </a:r>
            <a:r>
              <a:rPr sz="10300" spc="-229" dirty="0">
                <a:solidFill>
                  <a:srgbClr val="FFFFFF"/>
                </a:solidFill>
              </a:rPr>
              <a:t> </a:t>
            </a:r>
            <a:r>
              <a:rPr sz="10300" spc="-10" dirty="0">
                <a:solidFill>
                  <a:srgbClr val="FFFFFF"/>
                </a:solidFill>
              </a:rPr>
              <a:t>Vision</a:t>
            </a:r>
            <a:endParaRPr sz="10300"/>
          </a:p>
        </p:txBody>
      </p:sp>
      <p:sp>
        <p:nvSpPr>
          <p:cNvPr id="3" name="object 3"/>
          <p:cNvSpPr/>
          <p:nvPr/>
        </p:nvSpPr>
        <p:spPr>
          <a:xfrm>
            <a:off x="5056761" y="4351812"/>
            <a:ext cx="1300480" cy="1928495"/>
          </a:xfrm>
          <a:custGeom>
            <a:avLst/>
            <a:gdLst/>
            <a:ahLst/>
            <a:cxnLst/>
            <a:rect l="l" t="t" r="r" b="b"/>
            <a:pathLst>
              <a:path w="1300479" h="1928495">
                <a:moveTo>
                  <a:pt x="1299889" y="19662"/>
                </a:moveTo>
                <a:lnTo>
                  <a:pt x="8911" y="19662"/>
                </a:lnTo>
              </a:path>
              <a:path w="1300479" h="1928495">
                <a:moveTo>
                  <a:pt x="0" y="0"/>
                </a:moveTo>
                <a:lnTo>
                  <a:pt x="0" y="1927901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962780" y="6438628"/>
            <a:ext cx="1300480" cy="1928495"/>
          </a:xfrm>
          <a:custGeom>
            <a:avLst/>
            <a:gdLst/>
            <a:ahLst/>
            <a:cxnLst/>
            <a:rect l="l" t="t" r="r" b="b"/>
            <a:pathLst>
              <a:path w="1300480" h="1928495">
                <a:moveTo>
                  <a:pt x="0" y="1908239"/>
                </a:moveTo>
                <a:lnTo>
                  <a:pt x="1290976" y="1908239"/>
                </a:lnTo>
              </a:path>
              <a:path w="1300480" h="1928495">
                <a:moveTo>
                  <a:pt x="1299888" y="1927900"/>
                </a:moveTo>
                <a:lnTo>
                  <a:pt x="1299888" y="0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29166"/>
            <a:ext cx="20073011" cy="8880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2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Challenges</a:t>
            </a:r>
            <a:r>
              <a:rPr spc="-17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Computer</a:t>
            </a:r>
            <a:r>
              <a:rPr spc="-170" dirty="0"/>
              <a:t> </a:t>
            </a:r>
            <a:r>
              <a:rPr spc="-10" dirty="0"/>
              <a:t>Vision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1836" y="2027167"/>
            <a:ext cx="14899904" cy="79784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1584" y="382105"/>
            <a:ext cx="1041273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Challenges</a:t>
            </a:r>
            <a:r>
              <a:rPr spc="-17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Computer</a:t>
            </a:r>
            <a:r>
              <a:rPr spc="-170" dirty="0"/>
              <a:t> </a:t>
            </a:r>
            <a:r>
              <a:rPr spc="-10" dirty="0"/>
              <a:t>Vision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00050" indent="-387350">
              <a:lnSpc>
                <a:spcPct val="100000"/>
              </a:lnSpc>
              <a:spcBef>
                <a:spcPts val="565"/>
              </a:spcBef>
              <a:buFont typeface="Arial"/>
              <a:buChar char="●"/>
              <a:tabLst>
                <a:tab pos="400050" algn="l"/>
              </a:tabLst>
            </a:pPr>
            <a:r>
              <a:rPr dirty="0"/>
              <a:t>Helping</a:t>
            </a:r>
            <a:r>
              <a:rPr spc="-50" dirty="0"/>
              <a:t> </a:t>
            </a:r>
            <a:r>
              <a:rPr dirty="0"/>
              <a:t>computers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see</a:t>
            </a:r>
            <a:r>
              <a:rPr spc="-50" dirty="0"/>
              <a:t> </a:t>
            </a:r>
            <a:r>
              <a:rPr dirty="0"/>
              <a:t>turns</a:t>
            </a:r>
            <a:r>
              <a:rPr spc="-50" dirty="0"/>
              <a:t> </a:t>
            </a:r>
            <a:r>
              <a:rPr dirty="0"/>
              <a:t>out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very</a:t>
            </a:r>
            <a:r>
              <a:rPr spc="-50" dirty="0"/>
              <a:t> </a:t>
            </a:r>
            <a:r>
              <a:rPr spc="-20" dirty="0"/>
              <a:t>hard.</a:t>
            </a:r>
          </a:p>
          <a:p>
            <a:pPr marL="400050" indent="-387350">
              <a:lnSpc>
                <a:spcPct val="100000"/>
              </a:lnSpc>
              <a:spcBef>
                <a:spcPts val="459"/>
              </a:spcBef>
              <a:buFont typeface="Arial"/>
              <a:buChar char="●"/>
              <a:tabLst>
                <a:tab pos="400050" algn="l"/>
              </a:tabLst>
            </a:pPr>
            <a:r>
              <a:rPr dirty="0"/>
              <a:t>It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difficult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build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has</a:t>
            </a:r>
            <a:r>
              <a:rPr spc="-5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vision</a:t>
            </a:r>
            <a:r>
              <a:rPr spc="-50" dirty="0"/>
              <a:t> </a:t>
            </a:r>
            <a:r>
              <a:rPr dirty="0"/>
              <a:t>similar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human</a:t>
            </a:r>
            <a:r>
              <a:rPr spc="-50" dirty="0"/>
              <a:t> </a:t>
            </a:r>
            <a:r>
              <a:rPr spc="-10" dirty="0"/>
              <a:t>beings.</a:t>
            </a:r>
          </a:p>
          <a:p>
            <a:pPr marL="400050" indent="-387350">
              <a:lnSpc>
                <a:spcPct val="100000"/>
              </a:lnSpc>
              <a:spcBef>
                <a:spcPts val="465"/>
              </a:spcBef>
              <a:buFont typeface="Arial"/>
              <a:buChar char="●"/>
              <a:tabLst>
                <a:tab pos="400050" algn="l"/>
              </a:tabLst>
            </a:pPr>
            <a:r>
              <a:rPr dirty="0"/>
              <a:t>Because</a:t>
            </a:r>
            <a:r>
              <a:rPr spc="-55" dirty="0"/>
              <a:t> </a:t>
            </a:r>
            <a:r>
              <a:rPr dirty="0"/>
              <a:t>we’re</a:t>
            </a:r>
            <a:r>
              <a:rPr spc="-55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entirely</a:t>
            </a:r>
            <a:r>
              <a:rPr spc="-50" dirty="0"/>
              <a:t> </a:t>
            </a:r>
            <a:r>
              <a:rPr dirty="0"/>
              <a:t>sure</a:t>
            </a:r>
            <a:r>
              <a:rPr spc="-55" dirty="0"/>
              <a:t> </a:t>
            </a:r>
            <a:r>
              <a:rPr dirty="0"/>
              <a:t>how</a:t>
            </a:r>
            <a:r>
              <a:rPr spc="-55" dirty="0"/>
              <a:t> </a:t>
            </a:r>
            <a:r>
              <a:rPr dirty="0"/>
              <a:t>human</a:t>
            </a:r>
            <a:r>
              <a:rPr spc="-55" dirty="0"/>
              <a:t> </a:t>
            </a:r>
            <a:r>
              <a:rPr dirty="0"/>
              <a:t>vision</a:t>
            </a:r>
            <a:r>
              <a:rPr spc="-50" dirty="0"/>
              <a:t> </a:t>
            </a:r>
            <a:r>
              <a:rPr dirty="0"/>
              <a:t>works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first</a:t>
            </a:r>
            <a:r>
              <a:rPr spc="-50" dirty="0"/>
              <a:t> </a:t>
            </a:r>
            <a:r>
              <a:rPr spc="-10" dirty="0"/>
              <a:t>place.</a:t>
            </a:r>
          </a:p>
          <a:p>
            <a:pPr marL="400050" marR="5080" indent="-387985">
              <a:lnSpc>
                <a:spcPct val="114900"/>
              </a:lnSpc>
              <a:buFont typeface="Arial"/>
              <a:buChar char="●"/>
              <a:tabLst>
                <a:tab pos="400050" algn="l"/>
              </a:tabLst>
            </a:pPr>
            <a:r>
              <a:rPr dirty="0"/>
              <a:t>There</a:t>
            </a:r>
            <a:r>
              <a:rPr spc="-65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>
                <a:solidFill>
                  <a:srgbClr val="1A1A1A"/>
                </a:solidFill>
              </a:rPr>
              <a:t>5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major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challenges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that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business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managers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can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face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while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implementing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computer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vision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in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their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business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and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how</a:t>
            </a:r>
            <a:r>
              <a:rPr spc="-65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they</a:t>
            </a:r>
            <a:r>
              <a:rPr spc="-60" dirty="0">
                <a:solidFill>
                  <a:srgbClr val="1A1A1A"/>
                </a:solidFill>
              </a:rPr>
              <a:t> </a:t>
            </a:r>
            <a:r>
              <a:rPr spc="-25" dirty="0">
                <a:solidFill>
                  <a:srgbClr val="1A1A1A"/>
                </a:solidFill>
              </a:rPr>
              <a:t>can </a:t>
            </a:r>
            <a:r>
              <a:rPr dirty="0">
                <a:solidFill>
                  <a:srgbClr val="1A1A1A"/>
                </a:solidFill>
              </a:rPr>
              <a:t>overcome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them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to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safeguard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their</a:t>
            </a:r>
            <a:r>
              <a:rPr spc="-45" dirty="0">
                <a:solidFill>
                  <a:srgbClr val="1A1A1A"/>
                </a:solidFill>
              </a:rPr>
              <a:t> </a:t>
            </a:r>
            <a:r>
              <a:rPr spc="-10" dirty="0">
                <a:solidFill>
                  <a:srgbClr val="1A1A1A"/>
                </a:solidFill>
              </a:rPr>
              <a:t>investments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and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ensure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maximum</a:t>
            </a:r>
            <a:r>
              <a:rPr spc="-45" dirty="0">
                <a:solidFill>
                  <a:srgbClr val="1A1A1A"/>
                </a:solidFill>
              </a:rPr>
              <a:t> </a:t>
            </a:r>
            <a:r>
              <a:rPr spc="-20" dirty="0">
                <a:solidFill>
                  <a:srgbClr val="1A1A1A"/>
                </a:solidFill>
              </a:rPr>
              <a:t>ROI.</a:t>
            </a:r>
          </a:p>
          <a:p>
            <a:pPr marL="777240" lvl="1" indent="-387985">
              <a:lnSpc>
                <a:spcPct val="100000"/>
              </a:lnSpc>
              <a:spcBef>
                <a:spcPts val="465"/>
              </a:spcBef>
              <a:buClr>
                <a:srgbClr val="1A1A1A"/>
              </a:buClr>
              <a:buFont typeface="Arial"/>
              <a:buChar char="○"/>
              <a:tabLst>
                <a:tab pos="777240" algn="l"/>
              </a:tabLst>
            </a:pP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Inadequate</a:t>
            </a:r>
            <a:r>
              <a:rPr sz="2600" b="1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hardware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464"/>
              </a:spcBef>
              <a:buClr>
                <a:srgbClr val="1A1A1A"/>
              </a:buClr>
              <a:buFont typeface="Arial"/>
              <a:buChar char="○"/>
              <a:tabLst>
                <a:tab pos="777240" algn="l"/>
              </a:tabLst>
            </a:pP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Poor</a:t>
            </a:r>
            <a:r>
              <a:rPr sz="2600" b="1" spc="-1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600" b="1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quality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459"/>
              </a:spcBef>
              <a:buClr>
                <a:srgbClr val="1A1A1A"/>
              </a:buClr>
              <a:buFont typeface="Arial"/>
              <a:buChar char="○"/>
              <a:tabLst>
                <a:tab pos="777240" algn="l"/>
              </a:tabLst>
            </a:pPr>
            <a:r>
              <a:rPr sz="26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Weak</a:t>
            </a:r>
            <a:r>
              <a:rPr sz="2600" b="1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2600" b="1" spc="-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model</a:t>
            </a:r>
            <a:r>
              <a:rPr sz="2600" b="1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development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465"/>
              </a:spcBef>
              <a:buClr>
                <a:srgbClr val="1A1A1A"/>
              </a:buClr>
              <a:buFont typeface="Arial"/>
              <a:buChar char="○"/>
              <a:tabLst>
                <a:tab pos="777240" algn="l"/>
              </a:tabLst>
            </a:pP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2600" b="1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shortage</a:t>
            </a:r>
            <a:endParaRPr sz="2600">
              <a:latin typeface="Times New Roman"/>
              <a:cs typeface="Times New Roman"/>
            </a:endParaRPr>
          </a:p>
          <a:p>
            <a:pPr marL="777240" lvl="1" indent="-387985">
              <a:lnSpc>
                <a:spcPct val="100000"/>
              </a:lnSpc>
              <a:spcBef>
                <a:spcPts val="465"/>
              </a:spcBef>
              <a:buFont typeface="Arial"/>
              <a:buChar char="○"/>
              <a:tabLst>
                <a:tab pos="777240" algn="l"/>
              </a:tabLst>
            </a:pP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Proper</a:t>
            </a:r>
            <a:r>
              <a:rPr sz="2600" b="1" spc="-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knowledge</a:t>
            </a:r>
            <a:r>
              <a:rPr sz="2600" b="1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600" b="1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600" b="1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domain.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0841" y="4796239"/>
            <a:ext cx="3382645" cy="1596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300" spc="-20" dirty="0">
                <a:solidFill>
                  <a:srgbClr val="FFFFFF"/>
                </a:solidFill>
              </a:rPr>
              <a:t>Demo</a:t>
            </a:r>
            <a:endParaRPr sz="10300"/>
          </a:p>
        </p:txBody>
      </p:sp>
      <p:sp>
        <p:nvSpPr>
          <p:cNvPr id="3" name="object 3"/>
          <p:cNvSpPr/>
          <p:nvPr/>
        </p:nvSpPr>
        <p:spPr>
          <a:xfrm>
            <a:off x="6512392" y="4642932"/>
            <a:ext cx="835660" cy="1192530"/>
          </a:xfrm>
          <a:custGeom>
            <a:avLst/>
            <a:gdLst/>
            <a:ahLst/>
            <a:cxnLst/>
            <a:rect l="l" t="t" r="r" b="b"/>
            <a:pathLst>
              <a:path w="835659" h="1192529">
                <a:moveTo>
                  <a:pt x="835296" y="12157"/>
                </a:moveTo>
                <a:lnTo>
                  <a:pt x="5727" y="12157"/>
                </a:lnTo>
              </a:path>
              <a:path w="835659" h="1192529">
                <a:moveTo>
                  <a:pt x="0" y="0"/>
                </a:moveTo>
                <a:lnTo>
                  <a:pt x="0" y="1192061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235311" y="5933253"/>
            <a:ext cx="835660" cy="1192530"/>
          </a:xfrm>
          <a:custGeom>
            <a:avLst/>
            <a:gdLst/>
            <a:ahLst/>
            <a:cxnLst/>
            <a:rect l="l" t="t" r="r" b="b"/>
            <a:pathLst>
              <a:path w="835659" h="1192529">
                <a:moveTo>
                  <a:pt x="0" y="1179903"/>
                </a:moveTo>
                <a:lnTo>
                  <a:pt x="829569" y="1179903"/>
                </a:lnTo>
              </a:path>
              <a:path w="835659" h="1192529">
                <a:moveTo>
                  <a:pt x="835296" y="1192061"/>
                </a:moveTo>
                <a:lnTo>
                  <a:pt x="835296" y="0"/>
                </a:lnTo>
              </a:path>
            </a:pathLst>
          </a:custGeom>
          <a:ln w="235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"/>
            <a:ext cx="20104100" cy="11308554"/>
            <a:chOff x="0" y="2"/>
            <a:chExt cx="20104100" cy="113085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681" y="343539"/>
              <a:ext cx="2671929" cy="6312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"/>
              <a:ext cx="20104100" cy="1130855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29334" y="3586908"/>
            <a:ext cx="8445500" cy="1759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350" b="0" dirty="0">
                <a:solidFill>
                  <a:srgbClr val="FFFFFF"/>
                </a:solidFill>
                <a:latin typeface="Poppins Medium"/>
                <a:cs typeface="Poppins Medium"/>
              </a:rPr>
              <a:t>Thank</a:t>
            </a:r>
            <a:r>
              <a:rPr sz="11350" b="0" spc="5" dirty="0">
                <a:solidFill>
                  <a:srgbClr val="FFFFFF"/>
                </a:solidFill>
                <a:latin typeface="Poppins Medium"/>
                <a:cs typeface="Poppins Medium"/>
              </a:rPr>
              <a:t> </a:t>
            </a:r>
            <a:r>
              <a:rPr sz="11350" b="0" dirty="0">
                <a:solidFill>
                  <a:srgbClr val="FFFFFF"/>
                </a:solidFill>
                <a:latin typeface="Poppins Medium"/>
                <a:cs typeface="Poppins Medium"/>
              </a:rPr>
              <a:t>You</a:t>
            </a:r>
            <a:r>
              <a:rPr sz="11350" b="0" spc="5" dirty="0">
                <a:solidFill>
                  <a:srgbClr val="FFFFFF"/>
                </a:solidFill>
                <a:latin typeface="Poppins Medium"/>
                <a:cs typeface="Poppins Medium"/>
              </a:rPr>
              <a:t> </a:t>
            </a:r>
            <a:r>
              <a:rPr sz="11350" b="0" spc="-50" dirty="0">
                <a:solidFill>
                  <a:srgbClr val="FFFFFF"/>
                </a:solidFill>
                <a:latin typeface="Poppins Medium"/>
                <a:cs typeface="Poppins Medium"/>
              </a:rPr>
              <a:t>!</a:t>
            </a:r>
            <a:endParaRPr sz="11350">
              <a:latin typeface="Poppins Medium"/>
              <a:cs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780</Words>
  <Application>Microsoft Office PowerPoint</Application>
  <PresentationFormat>Custom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Cambria</vt:lpstr>
      <vt:lpstr>Open Sans Light</vt:lpstr>
      <vt:lpstr>Poppins Medium</vt:lpstr>
      <vt:lpstr>Source Sans Pro</vt:lpstr>
      <vt:lpstr>Times New Roman</vt:lpstr>
      <vt:lpstr>Office Theme</vt:lpstr>
      <vt:lpstr>PowerPoint Presentation</vt:lpstr>
      <vt:lpstr>Our Agenda</vt:lpstr>
      <vt:lpstr>What is Computer Vision?</vt:lpstr>
      <vt:lpstr>What is Computer Vision?</vt:lpstr>
      <vt:lpstr>Seeing results with computer vision</vt:lpstr>
      <vt:lpstr>How Computer Vision Works?</vt:lpstr>
      <vt:lpstr>How Computer Vision Works?</vt:lpstr>
      <vt:lpstr>How Computer Vision Works?</vt:lpstr>
      <vt:lpstr>How Computer Vision Works?</vt:lpstr>
      <vt:lpstr>Applications of Computer Vision</vt:lpstr>
      <vt:lpstr>Application Of Computer Vision</vt:lpstr>
      <vt:lpstr>Computer Vision In Self Driving Cars</vt:lpstr>
      <vt:lpstr>Computer Vision In Facial Recognition</vt:lpstr>
      <vt:lpstr>Computer Vision In Augmented Reality &amp; Mixed Reality</vt:lpstr>
      <vt:lpstr>Computer Vision In HealthCare</vt:lpstr>
      <vt:lpstr>Challenges of Computer Vision</vt:lpstr>
      <vt:lpstr>Challenges of Computer Vision</vt:lpstr>
      <vt:lpstr>Challenges of Computer Vision</vt:lpstr>
      <vt:lpstr>Demo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Vision</dc:title>
  <dc:creator>GANESH</dc:creator>
  <cp:lastModifiedBy>GANESH BHOSALE</cp:lastModifiedBy>
  <cp:revision>1</cp:revision>
  <dcterms:created xsi:type="dcterms:W3CDTF">2025-06-15T17:29:44Z</dcterms:created>
  <dcterms:modified xsi:type="dcterms:W3CDTF">2026-02-08T15:43:22Z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2025-06-15T00:00:00Z</vt:filetime>
  </property>
</Properties>
</file>