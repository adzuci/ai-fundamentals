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2" autoAdjust="0"/>
    <p:restoredTop sz="94660"/>
  </p:normalViewPr>
  <p:slideViewPr>
    <p:cSldViewPr>
      <p:cViewPr>
        <p:scale>
          <a:sx n="100" d="100"/>
          <a:sy n="100" d="100"/>
        </p:scale>
        <p:origin x="211" y="12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90550" y="470661"/>
            <a:ext cx="2177415" cy="482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1" i="0">
                <a:solidFill>
                  <a:srgbClr val="2A3990"/>
                </a:solidFill>
                <a:latin typeface="Roboto Bk"/>
                <a:cs typeface="Roboto B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rgbClr val="434343"/>
                </a:solidFill>
                <a:latin typeface="Roboto Bk"/>
                <a:cs typeface="Roboto Bk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bg1"/>
                </a:solidFill>
                <a:latin typeface="Roboto Bk"/>
                <a:cs typeface="Roboto Bk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rgbClr val="2A3990"/>
                </a:solidFill>
                <a:latin typeface="Roboto Bk"/>
                <a:cs typeface="Roboto B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rgbClr val="434343"/>
                </a:solidFill>
                <a:latin typeface="Roboto Bk"/>
                <a:cs typeface="Roboto Bk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bg1"/>
                </a:solidFill>
                <a:latin typeface="Roboto Bk"/>
                <a:cs typeface="Roboto Bk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rgbClr val="2A3990"/>
                </a:solidFill>
                <a:latin typeface="Roboto Bk"/>
                <a:cs typeface="Roboto B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bg1"/>
                </a:solidFill>
                <a:latin typeface="Roboto Bk"/>
                <a:cs typeface="Roboto Bk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rgbClr val="2A3990"/>
                </a:solidFill>
                <a:latin typeface="Roboto Bk"/>
                <a:cs typeface="Roboto B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bg1"/>
                </a:solidFill>
                <a:latin typeface="Roboto Bk"/>
                <a:cs typeface="Roboto Bk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8154923" y="3902964"/>
            <a:ext cx="989330" cy="989330"/>
          </a:xfrm>
          <a:custGeom>
            <a:avLst/>
            <a:gdLst/>
            <a:ahLst/>
            <a:cxnLst/>
            <a:rect l="l" t="t" r="r" b="b"/>
            <a:pathLst>
              <a:path w="989329" h="989329">
                <a:moveTo>
                  <a:pt x="0" y="0"/>
                </a:moveTo>
                <a:lnTo>
                  <a:pt x="0" y="989076"/>
                </a:lnTo>
                <a:lnTo>
                  <a:pt x="989076" y="989076"/>
                </a:lnTo>
                <a:lnTo>
                  <a:pt x="0" y="0"/>
                </a:lnTo>
                <a:close/>
              </a:path>
            </a:pathLst>
          </a:custGeom>
          <a:solidFill>
            <a:srgbClr val="EF619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6181344" y="3902964"/>
            <a:ext cx="989330" cy="989330"/>
          </a:xfrm>
          <a:custGeom>
            <a:avLst/>
            <a:gdLst/>
            <a:ahLst/>
            <a:cxnLst/>
            <a:rect l="l" t="t" r="r" b="b"/>
            <a:pathLst>
              <a:path w="989329" h="989329">
                <a:moveTo>
                  <a:pt x="989076" y="0"/>
                </a:moveTo>
                <a:lnTo>
                  <a:pt x="0" y="989076"/>
                </a:lnTo>
                <a:lnTo>
                  <a:pt x="989076" y="989076"/>
                </a:lnTo>
                <a:lnTo>
                  <a:pt x="989076" y="0"/>
                </a:lnTo>
                <a:close/>
              </a:path>
            </a:pathLst>
          </a:custGeom>
          <a:solidFill>
            <a:srgbClr val="EF619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7170419" y="3902964"/>
            <a:ext cx="989330" cy="989330"/>
          </a:xfrm>
          <a:custGeom>
            <a:avLst/>
            <a:gdLst/>
            <a:ahLst/>
            <a:cxnLst/>
            <a:rect l="l" t="t" r="r" b="b"/>
            <a:pathLst>
              <a:path w="989329" h="989329">
                <a:moveTo>
                  <a:pt x="989076" y="0"/>
                </a:moveTo>
                <a:lnTo>
                  <a:pt x="0" y="0"/>
                </a:lnTo>
                <a:lnTo>
                  <a:pt x="0" y="989076"/>
                </a:lnTo>
                <a:lnTo>
                  <a:pt x="989076" y="989076"/>
                </a:lnTo>
                <a:lnTo>
                  <a:pt x="989076" y="0"/>
                </a:lnTo>
                <a:close/>
              </a:path>
            </a:pathLst>
          </a:custGeom>
          <a:solidFill>
            <a:srgbClr val="D2336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8154923" y="3902964"/>
            <a:ext cx="989330" cy="989330"/>
          </a:xfrm>
          <a:custGeom>
            <a:avLst/>
            <a:gdLst/>
            <a:ahLst/>
            <a:cxnLst/>
            <a:rect l="l" t="t" r="r" b="b"/>
            <a:pathLst>
              <a:path w="989329" h="989329">
                <a:moveTo>
                  <a:pt x="989076" y="0"/>
                </a:moveTo>
                <a:lnTo>
                  <a:pt x="0" y="0"/>
                </a:lnTo>
                <a:lnTo>
                  <a:pt x="989076" y="989076"/>
                </a:lnTo>
                <a:lnTo>
                  <a:pt x="989076" y="0"/>
                </a:lnTo>
                <a:close/>
              </a:path>
            </a:pathLst>
          </a:custGeom>
          <a:solidFill>
            <a:srgbClr val="9C24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0" y="4892039"/>
            <a:ext cx="9144000" cy="251460"/>
          </a:xfrm>
          <a:custGeom>
            <a:avLst/>
            <a:gdLst/>
            <a:ahLst/>
            <a:cxnLst/>
            <a:rect l="l" t="t" r="r" b="b"/>
            <a:pathLst>
              <a:path w="9144000" h="251460">
                <a:moveTo>
                  <a:pt x="9144000" y="0"/>
                </a:moveTo>
                <a:lnTo>
                  <a:pt x="0" y="0"/>
                </a:lnTo>
                <a:lnTo>
                  <a:pt x="0" y="251459"/>
                </a:lnTo>
                <a:lnTo>
                  <a:pt x="9144000" y="251459"/>
                </a:lnTo>
                <a:lnTo>
                  <a:pt x="9144000" y="0"/>
                </a:lnTo>
                <a:close/>
              </a:path>
            </a:pathLst>
          </a:custGeom>
          <a:solidFill>
            <a:srgbClr val="2A399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268224" y="413003"/>
            <a:ext cx="7643495" cy="3717290"/>
          </a:xfrm>
          <a:custGeom>
            <a:avLst/>
            <a:gdLst/>
            <a:ahLst/>
            <a:cxnLst/>
            <a:rect l="l" t="t" r="r" b="b"/>
            <a:pathLst>
              <a:path w="7643495" h="3717290">
                <a:moveTo>
                  <a:pt x="530352" y="0"/>
                </a:moveTo>
                <a:lnTo>
                  <a:pt x="541451" y="3716705"/>
                </a:lnTo>
              </a:path>
              <a:path w="7643495" h="3717290">
                <a:moveTo>
                  <a:pt x="0" y="3285744"/>
                </a:moveTo>
                <a:lnTo>
                  <a:pt x="7643368" y="3330194"/>
                </a:lnTo>
              </a:path>
            </a:pathLst>
          </a:custGeom>
          <a:ln w="9144">
            <a:solidFill>
              <a:srgbClr val="43434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2" name="bg object 2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07236" y="2764536"/>
            <a:ext cx="219456" cy="219456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17548" y="2357627"/>
            <a:ext cx="219456" cy="219456"/>
          </a:xfrm>
          <a:prstGeom prst="rect">
            <a:avLst/>
          </a:prstGeom>
        </p:spPr>
      </p:pic>
      <p:pic>
        <p:nvPicPr>
          <p:cNvPr id="24" name="bg object 2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32660" y="2624327"/>
            <a:ext cx="219456" cy="219456"/>
          </a:xfrm>
          <a:prstGeom prst="rect">
            <a:avLst/>
          </a:prstGeom>
        </p:spPr>
      </p:pic>
      <p:pic>
        <p:nvPicPr>
          <p:cNvPr id="25" name="bg object 2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98264" y="1903476"/>
            <a:ext cx="219456" cy="219456"/>
          </a:xfrm>
          <a:prstGeom prst="rect">
            <a:avLst/>
          </a:prstGeom>
        </p:spPr>
      </p:pic>
      <p:pic>
        <p:nvPicPr>
          <p:cNvPr id="26" name="bg object 2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97552" y="2036064"/>
            <a:ext cx="219456" cy="219456"/>
          </a:xfrm>
          <a:prstGeom prst="rect">
            <a:avLst/>
          </a:prstGeom>
        </p:spPr>
      </p:pic>
      <p:pic>
        <p:nvPicPr>
          <p:cNvPr id="27" name="bg object 2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645152" y="1621535"/>
            <a:ext cx="219456" cy="219456"/>
          </a:xfrm>
          <a:prstGeom prst="rect">
            <a:avLst/>
          </a:prstGeom>
        </p:spPr>
      </p:pic>
      <p:pic>
        <p:nvPicPr>
          <p:cNvPr id="28" name="bg object 2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42972" y="3055620"/>
            <a:ext cx="219456" cy="219456"/>
          </a:xfrm>
          <a:prstGeom prst="rect">
            <a:avLst/>
          </a:prstGeom>
        </p:spPr>
      </p:pic>
      <p:sp>
        <p:nvSpPr>
          <p:cNvPr id="29" name="bg object 29"/>
          <p:cNvSpPr/>
          <p:nvPr/>
        </p:nvSpPr>
        <p:spPr>
          <a:xfrm>
            <a:off x="4251197" y="1332737"/>
            <a:ext cx="609600" cy="852169"/>
          </a:xfrm>
          <a:custGeom>
            <a:avLst/>
            <a:gdLst/>
            <a:ahLst/>
            <a:cxnLst/>
            <a:rect l="l" t="t" r="r" b="b"/>
            <a:pathLst>
              <a:path w="609600" h="852169">
                <a:moveTo>
                  <a:pt x="0" y="425958"/>
                </a:moveTo>
                <a:lnTo>
                  <a:pt x="2375" y="372535"/>
                </a:lnTo>
                <a:lnTo>
                  <a:pt x="9312" y="321091"/>
                </a:lnTo>
                <a:lnTo>
                  <a:pt x="20524" y="272023"/>
                </a:lnTo>
                <a:lnTo>
                  <a:pt x="35724" y="225733"/>
                </a:lnTo>
                <a:lnTo>
                  <a:pt x="54626" y="182619"/>
                </a:lnTo>
                <a:lnTo>
                  <a:pt x="76945" y="143080"/>
                </a:lnTo>
                <a:lnTo>
                  <a:pt x="102394" y="107517"/>
                </a:lnTo>
                <a:lnTo>
                  <a:pt x="130688" y="76330"/>
                </a:lnTo>
                <a:lnTo>
                  <a:pt x="161539" y="49916"/>
                </a:lnTo>
                <a:lnTo>
                  <a:pt x="194662" y="28677"/>
                </a:lnTo>
                <a:lnTo>
                  <a:pt x="229770" y="13011"/>
                </a:lnTo>
                <a:lnTo>
                  <a:pt x="304800" y="0"/>
                </a:lnTo>
                <a:lnTo>
                  <a:pt x="343021" y="3319"/>
                </a:lnTo>
                <a:lnTo>
                  <a:pt x="414937" y="28677"/>
                </a:lnTo>
                <a:lnTo>
                  <a:pt x="448060" y="49916"/>
                </a:lnTo>
                <a:lnTo>
                  <a:pt x="478911" y="76330"/>
                </a:lnTo>
                <a:lnTo>
                  <a:pt x="507205" y="107517"/>
                </a:lnTo>
                <a:lnTo>
                  <a:pt x="532654" y="143080"/>
                </a:lnTo>
                <a:lnTo>
                  <a:pt x="554973" y="182619"/>
                </a:lnTo>
                <a:lnTo>
                  <a:pt x="573875" y="225733"/>
                </a:lnTo>
                <a:lnTo>
                  <a:pt x="589075" y="272023"/>
                </a:lnTo>
                <a:lnTo>
                  <a:pt x="600287" y="321091"/>
                </a:lnTo>
                <a:lnTo>
                  <a:pt x="607224" y="372535"/>
                </a:lnTo>
                <a:lnTo>
                  <a:pt x="609600" y="425958"/>
                </a:lnTo>
                <a:lnTo>
                  <a:pt x="607224" y="479380"/>
                </a:lnTo>
                <a:lnTo>
                  <a:pt x="600287" y="530824"/>
                </a:lnTo>
                <a:lnTo>
                  <a:pt x="589075" y="579892"/>
                </a:lnTo>
                <a:lnTo>
                  <a:pt x="573875" y="626182"/>
                </a:lnTo>
                <a:lnTo>
                  <a:pt x="554973" y="669296"/>
                </a:lnTo>
                <a:lnTo>
                  <a:pt x="532654" y="708835"/>
                </a:lnTo>
                <a:lnTo>
                  <a:pt x="507205" y="744398"/>
                </a:lnTo>
                <a:lnTo>
                  <a:pt x="478911" y="775585"/>
                </a:lnTo>
                <a:lnTo>
                  <a:pt x="448060" y="801999"/>
                </a:lnTo>
                <a:lnTo>
                  <a:pt x="414937" y="823238"/>
                </a:lnTo>
                <a:lnTo>
                  <a:pt x="379829" y="838904"/>
                </a:lnTo>
                <a:lnTo>
                  <a:pt x="304800" y="851916"/>
                </a:lnTo>
                <a:lnTo>
                  <a:pt x="266578" y="848596"/>
                </a:lnTo>
                <a:lnTo>
                  <a:pt x="194662" y="823238"/>
                </a:lnTo>
                <a:lnTo>
                  <a:pt x="161539" y="801999"/>
                </a:lnTo>
                <a:lnTo>
                  <a:pt x="130688" y="775585"/>
                </a:lnTo>
                <a:lnTo>
                  <a:pt x="102394" y="744398"/>
                </a:lnTo>
                <a:lnTo>
                  <a:pt x="76945" y="708835"/>
                </a:lnTo>
                <a:lnTo>
                  <a:pt x="54626" y="669296"/>
                </a:lnTo>
                <a:lnTo>
                  <a:pt x="35724" y="626182"/>
                </a:lnTo>
                <a:lnTo>
                  <a:pt x="20524" y="579892"/>
                </a:lnTo>
                <a:lnTo>
                  <a:pt x="9312" y="530824"/>
                </a:lnTo>
                <a:lnTo>
                  <a:pt x="2375" y="479380"/>
                </a:lnTo>
                <a:lnTo>
                  <a:pt x="0" y="425958"/>
                </a:lnTo>
                <a:close/>
              </a:path>
            </a:pathLst>
          </a:custGeom>
          <a:ln w="28956">
            <a:solidFill>
              <a:srgbClr val="0000FF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g object 30"/>
          <p:cNvSpPr/>
          <p:nvPr/>
        </p:nvSpPr>
        <p:spPr>
          <a:xfrm>
            <a:off x="1451610" y="2152649"/>
            <a:ext cx="548640" cy="1004569"/>
          </a:xfrm>
          <a:custGeom>
            <a:avLst/>
            <a:gdLst/>
            <a:ahLst/>
            <a:cxnLst/>
            <a:rect l="l" t="t" r="r" b="b"/>
            <a:pathLst>
              <a:path w="548639" h="1004569">
                <a:moveTo>
                  <a:pt x="0" y="502157"/>
                </a:moveTo>
                <a:lnTo>
                  <a:pt x="2137" y="439161"/>
                </a:lnTo>
                <a:lnTo>
                  <a:pt x="8377" y="378502"/>
                </a:lnTo>
                <a:lnTo>
                  <a:pt x="18463" y="320650"/>
                </a:lnTo>
                <a:lnTo>
                  <a:pt x="32139" y="266076"/>
                </a:lnTo>
                <a:lnTo>
                  <a:pt x="49146" y="215249"/>
                </a:lnTo>
                <a:lnTo>
                  <a:pt x="69229" y="168641"/>
                </a:lnTo>
                <a:lnTo>
                  <a:pt x="92129" y="126721"/>
                </a:lnTo>
                <a:lnTo>
                  <a:pt x="117591" y="89960"/>
                </a:lnTo>
                <a:lnTo>
                  <a:pt x="145357" y="58829"/>
                </a:lnTo>
                <a:lnTo>
                  <a:pt x="175169" y="33796"/>
                </a:lnTo>
                <a:lnTo>
                  <a:pt x="239908" y="3911"/>
                </a:lnTo>
                <a:lnTo>
                  <a:pt x="274320" y="0"/>
                </a:lnTo>
                <a:lnTo>
                  <a:pt x="308731" y="3911"/>
                </a:lnTo>
                <a:lnTo>
                  <a:pt x="373470" y="33796"/>
                </a:lnTo>
                <a:lnTo>
                  <a:pt x="403282" y="58829"/>
                </a:lnTo>
                <a:lnTo>
                  <a:pt x="431048" y="89960"/>
                </a:lnTo>
                <a:lnTo>
                  <a:pt x="456510" y="126721"/>
                </a:lnTo>
                <a:lnTo>
                  <a:pt x="479410" y="168641"/>
                </a:lnTo>
                <a:lnTo>
                  <a:pt x="499493" y="215249"/>
                </a:lnTo>
                <a:lnTo>
                  <a:pt x="516500" y="266076"/>
                </a:lnTo>
                <a:lnTo>
                  <a:pt x="530176" y="320650"/>
                </a:lnTo>
                <a:lnTo>
                  <a:pt x="540262" y="378502"/>
                </a:lnTo>
                <a:lnTo>
                  <a:pt x="546502" y="439161"/>
                </a:lnTo>
                <a:lnTo>
                  <a:pt x="548640" y="502157"/>
                </a:lnTo>
                <a:lnTo>
                  <a:pt x="546502" y="565154"/>
                </a:lnTo>
                <a:lnTo>
                  <a:pt x="540262" y="625813"/>
                </a:lnTo>
                <a:lnTo>
                  <a:pt x="530176" y="683665"/>
                </a:lnTo>
                <a:lnTo>
                  <a:pt x="516500" y="738239"/>
                </a:lnTo>
                <a:lnTo>
                  <a:pt x="499493" y="789066"/>
                </a:lnTo>
                <a:lnTo>
                  <a:pt x="479410" y="835674"/>
                </a:lnTo>
                <a:lnTo>
                  <a:pt x="456510" y="877594"/>
                </a:lnTo>
                <a:lnTo>
                  <a:pt x="431048" y="914355"/>
                </a:lnTo>
                <a:lnTo>
                  <a:pt x="403282" y="945486"/>
                </a:lnTo>
                <a:lnTo>
                  <a:pt x="373470" y="970519"/>
                </a:lnTo>
                <a:lnTo>
                  <a:pt x="308731" y="1000404"/>
                </a:lnTo>
                <a:lnTo>
                  <a:pt x="274320" y="1004316"/>
                </a:lnTo>
                <a:lnTo>
                  <a:pt x="239908" y="1000404"/>
                </a:lnTo>
                <a:lnTo>
                  <a:pt x="175169" y="970519"/>
                </a:lnTo>
                <a:lnTo>
                  <a:pt x="145357" y="945486"/>
                </a:lnTo>
                <a:lnTo>
                  <a:pt x="117591" y="914355"/>
                </a:lnTo>
                <a:lnTo>
                  <a:pt x="92129" y="877594"/>
                </a:lnTo>
                <a:lnTo>
                  <a:pt x="69229" y="835674"/>
                </a:lnTo>
                <a:lnTo>
                  <a:pt x="49146" y="789066"/>
                </a:lnTo>
                <a:lnTo>
                  <a:pt x="32139" y="738239"/>
                </a:lnTo>
                <a:lnTo>
                  <a:pt x="18463" y="683665"/>
                </a:lnTo>
                <a:lnTo>
                  <a:pt x="8377" y="625813"/>
                </a:lnTo>
                <a:lnTo>
                  <a:pt x="2137" y="565154"/>
                </a:lnTo>
                <a:lnTo>
                  <a:pt x="0" y="502157"/>
                </a:lnTo>
                <a:close/>
              </a:path>
            </a:pathLst>
          </a:custGeom>
          <a:ln w="28955">
            <a:solidFill>
              <a:srgbClr val="FF99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bg object 31"/>
          <p:cNvSpPr/>
          <p:nvPr/>
        </p:nvSpPr>
        <p:spPr>
          <a:xfrm>
            <a:off x="4103370" y="1200150"/>
            <a:ext cx="1306195" cy="1295400"/>
          </a:xfrm>
          <a:custGeom>
            <a:avLst/>
            <a:gdLst/>
            <a:ahLst/>
            <a:cxnLst/>
            <a:rect l="l" t="t" r="r" b="b"/>
            <a:pathLst>
              <a:path w="1306195" h="1295400">
                <a:moveTo>
                  <a:pt x="0" y="647700"/>
                </a:moveTo>
                <a:lnTo>
                  <a:pt x="1791" y="599355"/>
                </a:lnTo>
                <a:lnTo>
                  <a:pt x="7080" y="551977"/>
                </a:lnTo>
                <a:lnTo>
                  <a:pt x="15740" y="505690"/>
                </a:lnTo>
                <a:lnTo>
                  <a:pt x="27647" y="460619"/>
                </a:lnTo>
                <a:lnTo>
                  <a:pt x="42672" y="416889"/>
                </a:lnTo>
                <a:lnTo>
                  <a:pt x="60691" y="374626"/>
                </a:lnTo>
                <a:lnTo>
                  <a:pt x="81576" y="333955"/>
                </a:lnTo>
                <a:lnTo>
                  <a:pt x="105202" y="295001"/>
                </a:lnTo>
                <a:lnTo>
                  <a:pt x="131443" y="257888"/>
                </a:lnTo>
                <a:lnTo>
                  <a:pt x="160171" y="222743"/>
                </a:lnTo>
                <a:lnTo>
                  <a:pt x="191262" y="189690"/>
                </a:lnTo>
                <a:lnTo>
                  <a:pt x="224587" y="158854"/>
                </a:lnTo>
                <a:lnTo>
                  <a:pt x="260023" y="130362"/>
                </a:lnTo>
                <a:lnTo>
                  <a:pt x="297441" y="104337"/>
                </a:lnTo>
                <a:lnTo>
                  <a:pt x="336716" y="80905"/>
                </a:lnTo>
                <a:lnTo>
                  <a:pt x="377722" y="60191"/>
                </a:lnTo>
                <a:lnTo>
                  <a:pt x="420333" y="42321"/>
                </a:lnTo>
                <a:lnTo>
                  <a:pt x="464422" y="27419"/>
                </a:lnTo>
                <a:lnTo>
                  <a:pt x="509862" y="15611"/>
                </a:lnTo>
                <a:lnTo>
                  <a:pt x="556529" y="7021"/>
                </a:lnTo>
                <a:lnTo>
                  <a:pt x="604294" y="1776"/>
                </a:lnTo>
                <a:lnTo>
                  <a:pt x="653033" y="0"/>
                </a:lnTo>
                <a:lnTo>
                  <a:pt x="701773" y="1776"/>
                </a:lnTo>
                <a:lnTo>
                  <a:pt x="749538" y="7021"/>
                </a:lnTo>
                <a:lnTo>
                  <a:pt x="796205" y="15611"/>
                </a:lnTo>
                <a:lnTo>
                  <a:pt x="841645" y="27419"/>
                </a:lnTo>
                <a:lnTo>
                  <a:pt x="885734" y="42321"/>
                </a:lnTo>
                <a:lnTo>
                  <a:pt x="928345" y="60191"/>
                </a:lnTo>
                <a:lnTo>
                  <a:pt x="969351" y="80905"/>
                </a:lnTo>
                <a:lnTo>
                  <a:pt x="1008626" y="104337"/>
                </a:lnTo>
                <a:lnTo>
                  <a:pt x="1046044" y="130362"/>
                </a:lnTo>
                <a:lnTo>
                  <a:pt x="1081480" y="158854"/>
                </a:lnTo>
                <a:lnTo>
                  <a:pt x="1114806" y="189690"/>
                </a:lnTo>
                <a:lnTo>
                  <a:pt x="1145896" y="222743"/>
                </a:lnTo>
                <a:lnTo>
                  <a:pt x="1174624" y="257888"/>
                </a:lnTo>
                <a:lnTo>
                  <a:pt x="1200865" y="295001"/>
                </a:lnTo>
                <a:lnTo>
                  <a:pt x="1224491" y="333955"/>
                </a:lnTo>
                <a:lnTo>
                  <a:pt x="1245376" y="374626"/>
                </a:lnTo>
                <a:lnTo>
                  <a:pt x="1263395" y="416889"/>
                </a:lnTo>
                <a:lnTo>
                  <a:pt x="1278420" y="460619"/>
                </a:lnTo>
                <a:lnTo>
                  <a:pt x="1290327" y="505690"/>
                </a:lnTo>
                <a:lnTo>
                  <a:pt x="1298987" y="551977"/>
                </a:lnTo>
                <a:lnTo>
                  <a:pt x="1304276" y="599355"/>
                </a:lnTo>
                <a:lnTo>
                  <a:pt x="1306067" y="647700"/>
                </a:lnTo>
                <a:lnTo>
                  <a:pt x="1304276" y="696044"/>
                </a:lnTo>
                <a:lnTo>
                  <a:pt x="1298987" y="743422"/>
                </a:lnTo>
                <a:lnTo>
                  <a:pt x="1290327" y="789709"/>
                </a:lnTo>
                <a:lnTo>
                  <a:pt x="1278420" y="834780"/>
                </a:lnTo>
                <a:lnTo>
                  <a:pt x="1263395" y="878510"/>
                </a:lnTo>
                <a:lnTo>
                  <a:pt x="1245376" y="920773"/>
                </a:lnTo>
                <a:lnTo>
                  <a:pt x="1224491" y="961444"/>
                </a:lnTo>
                <a:lnTo>
                  <a:pt x="1200865" y="1000398"/>
                </a:lnTo>
                <a:lnTo>
                  <a:pt x="1174624" y="1037511"/>
                </a:lnTo>
                <a:lnTo>
                  <a:pt x="1145896" y="1072656"/>
                </a:lnTo>
                <a:lnTo>
                  <a:pt x="1114805" y="1105709"/>
                </a:lnTo>
                <a:lnTo>
                  <a:pt x="1081480" y="1136545"/>
                </a:lnTo>
                <a:lnTo>
                  <a:pt x="1046044" y="1165037"/>
                </a:lnTo>
                <a:lnTo>
                  <a:pt x="1008626" y="1191062"/>
                </a:lnTo>
                <a:lnTo>
                  <a:pt x="969351" y="1214494"/>
                </a:lnTo>
                <a:lnTo>
                  <a:pt x="928345" y="1235208"/>
                </a:lnTo>
                <a:lnTo>
                  <a:pt x="885734" y="1253078"/>
                </a:lnTo>
                <a:lnTo>
                  <a:pt x="841645" y="1267980"/>
                </a:lnTo>
                <a:lnTo>
                  <a:pt x="796205" y="1279788"/>
                </a:lnTo>
                <a:lnTo>
                  <a:pt x="749538" y="1288378"/>
                </a:lnTo>
                <a:lnTo>
                  <a:pt x="701773" y="1293623"/>
                </a:lnTo>
                <a:lnTo>
                  <a:pt x="653033" y="1295400"/>
                </a:lnTo>
                <a:lnTo>
                  <a:pt x="604294" y="1293623"/>
                </a:lnTo>
                <a:lnTo>
                  <a:pt x="556529" y="1288378"/>
                </a:lnTo>
                <a:lnTo>
                  <a:pt x="509862" y="1279788"/>
                </a:lnTo>
                <a:lnTo>
                  <a:pt x="464422" y="1267980"/>
                </a:lnTo>
                <a:lnTo>
                  <a:pt x="420333" y="1253078"/>
                </a:lnTo>
                <a:lnTo>
                  <a:pt x="377722" y="1235208"/>
                </a:lnTo>
                <a:lnTo>
                  <a:pt x="336716" y="1214494"/>
                </a:lnTo>
                <a:lnTo>
                  <a:pt x="297441" y="1191062"/>
                </a:lnTo>
                <a:lnTo>
                  <a:pt x="260023" y="1165037"/>
                </a:lnTo>
                <a:lnTo>
                  <a:pt x="224587" y="1136545"/>
                </a:lnTo>
                <a:lnTo>
                  <a:pt x="191261" y="1105709"/>
                </a:lnTo>
                <a:lnTo>
                  <a:pt x="160171" y="1072656"/>
                </a:lnTo>
                <a:lnTo>
                  <a:pt x="131443" y="1037511"/>
                </a:lnTo>
                <a:lnTo>
                  <a:pt x="105202" y="1000398"/>
                </a:lnTo>
                <a:lnTo>
                  <a:pt x="81576" y="961444"/>
                </a:lnTo>
                <a:lnTo>
                  <a:pt x="60691" y="920773"/>
                </a:lnTo>
                <a:lnTo>
                  <a:pt x="42672" y="878510"/>
                </a:lnTo>
                <a:lnTo>
                  <a:pt x="27647" y="834780"/>
                </a:lnTo>
                <a:lnTo>
                  <a:pt x="15740" y="789709"/>
                </a:lnTo>
                <a:lnTo>
                  <a:pt x="7080" y="743422"/>
                </a:lnTo>
                <a:lnTo>
                  <a:pt x="1791" y="696044"/>
                </a:lnTo>
                <a:lnTo>
                  <a:pt x="0" y="647700"/>
                </a:lnTo>
                <a:close/>
              </a:path>
            </a:pathLst>
          </a:custGeom>
          <a:ln w="28956">
            <a:solidFill>
              <a:srgbClr val="B45F0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bg object 32"/>
          <p:cNvSpPr/>
          <p:nvPr/>
        </p:nvSpPr>
        <p:spPr>
          <a:xfrm>
            <a:off x="1364741" y="2077974"/>
            <a:ext cx="1243965" cy="1153795"/>
          </a:xfrm>
          <a:custGeom>
            <a:avLst/>
            <a:gdLst/>
            <a:ahLst/>
            <a:cxnLst/>
            <a:rect l="l" t="t" r="r" b="b"/>
            <a:pathLst>
              <a:path w="1243964" h="1153795">
                <a:moveTo>
                  <a:pt x="0" y="576833"/>
                </a:moveTo>
                <a:lnTo>
                  <a:pt x="1870" y="531762"/>
                </a:lnTo>
                <a:lnTo>
                  <a:pt x="7390" y="487638"/>
                </a:lnTo>
                <a:lnTo>
                  <a:pt x="16421" y="444590"/>
                </a:lnTo>
                <a:lnTo>
                  <a:pt x="28825" y="402746"/>
                </a:lnTo>
                <a:lnTo>
                  <a:pt x="44464" y="362234"/>
                </a:lnTo>
                <a:lnTo>
                  <a:pt x="63199" y="323183"/>
                </a:lnTo>
                <a:lnTo>
                  <a:pt x="84892" y="285721"/>
                </a:lnTo>
                <a:lnTo>
                  <a:pt x="109405" y="249977"/>
                </a:lnTo>
                <a:lnTo>
                  <a:pt x="136600" y="216079"/>
                </a:lnTo>
                <a:lnTo>
                  <a:pt x="166338" y="184155"/>
                </a:lnTo>
                <a:lnTo>
                  <a:pt x="198481" y="154333"/>
                </a:lnTo>
                <a:lnTo>
                  <a:pt x="232892" y="126743"/>
                </a:lnTo>
                <a:lnTo>
                  <a:pt x="269431" y="101511"/>
                </a:lnTo>
                <a:lnTo>
                  <a:pt x="307960" y="78768"/>
                </a:lnTo>
                <a:lnTo>
                  <a:pt x="348342" y="58640"/>
                </a:lnTo>
                <a:lnTo>
                  <a:pt x="390438" y="41257"/>
                </a:lnTo>
                <a:lnTo>
                  <a:pt x="434110" y="26747"/>
                </a:lnTo>
                <a:lnTo>
                  <a:pt x="479220" y="15237"/>
                </a:lnTo>
                <a:lnTo>
                  <a:pt x="525629" y="6857"/>
                </a:lnTo>
                <a:lnTo>
                  <a:pt x="573199" y="1735"/>
                </a:lnTo>
                <a:lnTo>
                  <a:pt x="621791" y="0"/>
                </a:lnTo>
                <a:lnTo>
                  <a:pt x="670384" y="1735"/>
                </a:lnTo>
                <a:lnTo>
                  <a:pt x="717954" y="6857"/>
                </a:lnTo>
                <a:lnTo>
                  <a:pt x="764363" y="15237"/>
                </a:lnTo>
                <a:lnTo>
                  <a:pt x="809473" y="26747"/>
                </a:lnTo>
                <a:lnTo>
                  <a:pt x="853145" y="41257"/>
                </a:lnTo>
                <a:lnTo>
                  <a:pt x="895241" y="58640"/>
                </a:lnTo>
                <a:lnTo>
                  <a:pt x="935623" y="78768"/>
                </a:lnTo>
                <a:lnTo>
                  <a:pt x="974152" y="101511"/>
                </a:lnTo>
                <a:lnTo>
                  <a:pt x="1010691" y="126743"/>
                </a:lnTo>
                <a:lnTo>
                  <a:pt x="1045102" y="154333"/>
                </a:lnTo>
                <a:lnTo>
                  <a:pt x="1077245" y="184155"/>
                </a:lnTo>
                <a:lnTo>
                  <a:pt x="1106983" y="216079"/>
                </a:lnTo>
                <a:lnTo>
                  <a:pt x="1134178" y="249977"/>
                </a:lnTo>
                <a:lnTo>
                  <a:pt x="1158691" y="285721"/>
                </a:lnTo>
                <a:lnTo>
                  <a:pt x="1180384" y="323183"/>
                </a:lnTo>
                <a:lnTo>
                  <a:pt x="1199119" y="362234"/>
                </a:lnTo>
                <a:lnTo>
                  <a:pt x="1214758" y="402746"/>
                </a:lnTo>
                <a:lnTo>
                  <a:pt x="1227162" y="444590"/>
                </a:lnTo>
                <a:lnTo>
                  <a:pt x="1236193" y="487638"/>
                </a:lnTo>
                <a:lnTo>
                  <a:pt x="1241713" y="531762"/>
                </a:lnTo>
                <a:lnTo>
                  <a:pt x="1243584" y="576833"/>
                </a:lnTo>
                <a:lnTo>
                  <a:pt x="1241713" y="621905"/>
                </a:lnTo>
                <a:lnTo>
                  <a:pt x="1236193" y="666029"/>
                </a:lnTo>
                <a:lnTo>
                  <a:pt x="1227162" y="709077"/>
                </a:lnTo>
                <a:lnTo>
                  <a:pt x="1214758" y="750921"/>
                </a:lnTo>
                <a:lnTo>
                  <a:pt x="1199119" y="791433"/>
                </a:lnTo>
                <a:lnTo>
                  <a:pt x="1180384" y="830484"/>
                </a:lnTo>
                <a:lnTo>
                  <a:pt x="1158691" y="867946"/>
                </a:lnTo>
                <a:lnTo>
                  <a:pt x="1134178" y="903690"/>
                </a:lnTo>
                <a:lnTo>
                  <a:pt x="1106983" y="937588"/>
                </a:lnTo>
                <a:lnTo>
                  <a:pt x="1077245" y="969512"/>
                </a:lnTo>
                <a:lnTo>
                  <a:pt x="1045102" y="999334"/>
                </a:lnTo>
                <a:lnTo>
                  <a:pt x="1010691" y="1026924"/>
                </a:lnTo>
                <a:lnTo>
                  <a:pt x="974152" y="1052156"/>
                </a:lnTo>
                <a:lnTo>
                  <a:pt x="935623" y="1074899"/>
                </a:lnTo>
                <a:lnTo>
                  <a:pt x="895241" y="1095027"/>
                </a:lnTo>
                <a:lnTo>
                  <a:pt x="853145" y="1112410"/>
                </a:lnTo>
                <a:lnTo>
                  <a:pt x="809473" y="1126920"/>
                </a:lnTo>
                <a:lnTo>
                  <a:pt x="764363" y="1138430"/>
                </a:lnTo>
                <a:lnTo>
                  <a:pt x="717954" y="1146810"/>
                </a:lnTo>
                <a:lnTo>
                  <a:pt x="670384" y="1151932"/>
                </a:lnTo>
                <a:lnTo>
                  <a:pt x="621791" y="1153668"/>
                </a:lnTo>
                <a:lnTo>
                  <a:pt x="573199" y="1151932"/>
                </a:lnTo>
                <a:lnTo>
                  <a:pt x="525629" y="1146810"/>
                </a:lnTo>
                <a:lnTo>
                  <a:pt x="479220" y="1138430"/>
                </a:lnTo>
                <a:lnTo>
                  <a:pt x="434110" y="1126920"/>
                </a:lnTo>
                <a:lnTo>
                  <a:pt x="390438" y="1112410"/>
                </a:lnTo>
                <a:lnTo>
                  <a:pt x="348342" y="1095027"/>
                </a:lnTo>
                <a:lnTo>
                  <a:pt x="307960" y="1074899"/>
                </a:lnTo>
                <a:lnTo>
                  <a:pt x="269431" y="1052156"/>
                </a:lnTo>
                <a:lnTo>
                  <a:pt x="232892" y="1026924"/>
                </a:lnTo>
                <a:lnTo>
                  <a:pt x="198481" y="999334"/>
                </a:lnTo>
                <a:lnTo>
                  <a:pt x="166338" y="969512"/>
                </a:lnTo>
                <a:lnTo>
                  <a:pt x="136600" y="937588"/>
                </a:lnTo>
                <a:lnTo>
                  <a:pt x="109405" y="903690"/>
                </a:lnTo>
                <a:lnTo>
                  <a:pt x="84892" y="867946"/>
                </a:lnTo>
                <a:lnTo>
                  <a:pt x="63199" y="830484"/>
                </a:lnTo>
                <a:lnTo>
                  <a:pt x="44464" y="791433"/>
                </a:lnTo>
                <a:lnTo>
                  <a:pt x="28825" y="750921"/>
                </a:lnTo>
                <a:lnTo>
                  <a:pt x="16421" y="709077"/>
                </a:lnTo>
                <a:lnTo>
                  <a:pt x="7390" y="666029"/>
                </a:lnTo>
                <a:lnTo>
                  <a:pt x="1870" y="621905"/>
                </a:lnTo>
                <a:lnTo>
                  <a:pt x="0" y="576833"/>
                </a:lnTo>
                <a:close/>
              </a:path>
            </a:pathLst>
          </a:custGeom>
          <a:ln w="28956">
            <a:solidFill>
              <a:srgbClr val="A3C2F4"/>
            </a:solidFill>
            <a:prstDash val="sysDash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bg object 33"/>
          <p:cNvSpPr/>
          <p:nvPr/>
        </p:nvSpPr>
        <p:spPr>
          <a:xfrm>
            <a:off x="1282446" y="2077974"/>
            <a:ext cx="1562100" cy="1447800"/>
          </a:xfrm>
          <a:custGeom>
            <a:avLst/>
            <a:gdLst/>
            <a:ahLst/>
            <a:cxnLst/>
            <a:rect l="l" t="t" r="r" b="b"/>
            <a:pathLst>
              <a:path w="1562100" h="1447800">
                <a:moveTo>
                  <a:pt x="0" y="723900"/>
                </a:moveTo>
                <a:lnTo>
                  <a:pt x="1536" y="678119"/>
                </a:lnTo>
                <a:lnTo>
                  <a:pt x="6084" y="633096"/>
                </a:lnTo>
                <a:lnTo>
                  <a:pt x="13553" y="588913"/>
                </a:lnTo>
                <a:lnTo>
                  <a:pt x="23850" y="545657"/>
                </a:lnTo>
                <a:lnTo>
                  <a:pt x="36885" y="503412"/>
                </a:lnTo>
                <a:lnTo>
                  <a:pt x="52566" y="462263"/>
                </a:lnTo>
                <a:lnTo>
                  <a:pt x="70802" y="422295"/>
                </a:lnTo>
                <a:lnTo>
                  <a:pt x="91501" y="383592"/>
                </a:lnTo>
                <a:lnTo>
                  <a:pt x="114571" y="346239"/>
                </a:lnTo>
                <a:lnTo>
                  <a:pt x="139922" y="310321"/>
                </a:lnTo>
                <a:lnTo>
                  <a:pt x="167462" y="275923"/>
                </a:lnTo>
                <a:lnTo>
                  <a:pt x="197099" y="243130"/>
                </a:lnTo>
                <a:lnTo>
                  <a:pt x="228742" y="212026"/>
                </a:lnTo>
                <a:lnTo>
                  <a:pt x="262300" y="182696"/>
                </a:lnTo>
                <a:lnTo>
                  <a:pt x="297681" y="155226"/>
                </a:lnTo>
                <a:lnTo>
                  <a:pt x="334794" y="129699"/>
                </a:lnTo>
                <a:lnTo>
                  <a:pt x="373547" y="106201"/>
                </a:lnTo>
                <a:lnTo>
                  <a:pt x="413849" y="84816"/>
                </a:lnTo>
                <a:lnTo>
                  <a:pt x="455608" y="65630"/>
                </a:lnTo>
                <a:lnTo>
                  <a:pt x="498733" y="48727"/>
                </a:lnTo>
                <a:lnTo>
                  <a:pt x="543133" y="34191"/>
                </a:lnTo>
                <a:lnTo>
                  <a:pt x="588716" y="22108"/>
                </a:lnTo>
                <a:lnTo>
                  <a:pt x="635390" y="12563"/>
                </a:lnTo>
                <a:lnTo>
                  <a:pt x="683065" y="5640"/>
                </a:lnTo>
                <a:lnTo>
                  <a:pt x="731649" y="1424"/>
                </a:lnTo>
                <a:lnTo>
                  <a:pt x="781049" y="0"/>
                </a:lnTo>
                <a:lnTo>
                  <a:pt x="830450" y="1424"/>
                </a:lnTo>
                <a:lnTo>
                  <a:pt x="879034" y="5640"/>
                </a:lnTo>
                <a:lnTo>
                  <a:pt x="926709" y="12563"/>
                </a:lnTo>
                <a:lnTo>
                  <a:pt x="973383" y="22108"/>
                </a:lnTo>
                <a:lnTo>
                  <a:pt x="1018966" y="34191"/>
                </a:lnTo>
                <a:lnTo>
                  <a:pt x="1063366" y="48727"/>
                </a:lnTo>
                <a:lnTo>
                  <a:pt x="1106491" y="65630"/>
                </a:lnTo>
                <a:lnTo>
                  <a:pt x="1148250" y="84816"/>
                </a:lnTo>
                <a:lnTo>
                  <a:pt x="1188552" y="106201"/>
                </a:lnTo>
                <a:lnTo>
                  <a:pt x="1227305" y="129699"/>
                </a:lnTo>
                <a:lnTo>
                  <a:pt x="1264418" y="155226"/>
                </a:lnTo>
                <a:lnTo>
                  <a:pt x="1299799" y="182696"/>
                </a:lnTo>
                <a:lnTo>
                  <a:pt x="1333357" y="212026"/>
                </a:lnTo>
                <a:lnTo>
                  <a:pt x="1365000" y="243130"/>
                </a:lnTo>
                <a:lnTo>
                  <a:pt x="1394637" y="275923"/>
                </a:lnTo>
                <a:lnTo>
                  <a:pt x="1422177" y="310321"/>
                </a:lnTo>
                <a:lnTo>
                  <a:pt x="1447528" y="346239"/>
                </a:lnTo>
                <a:lnTo>
                  <a:pt x="1470598" y="383592"/>
                </a:lnTo>
                <a:lnTo>
                  <a:pt x="1491297" y="422295"/>
                </a:lnTo>
                <a:lnTo>
                  <a:pt x="1509533" y="462263"/>
                </a:lnTo>
                <a:lnTo>
                  <a:pt x="1525214" y="503412"/>
                </a:lnTo>
                <a:lnTo>
                  <a:pt x="1538249" y="545657"/>
                </a:lnTo>
                <a:lnTo>
                  <a:pt x="1548546" y="588913"/>
                </a:lnTo>
                <a:lnTo>
                  <a:pt x="1556015" y="633096"/>
                </a:lnTo>
                <a:lnTo>
                  <a:pt x="1560563" y="678119"/>
                </a:lnTo>
                <a:lnTo>
                  <a:pt x="1562099" y="723900"/>
                </a:lnTo>
                <a:lnTo>
                  <a:pt x="1560563" y="769680"/>
                </a:lnTo>
                <a:lnTo>
                  <a:pt x="1556015" y="814703"/>
                </a:lnTo>
                <a:lnTo>
                  <a:pt x="1548546" y="858886"/>
                </a:lnTo>
                <a:lnTo>
                  <a:pt x="1538249" y="902142"/>
                </a:lnTo>
                <a:lnTo>
                  <a:pt x="1525214" y="944387"/>
                </a:lnTo>
                <a:lnTo>
                  <a:pt x="1509533" y="985536"/>
                </a:lnTo>
                <a:lnTo>
                  <a:pt x="1491297" y="1025504"/>
                </a:lnTo>
                <a:lnTo>
                  <a:pt x="1470598" y="1064207"/>
                </a:lnTo>
                <a:lnTo>
                  <a:pt x="1447528" y="1101560"/>
                </a:lnTo>
                <a:lnTo>
                  <a:pt x="1422177" y="1137478"/>
                </a:lnTo>
                <a:lnTo>
                  <a:pt x="1394637" y="1171876"/>
                </a:lnTo>
                <a:lnTo>
                  <a:pt x="1365000" y="1204669"/>
                </a:lnTo>
                <a:lnTo>
                  <a:pt x="1333357" y="1235773"/>
                </a:lnTo>
                <a:lnTo>
                  <a:pt x="1299799" y="1265103"/>
                </a:lnTo>
                <a:lnTo>
                  <a:pt x="1264418" y="1292573"/>
                </a:lnTo>
                <a:lnTo>
                  <a:pt x="1227305" y="1318100"/>
                </a:lnTo>
                <a:lnTo>
                  <a:pt x="1188552" y="1341598"/>
                </a:lnTo>
                <a:lnTo>
                  <a:pt x="1148250" y="1362983"/>
                </a:lnTo>
                <a:lnTo>
                  <a:pt x="1106491" y="1382169"/>
                </a:lnTo>
                <a:lnTo>
                  <a:pt x="1063366" y="1399072"/>
                </a:lnTo>
                <a:lnTo>
                  <a:pt x="1018966" y="1413608"/>
                </a:lnTo>
                <a:lnTo>
                  <a:pt x="973383" y="1425691"/>
                </a:lnTo>
                <a:lnTo>
                  <a:pt x="926709" y="1435236"/>
                </a:lnTo>
                <a:lnTo>
                  <a:pt x="879034" y="1442159"/>
                </a:lnTo>
                <a:lnTo>
                  <a:pt x="830450" y="1446375"/>
                </a:lnTo>
                <a:lnTo>
                  <a:pt x="781049" y="1447800"/>
                </a:lnTo>
                <a:lnTo>
                  <a:pt x="731649" y="1446375"/>
                </a:lnTo>
                <a:lnTo>
                  <a:pt x="683065" y="1442159"/>
                </a:lnTo>
                <a:lnTo>
                  <a:pt x="635390" y="1435236"/>
                </a:lnTo>
                <a:lnTo>
                  <a:pt x="588716" y="1425691"/>
                </a:lnTo>
                <a:lnTo>
                  <a:pt x="543133" y="1413608"/>
                </a:lnTo>
                <a:lnTo>
                  <a:pt x="498733" y="1399072"/>
                </a:lnTo>
                <a:lnTo>
                  <a:pt x="455608" y="1382169"/>
                </a:lnTo>
                <a:lnTo>
                  <a:pt x="413849" y="1362983"/>
                </a:lnTo>
                <a:lnTo>
                  <a:pt x="373547" y="1341598"/>
                </a:lnTo>
                <a:lnTo>
                  <a:pt x="334794" y="1318100"/>
                </a:lnTo>
                <a:lnTo>
                  <a:pt x="297681" y="1292573"/>
                </a:lnTo>
                <a:lnTo>
                  <a:pt x="262300" y="1265103"/>
                </a:lnTo>
                <a:lnTo>
                  <a:pt x="228742" y="1235773"/>
                </a:lnTo>
                <a:lnTo>
                  <a:pt x="197099" y="1204669"/>
                </a:lnTo>
                <a:lnTo>
                  <a:pt x="167462" y="1171876"/>
                </a:lnTo>
                <a:lnTo>
                  <a:pt x="139922" y="1137478"/>
                </a:lnTo>
                <a:lnTo>
                  <a:pt x="114571" y="1101560"/>
                </a:lnTo>
                <a:lnTo>
                  <a:pt x="91501" y="1064207"/>
                </a:lnTo>
                <a:lnTo>
                  <a:pt x="70802" y="1025504"/>
                </a:lnTo>
                <a:lnTo>
                  <a:pt x="52566" y="985536"/>
                </a:lnTo>
                <a:lnTo>
                  <a:pt x="36885" y="944387"/>
                </a:lnTo>
                <a:lnTo>
                  <a:pt x="23850" y="902142"/>
                </a:lnTo>
                <a:lnTo>
                  <a:pt x="13553" y="858886"/>
                </a:lnTo>
                <a:lnTo>
                  <a:pt x="6084" y="814703"/>
                </a:lnTo>
                <a:lnTo>
                  <a:pt x="1536" y="769680"/>
                </a:lnTo>
                <a:lnTo>
                  <a:pt x="0" y="723900"/>
                </a:lnTo>
                <a:close/>
              </a:path>
            </a:pathLst>
          </a:custGeom>
          <a:ln w="2895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bg1"/>
                </a:solidFill>
                <a:latin typeface="Roboto Bk"/>
                <a:cs typeface="Roboto Bk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8154923" y="3902964"/>
            <a:ext cx="989330" cy="989330"/>
          </a:xfrm>
          <a:custGeom>
            <a:avLst/>
            <a:gdLst/>
            <a:ahLst/>
            <a:cxnLst/>
            <a:rect l="l" t="t" r="r" b="b"/>
            <a:pathLst>
              <a:path w="989329" h="989329">
                <a:moveTo>
                  <a:pt x="0" y="0"/>
                </a:moveTo>
                <a:lnTo>
                  <a:pt x="0" y="989076"/>
                </a:lnTo>
                <a:lnTo>
                  <a:pt x="989076" y="989076"/>
                </a:lnTo>
                <a:lnTo>
                  <a:pt x="0" y="0"/>
                </a:lnTo>
                <a:close/>
              </a:path>
            </a:pathLst>
          </a:custGeom>
          <a:solidFill>
            <a:srgbClr val="EF619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6181344" y="3902964"/>
            <a:ext cx="989330" cy="989330"/>
          </a:xfrm>
          <a:custGeom>
            <a:avLst/>
            <a:gdLst/>
            <a:ahLst/>
            <a:cxnLst/>
            <a:rect l="l" t="t" r="r" b="b"/>
            <a:pathLst>
              <a:path w="989329" h="989329">
                <a:moveTo>
                  <a:pt x="989076" y="0"/>
                </a:moveTo>
                <a:lnTo>
                  <a:pt x="0" y="989076"/>
                </a:lnTo>
                <a:lnTo>
                  <a:pt x="989076" y="989076"/>
                </a:lnTo>
                <a:lnTo>
                  <a:pt x="989076" y="0"/>
                </a:lnTo>
                <a:close/>
              </a:path>
            </a:pathLst>
          </a:custGeom>
          <a:solidFill>
            <a:srgbClr val="EF619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7170419" y="3902964"/>
            <a:ext cx="989330" cy="989330"/>
          </a:xfrm>
          <a:custGeom>
            <a:avLst/>
            <a:gdLst/>
            <a:ahLst/>
            <a:cxnLst/>
            <a:rect l="l" t="t" r="r" b="b"/>
            <a:pathLst>
              <a:path w="989329" h="989329">
                <a:moveTo>
                  <a:pt x="989076" y="0"/>
                </a:moveTo>
                <a:lnTo>
                  <a:pt x="0" y="0"/>
                </a:lnTo>
                <a:lnTo>
                  <a:pt x="0" y="989076"/>
                </a:lnTo>
                <a:lnTo>
                  <a:pt x="989076" y="989076"/>
                </a:lnTo>
                <a:lnTo>
                  <a:pt x="989076" y="0"/>
                </a:lnTo>
                <a:close/>
              </a:path>
            </a:pathLst>
          </a:custGeom>
          <a:solidFill>
            <a:srgbClr val="D2336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8154923" y="3902964"/>
            <a:ext cx="989330" cy="989330"/>
          </a:xfrm>
          <a:custGeom>
            <a:avLst/>
            <a:gdLst/>
            <a:ahLst/>
            <a:cxnLst/>
            <a:rect l="l" t="t" r="r" b="b"/>
            <a:pathLst>
              <a:path w="989329" h="989329">
                <a:moveTo>
                  <a:pt x="989076" y="0"/>
                </a:moveTo>
                <a:lnTo>
                  <a:pt x="0" y="0"/>
                </a:lnTo>
                <a:lnTo>
                  <a:pt x="989076" y="989076"/>
                </a:lnTo>
                <a:lnTo>
                  <a:pt x="989076" y="0"/>
                </a:lnTo>
                <a:close/>
              </a:path>
            </a:pathLst>
          </a:custGeom>
          <a:solidFill>
            <a:srgbClr val="9C24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0" y="4892039"/>
            <a:ext cx="9144000" cy="251460"/>
          </a:xfrm>
          <a:custGeom>
            <a:avLst/>
            <a:gdLst/>
            <a:ahLst/>
            <a:cxnLst/>
            <a:rect l="l" t="t" r="r" b="b"/>
            <a:pathLst>
              <a:path w="9144000" h="251460">
                <a:moveTo>
                  <a:pt x="9144000" y="0"/>
                </a:moveTo>
                <a:lnTo>
                  <a:pt x="0" y="0"/>
                </a:lnTo>
                <a:lnTo>
                  <a:pt x="0" y="251459"/>
                </a:lnTo>
                <a:lnTo>
                  <a:pt x="9144000" y="251459"/>
                </a:lnTo>
                <a:lnTo>
                  <a:pt x="9144000" y="0"/>
                </a:lnTo>
                <a:close/>
              </a:path>
            </a:pathLst>
          </a:custGeom>
          <a:solidFill>
            <a:srgbClr val="2A399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18617" y="470661"/>
            <a:ext cx="7615732" cy="6697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1" i="0">
                <a:solidFill>
                  <a:srgbClr val="2A3990"/>
                </a:solidFill>
                <a:latin typeface="Roboto Bk"/>
                <a:cs typeface="Roboto B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653534" y="1274571"/>
            <a:ext cx="4032250" cy="23253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rgbClr val="434343"/>
                </a:solidFill>
                <a:latin typeface="Roboto Bk"/>
                <a:cs typeface="Roboto Bk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63127" y="4763513"/>
            <a:ext cx="207009" cy="1739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1" i="0">
                <a:solidFill>
                  <a:schemeClr val="bg1"/>
                </a:solidFill>
                <a:latin typeface="Roboto Bk"/>
                <a:cs typeface="Roboto Bk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6.png"/><Relationship Id="rId7" Type="http://schemas.openxmlformats.org/officeDocument/2006/relationships/image" Target="../media/image29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11" Type="http://schemas.openxmlformats.org/officeDocument/2006/relationships/hyperlink" Target="http://www.facebook.com/livaresofficial" TargetMode="External"/><Relationship Id="rId5" Type="http://schemas.openxmlformats.org/officeDocument/2006/relationships/hyperlink" Target="http://www.livares.com/" TargetMode="External"/><Relationship Id="rId10" Type="http://schemas.openxmlformats.org/officeDocument/2006/relationships/hyperlink" Target="mailto:contact@livares.com" TargetMode="External"/><Relationship Id="rId4" Type="http://schemas.openxmlformats.org/officeDocument/2006/relationships/image" Target="../media/image27.png"/><Relationship Id="rId9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624" y="0"/>
            <a:ext cx="3922776" cy="514350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08533" y="2030348"/>
            <a:ext cx="2592070" cy="6985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0" spc="-10" dirty="0">
                <a:solidFill>
                  <a:srgbClr val="FFFFFF"/>
                </a:solidFill>
                <a:latin typeface="Arial Black"/>
                <a:cs typeface="Arial Black"/>
              </a:rPr>
              <a:t>Unsupervised</a:t>
            </a:r>
            <a:endParaRPr sz="22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2200" b="0" spc="-60" dirty="0">
                <a:solidFill>
                  <a:srgbClr val="FFFFFF"/>
                </a:solidFill>
                <a:latin typeface="Arial Black"/>
                <a:cs typeface="Arial Black"/>
              </a:rPr>
              <a:t>Machine</a:t>
            </a:r>
            <a:r>
              <a:rPr sz="2200" b="0" spc="-21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b="0" spc="-65" dirty="0">
                <a:solidFill>
                  <a:srgbClr val="FFFFFF"/>
                </a:solidFill>
                <a:latin typeface="Arial Black"/>
                <a:cs typeface="Arial Black"/>
              </a:rPr>
              <a:t>Learning</a:t>
            </a:r>
            <a:endParaRPr sz="22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4455">
              <a:lnSpc>
                <a:spcPct val="100000"/>
              </a:lnSpc>
              <a:spcBef>
                <a:spcPts val="100"/>
              </a:spcBef>
            </a:pPr>
            <a:r>
              <a:rPr dirty="0"/>
              <a:t>What</a:t>
            </a:r>
            <a:r>
              <a:rPr spc="-125" dirty="0"/>
              <a:t> </a:t>
            </a:r>
            <a:r>
              <a:rPr dirty="0"/>
              <a:t>is</a:t>
            </a:r>
            <a:r>
              <a:rPr spc="-120" dirty="0"/>
              <a:t> </a:t>
            </a:r>
            <a:r>
              <a:rPr dirty="0"/>
              <a:t>Machine</a:t>
            </a:r>
            <a:r>
              <a:rPr spc="-125" dirty="0"/>
              <a:t> </a:t>
            </a:r>
            <a:r>
              <a:rPr spc="-25" dirty="0"/>
              <a:t>Learning?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25" dirty="0"/>
              <a:t>2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56666" y="2718562"/>
            <a:ext cx="5768975" cy="16040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11555" indent="-316865">
              <a:lnSpc>
                <a:spcPct val="100000"/>
              </a:lnSpc>
              <a:spcBef>
                <a:spcPts val="100"/>
              </a:spcBef>
              <a:buFont typeface="Segoe UI Symbol"/>
              <a:buChar char="➔"/>
              <a:tabLst>
                <a:tab pos="1011555" algn="l"/>
              </a:tabLst>
            </a:pPr>
            <a:r>
              <a:rPr sz="1400" b="1" spc="-25" dirty="0">
                <a:latin typeface="Roboto Bk"/>
                <a:cs typeface="Roboto Bk"/>
              </a:rPr>
              <a:t>Subfield </a:t>
            </a:r>
            <a:r>
              <a:rPr sz="1400" b="1" dirty="0">
                <a:latin typeface="Roboto Bk"/>
                <a:cs typeface="Roboto Bk"/>
              </a:rPr>
              <a:t>of</a:t>
            </a:r>
            <a:r>
              <a:rPr sz="1400" b="1" spc="10" dirty="0">
                <a:latin typeface="Roboto Bk"/>
                <a:cs typeface="Roboto Bk"/>
              </a:rPr>
              <a:t> </a:t>
            </a:r>
            <a:r>
              <a:rPr sz="1400" b="1" spc="-25" dirty="0">
                <a:latin typeface="Roboto Bk"/>
                <a:cs typeface="Roboto Bk"/>
              </a:rPr>
              <a:t>AI.</a:t>
            </a:r>
            <a:endParaRPr sz="1400">
              <a:latin typeface="Roboto Bk"/>
              <a:cs typeface="Roboto Bk"/>
            </a:endParaRPr>
          </a:p>
          <a:p>
            <a:pPr marL="1011555" indent="-316865">
              <a:lnSpc>
                <a:spcPct val="100000"/>
              </a:lnSpc>
              <a:buFont typeface="Segoe UI Symbol"/>
              <a:buChar char="➔"/>
              <a:tabLst>
                <a:tab pos="1011555" algn="l"/>
              </a:tabLst>
            </a:pPr>
            <a:r>
              <a:rPr sz="1400" b="1" spc="-20" dirty="0">
                <a:latin typeface="Roboto Bk"/>
                <a:cs typeface="Roboto Bk"/>
              </a:rPr>
              <a:t>Involves</a:t>
            </a:r>
            <a:r>
              <a:rPr sz="1400" b="1" spc="-70" dirty="0">
                <a:latin typeface="Roboto Bk"/>
                <a:cs typeface="Roboto Bk"/>
              </a:rPr>
              <a:t> </a:t>
            </a:r>
            <a:r>
              <a:rPr sz="1400" b="1" dirty="0">
                <a:latin typeface="Roboto Bk"/>
                <a:cs typeface="Roboto Bk"/>
              </a:rPr>
              <a:t>the</a:t>
            </a:r>
            <a:r>
              <a:rPr sz="1400" b="1" spc="-25" dirty="0">
                <a:latin typeface="Roboto Bk"/>
                <a:cs typeface="Roboto Bk"/>
              </a:rPr>
              <a:t> </a:t>
            </a:r>
            <a:r>
              <a:rPr sz="1400" b="1" dirty="0">
                <a:latin typeface="Roboto Bk"/>
                <a:cs typeface="Roboto Bk"/>
              </a:rPr>
              <a:t>creation</a:t>
            </a:r>
            <a:r>
              <a:rPr sz="1400" b="1" spc="-40" dirty="0">
                <a:latin typeface="Roboto Bk"/>
                <a:cs typeface="Roboto Bk"/>
              </a:rPr>
              <a:t> </a:t>
            </a:r>
            <a:r>
              <a:rPr sz="1400" b="1" dirty="0">
                <a:latin typeface="Roboto Bk"/>
                <a:cs typeface="Roboto Bk"/>
              </a:rPr>
              <a:t>of</a:t>
            </a:r>
            <a:r>
              <a:rPr sz="1400" b="1" spc="-30" dirty="0">
                <a:latin typeface="Roboto Bk"/>
                <a:cs typeface="Roboto Bk"/>
              </a:rPr>
              <a:t> </a:t>
            </a:r>
            <a:r>
              <a:rPr sz="1400" b="1" spc="-10" dirty="0">
                <a:latin typeface="Roboto Bk"/>
                <a:cs typeface="Roboto Bk"/>
              </a:rPr>
              <a:t>Algorithms</a:t>
            </a:r>
            <a:r>
              <a:rPr sz="1400" b="1" spc="-50" dirty="0">
                <a:latin typeface="Roboto Bk"/>
                <a:cs typeface="Roboto Bk"/>
              </a:rPr>
              <a:t> </a:t>
            </a:r>
            <a:r>
              <a:rPr sz="1400" b="1" dirty="0">
                <a:latin typeface="Roboto Bk"/>
                <a:cs typeface="Roboto Bk"/>
              </a:rPr>
              <a:t>and</a:t>
            </a:r>
            <a:r>
              <a:rPr sz="1400" b="1" spc="-40" dirty="0">
                <a:latin typeface="Roboto Bk"/>
                <a:cs typeface="Roboto Bk"/>
              </a:rPr>
              <a:t> </a:t>
            </a:r>
            <a:r>
              <a:rPr sz="1400" b="1" spc="-10" dirty="0">
                <a:latin typeface="Roboto Bk"/>
                <a:cs typeface="Roboto Bk"/>
              </a:rPr>
              <a:t>Models.</a:t>
            </a:r>
            <a:endParaRPr sz="1400">
              <a:latin typeface="Roboto Bk"/>
              <a:cs typeface="Roboto Bk"/>
            </a:endParaRPr>
          </a:p>
          <a:p>
            <a:pPr marL="1011555" indent="-316865">
              <a:lnSpc>
                <a:spcPct val="100000"/>
              </a:lnSpc>
              <a:buFont typeface="Segoe UI Symbol"/>
              <a:buChar char="➔"/>
              <a:tabLst>
                <a:tab pos="1011555" algn="l"/>
              </a:tabLst>
            </a:pPr>
            <a:r>
              <a:rPr sz="1400" b="1" dirty="0">
                <a:latin typeface="Roboto Bk"/>
                <a:cs typeface="Roboto Bk"/>
              </a:rPr>
              <a:t>Enables</a:t>
            </a:r>
            <a:r>
              <a:rPr sz="1400" b="1" spc="-60" dirty="0">
                <a:latin typeface="Roboto Bk"/>
                <a:cs typeface="Roboto Bk"/>
              </a:rPr>
              <a:t> </a:t>
            </a:r>
            <a:r>
              <a:rPr sz="1400" b="1" dirty="0">
                <a:latin typeface="Roboto Bk"/>
                <a:cs typeface="Roboto Bk"/>
              </a:rPr>
              <a:t>computer</a:t>
            </a:r>
            <a:r>
              <a:rPr sz="1400" b="1" spc="-60" dirty="0">
                <a:latin typeface="Roboto Bk"/>
                <a:cs typeface="Roboto Bk"/>
              </a:rPr>
              <a:t> </a:t>
            </a:r>
            <a:r>
              <a:rPr sz="1400" b="1" dirty="0">
                <a:latin typeface="Roboto Bk"/>
                <a:cs typeface="Roboto Bk"/>
              </a:rPr>
              <a:t>to</a:t>
            </a:r>
            <a:r>
              <a:rPr sz="1400" b="1" spc="-40" dirty="0">
                <a:latin typeface="Roboto Bk"/>
                <a:cs typeface="Roboto Bk"/>
              </a:rPr>
              <a:t> </a:t>
            </a:r>
            <a:r>
              <a:rPr sz="1400" b="1" dirty="0">
                <a:latin typeface="Roboto Bk"/>
                <a:cs typeface="Roboto Bk"/>
              </a:rPr>
              <a:t>perform</a:t>
            </a:r>
            <a:r>
              <a:rPr sz="1400" b="1" spc="-70" dirty="0">
                <a:latin typeface="Roboto Bk"/>
                <a:cs typeface="Roboto Bk"/>
              </a:rPr>
              <a:t> </a:t>
            </a:r>
            <a:r>
              <a:rPr sz="1400" b="1" dirty="0">
                <a:latin typeface="Roboto Bk"/>
                <a:cs typeface="Roboto Bk"/>
              </a:rPr>
              <a:t>specific</a:t>
            </a:r>
            <a:r>
              <a:rPr sz="1400" b="1" spc="-45" dirty="0">
                <a:latin typeface="Roboto Bk"/>
                <a:cs typeface="Roboto Bk"/>
              </a:rPr>
              <a:t> </a:t>
            </a:r>
            <a:r>
              <a:rPr sz="1400" b="1" spc="-10" dirty="0">
                <a:latin typeface="Roboto Bk"/>
                <a:cs typeface="Roboto Bk"/>
              </a:rPr>
              <a:t>tasks/predictions</a:t>
            </a:r>
            <a:endParaRPr sz="1400">
              <a:latin typeface="Roboto Bk"/>
              <a:cs typeface="Roboto Bk"/>
            </a:endParaRPr>
          </a:p>
          <a:p>
            <a:pPr>
              <a:lnSpc>
                <a:spcPct val="100000"/>
              </a:lnSpc>
            </a:pPr>
            <a:endParaRPr sz="1400">
              <a:latin typeface="Roboto Bk"/>
              <a:cs typeface="Roboto Bk"/>
            </a:endParaRPr>
          </a:p>
          <a:p>
            <a:pPr>
              <a:lnSpc>
                <a:spcPct val="100000"/>
              </a:lnSpc>
              <a:spcBef>
                <a:spcPts val="660"/>
              </a:spcBef>
            </a:pPr>
            <a:endParaRPr sz="1400">
              <a:latin typeface="Roboto Bk"/>
              <a:cs typeface="Roboto Bk"/>
            </a:endParaRPr>
          </a:p>
          <a:p>
            <a:pPr marL="12700">
              <a:lnSpc>
                <a:spcPct val="100000"/>
              </a:lnSpc>
            </a:pPr>
            <a:r>
              <a:rPr sz="1400" b="1" i="1" spc="-20" dirty="0">
                <a:latin typeface="Roboto Bk"/>
                <a:cs typeface="Roboto Bk"/>
              </a:rPr>
              <a:t>Key</a:t>
            </a:r>
            <a:r>
              <a:rPr sz="1400" b="1" i="1" spc="-55" dirty="0">
                <a:latin typeface="Roboto Bk"/>
                <a:cs typeface="Roboto Bk"/>
              </a:rPr>
              <a:t> </a:t>
            </a:r>
            <a:r>
              <a:rPr sz="1400" b="1" i="1" spc="-25" dirty="0">
                <a:latin typeface="Roboto Bk"/>
                <a:cs typeface="Roboto Bk"/>
              </a:rPr>
              <a:t>feature</a:t>
            </a:r>
            <a:r>
              <a:rPr sz="1400" b="1" i="1" spc="-60" dirty="0">
                <a:latin typeface="Roboto Bk"/>
                <a:cs typeface="Roboto Bk"/>
              </a:rPr>
              <a:t> </a:t>
            </a:r>
            <a:r>
              <a:rPr sz="1400" b="1" i="1" dirty="0">
                <a:latin typeface="Roboto Bk"/>
                <a:cs typeface="Roboto Bk"/>
              </a:rPr>
              <a:t>of</a:t>
            </a:r>
            <a:r>
              <a:rPr sz="1400" b="1" i="1" spc="-35" dirty="0">
                <a:latin typeface="Roboto Bk"/>
                <a:cs typeface="Roboto Bk"/>
              </a:rPr>
              <a:t> </a:t>
            </a:r>
            <a:r>
              <a:rPr sz="1400" b="1" i="1" spc="-20" dirty="0">
                <a:latin typeface="Roboto Bk"/>
                <a:cs typeface="Roboto Bk"/>
              </a:rPr>
              <a:t>ML</a:t>
            </a:r>
            <a:r>
              <a:rPr sz="1400" b="1" i="1" spc="-45" dirty="0">
                <a:latin typeface="Roboto Bk"/>
                <a:cs typeface="Roboto Bk"/>
              </a:rPr>
              <a:t> </a:t>
            </a:r>
            <a:r>
              <a:rPr sz="1400" b="1" i="1" dirty="0">
                <a:latin typeface="Roboto Bk"/>
                <a:cs typeface="Roboto Bk"/>
              </a:rPr>
              <a:t>is</a:t>
            </a:r>
            <a:r>
              <a:rPr sz="1400" b="1" i="1" spc="-25" dirty="0">
                <a:latin typeface="Roboto Bk"/>
                <a:cs typeface="Roboto Bk"/>
              </a:rPr>
              <a:t> </a:t>
            </a:r>
            <a:r>
              <a:rPr sz="1400" b="1" i="1" spc="-60" dirty="0">
                <a:latin typeface="Roboto Bk"/>
                <a:cs typeface="Roboto Bk"/>
              </a:rPr>
              <a:t>it’s</a:t>
            </a:r>
            <a:r>
              <a:rPr sz="1400" b="1" i="1" spc="-30" dirty="0">
                <a:latin typeface="Roboto Bk"/>
                <a:cs typeface="Roboto Bk"/>
              </a:rPr>
              <a:t> </a:t>
            </a:r>
            <a:r>
              <a:rPr sz="1400" b="1" i="1" spc="-40" dirty="0">
                <a:latin typeface="Roboto Bk"/>
                <a:cs typeface="Roboto Bk"/>
              </a:rPr>
              <a:t>ability</a:t>
            </a:r>
            <a:r>
              <a:rPr sz="1400" b="1" i="1" spc="-30" dirty="0">
                <a:latin typeface="Roboto Bk"/>
                <a:cs typeface="Roboto Bk"/>
              </a:rPr>
              <a:t> </a:t>
            </a:r>
            <a:r>
              <a:rPr sz="1400" b="1" i="1" dirty="0">
                <a:latin typeface="Roboto Bk"/>
                <a:cs typeface="Roboto Bk"/>
              </a:rPr>
              <a:t>to</a:t>
            </a:r>
            <a:r>
              <a:rPr sz="1400" b="1" i="1" spc="-40" dirty="0">
                <a:latin typeface="Roboto Bk"/>
                <a:cs typeface="Roboto Bk"/>
              </a:rPr>
              <a:t> </a:t>
            </a:r>
            <a:r>
              <a:rPr sz="1400" b="1" i="1" spc="-35" dirty="0">
                <a:latin typeface="Roboto Bk"/>
                <a:cs typeface="Roboto Bk"/>
              </a:rPr>
              <a:t>automatically </a:t>
            </a:r>
            <a:r>
              <a:rPr sz="1400" b="1" i="1" spc="-20" dirty="0">
                <a:latin typeface="Roboto Bk"/>
                <a:cs typeface="Roboto Bk"/>
              </a:rPr>
              <a:t>learn</a:t>
            </a:r>
            <a:r>
              <a:rPr sz="1400" b="1" i="1" spc="-55" dirty="0">
                <a:latin typeface="Roboto Bk"/>
                <a:cs typeface="Roboto Bk"/>
              </a:rPr>
              <a:t> </a:t>
            </a:r>
            <a:r>
              <a:rPr sz="1400" b="1" i="1" dirty="0">
                <a:latin typeface="Roboto Bk"/>
                <a:cs typeface="Roboto Bk"/>
              </a:rPr>
              <a:t>and</a:t>
            </a:r>
            <a:r>
              <a:rPr sz="1400" b="1" i="1" spc="-35" dirty="0">
                <a:latin typeface="Roboto Bk"/>
                <a:cs typeface="Roboto Bk"/>
              </a:rPr>
              <a:t> </a:t>
            </a:r>
            <a:r>
              <a:rPr sz="1400" b="1" i="1" spc="-30" dirty="0">
                <a:latin typeface="Roboto Bk"/>
                <a:cs typeface="Roboto Bk"/>
              </a:rPr>
              <a:t>improve</a:t>
            </a:r>
            <a:r>
              <a:rPr sz="1400" b="1" i="1" spc="-40" dirty="0">
                <a:latin typeface="Roboto Bk"/>
                <a:cs typeface="Roboto Bk"/>
              </a:rPr>
              <a:t> </a:t>
            </a:r>
            <a:r>
              <a:rPr sz="1400" b="1" i="1" spc="-10" dirty="0">
                <a:latin typeface="Roboto Bk"/>
                <a:cs typeface="Roboto Bk"/>
              </a:rPr>
              <a:t>from</a:t>
            </a:r>
            <a:r>
              <a:rPr sz="1400" b="1" i="1" spc="-40" dirty="0">
                <a:latin typeface="Roboto Bk"/>
                <a:cs typeface="Roboto Bk"/>
              </a:rPr>
              <a:t> </a:t>
            </a:r>
            <a:r>
              <a:rPr sz="1400" b="1" i="1" spc="-25" dirty="0">
                <a:latin typeface="Roboto Bk"/>
                <a:cs typeface="Roboto Bk"/>
              </a:rPr>
              <a:t>the</a:t>
            </a:r>
            <a:endParaRPr sz="1400">
              <a:latin typeface="Roboto Bk"/>
              <a:cs typeface="Roboto Bk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400" b="1" i="1" spc="-10" dirty="0">
                <a:latin typeface="Roboto Bk"/>
                <a:cs typeface="Roboto Bk"/>
              </a:rPr>
              <a:t>experience.</a:t>
            </a:r>
            <a:endParaRPr sz="1400">
              <a:latin typeface="Roboto Bk"/>
              <a:cs typeface="Roboto Bk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90550" y="1612138"/>
            <a:ext cx="7839709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latin typeface="Roboto Bk"/>
                <a:cs typeface="Roboto Bk"/>
              </a:rPr>
              <a:t>ML</a:t>
            </a:r>
            <a:r>
              <a:rPr sz="1400" b="1" spc="-35" dirty="0">
                <a:latin typeface="Roboto Bk"/>
                <a:cs typeface="Roboto Bk"/>
              </a:rPr>
              <a:t> </a:t>
            </a:r>
            <a:r>
              <a:rPr sz="1400" b="1" dirty="0">
                <a:latin typeface="Roboto Bk"/>
                <a:cs typeface="Roboto Bk"/>
              </a:rPr>
              <a:t>is</a:t>
            </a:r>
            <a:r>
              <a:rPr sz="1400" b="1" spc="-35" dirty="0">
                <a:latin typeface="Roboto Bk"/>
                <a:cs typeface="Roboto Bk"/>
              </a:rPr>
              <a:t> </a:t>
            </a:r>
            <a:r>
              <a:rPr sz="1400" b="1" dirty="0">
                <a:latin typeface="Roboto Bk"/>
                <a:cs typeface="Roboto Bk"/>
              </a:rPr>
              <a:t>a</a:t>
            </a:r>
            <a:r>
              <a:rPr sz="1400" b="1" spc="-35" dirty="0">
                <a:latin typeface="Roboto Bk"/>
                <a:cs typeface="Roboto Bk"/>
              </a:rPr>
              <a:t> </a:t>
            </a:r>
            <a:r>
              <a:rPr sz="1400" b="1" spc="-20" dirty="0">
                <a:latin typeface="Roboto Bk"/>
                <a:cs typeface="Roboto Bk"/>
              </a:rPr>
              <a:t>subfield</a:t>
            </a:r>
            <a:r>
              <a:rPr sz="1400" b="1" spc="-40" dirty="0">
                <a:latin typeface="Roboto Bk"/>
                <a:cs typeface="Roboto Bk"/>
              </a:rPr>
              <a:t> </a:t>
            </a:r>
            <a:r>
              <a:rPr sz="1400" b="1" dirty="0">
                <a:latin typeface="Roboto Bk"/>
                <a:cs typeface="Roboto Bk"/>
              </a:rPr>
              <a:t>of</a:t>
            </a:r>
            <a:r>
              <a:rPr sz="1400" b="1" spc="-40" dirty="0">
                <a:latin typeface="Roboto Bk"/>
                <a:cs typeface="Roboto Bk"/>
              </a:rPr>
              <a:t> </a:t>
            </a:r>
            <a:r>
              <a:rPr sz="1400" b="1" dirty="0">
                <a:latin typeface="Roboto Bk"/>
                <a:cs typeface="Roboto Bk"/>
              </a:rPr>
              <a:t>AI</a:t>
            </a:r>
            <a:r>
              <a:rPr sz="1400" b="1" spc="-35" dirty="0">
                <a:latin typeface="Roboto Bk"/>
                <a:cs typeface="Roboto Bk"/>
              </a:rPr>
              <a:t> </a:t>
            </a:r>
            <a:r>
              <a:rPr sz="1400" b="1" spc="-10" dirty="0">
                <a:latin typeface="Roboto Bk"/>
                <a:cs typeface="Roboto Bk"/>
              </a:rPr>
              <a:t>that</a:t>
            </a:r>
            <a:r>
              <a:rPr sz="1400" b="1" spc="-25" dirty="0">
                <a:latin typeface="Roboto Bk"/>
                <a:cs typeface="Roboto Bk"/>
              </a:rPr>
              <a:t> involves</a:t>
            </a:r>
            <a:r>
              <a:rPr sz="1400" b="1" spc="-55" dirty="0">
                <a:latin typeface="Roboto Bk"/>
                <a:cs typeface="Roboto Bk"/>
              </a:rPr>
              <a:t> </a:t>
            </a:r>
            <a:r>
              <a:rPr sz="1400" b="1" dirty="0">
                <a:latin typeface="Roboto Bk"/>
                <a:cs typeface="Roboto Bk"/>
              </a:rPr>
              <a:t>the</a:t>
            </a:r>
            <a:r>
              <a:rPr sz="1400" b="1" spc="-25" dirty="0">
                <a:latin typeface="Roboto Bk"/>
                <a:cs typeface="Roboto Bk"/>
              </a:rPr>
              <a:t> </a:t>
            </a:r>
            <a:r>
              <a:rPr sz="1400" b="1" dirty="0">
                <a:latin typeface="Roboto Bk"/>
                <a:cs typeface="Roboto Bk"/>
              </a:rPr>
              <a:t>creation</a:t>
            </a:r>
            <a:r>
              <a:rPr sz="1400" b="1" spc="-35" dirty="0">
                <a:latin typeface="Roboto Bk"/>
                <a:cs typeface="Roboto Bk"/>
              </a:rPr>
              <a:t> </a:t>
            </a:r>
            <a:r>
              <a:rPr sz="1400" b="1" dirty="0">
                <a:latin typeface="Roboto Bk"/>
                <a:cs typeface="Roboto Bk"/>
              </a:rPr>
              <a:t>of</a:t>
            </a:r>
            <a:r>
              <a:rPr sz="1400" b="1" spc="-25" dirty="0">
                <a:latin typeface="Roboto Bk"/>
                <a:cs typeface="Roboto Bk"/>
              </a:rPr>
              <a:t> </a:t>
            </a:r>
            <a:r>
              <a:rPr sz="1400" b="1" spc="-10" dirty="0">
                <a:latin typeface="Roboto Bk"/>
                <a:cs typeface="Roboto Bk"/>
              </a:rPr>
              <a:t>Algorithms</a:t>
            </a:r>
            <a:r>
              <a:rPr sz="1400" b="1" spc="-35" dirty="0">
                <a:latin typeface="Roboto Bk"/>
                <a:cs typeface="Roboto Bk"/>
              </a:rPr>
              <a:t> </a:t>
            </a:r>
            <a:r>
              <a:rPr sz="1400" b="1" dirty="0">
                <a:latin typeface="Roboto Bk"/>
                <a:cs typeface="Roboto Bk"/>
              </a:rPr>
              <a:t>and</a:t>
            </a:r>
            <a:r>
              <a:rPr sz="1400" b="1" spc="-50" dirty="0">
                <a:latin typeface="Roboto Bk"/>
                <a:cs typeface="Roboto Bk"/>
              </a:rPr>
              <a:t> </a:t>
            </a:r>
            <a:r>
              <a:rPr sz="1400" b="1" spc="-10" dirty="0">
                <a:latin typeface="Roboto Bk"/>
                <a:cs typeface="Roboto Bk"/>
              </a:rPr>
              <a:t>statistical</a:t>
            </a:r>
            <a:r>
              <a:rPr sz="1400" b="1" spc="-5" dirty="0">
                <a:latin typeface="Roboto Bk"/>
                <a:cs typeface="Roboto Bk"/>
              </a:rPr>
              <a:t> </a:t>
            </a:r>
            <a:r>
              <a:rPr sz="1400" b="1" spc="-20" dirty="0">
                <a:latin typeface="Roboto Bk"/>
                <a:cs typeface="Roboto Bk"/>
              </a:rPr>
              <a:t>models,</a:t>
            </a:r>
            <a:r>
              <a:rPr sz="1400" b="1" spc="-50" dirty="0">
                <a:latin typeface="Roboto Bk"/>
                <a:cs typeface="Roboto Bk"/>
              </a:rPr>
              <a:t> </a:t>
            </a:r>
            <a:r>
              <a:rPr sz="1400" b="1" dirty="0">
                <a:latin typeface="Roboto Bk"/>
                <a:cs typeface="Roboto Bk"/>
              </a:rPr>
              <a:t>which</a:t>
            </a:r>
            <a:r>
              <a:rPr sz="1400" b="1" spc="-20" dirty="0">
                <a:latin typeface="Roboto Bk"/>
                <a:cs typeface="Roboto Bk"/>
              </a:rPr>
              <a:t> </a:t>
            </a:r>
            <a:r>
              <a:rPr sz="1400" b="1" spc="-10" dirty="0">
                <a:latin typeface="Roboto Bk"/>
                <a:cs typeface="Roboto Bk"/>
              </a:rPr>
              <a:t>enables </a:t>
            </a:r>
            <a:r>
              <a:rPr sz="1400" b="1" dirty="0">
                <a:latin typeface="Roboto Bk"/>
                <a:cs typeface="Roboto Bk"/>
              </a:rPr>
              <a:t>computers</a:t>
            </a:r>
            <a:r>
              <a:rPr sz="1400" b="1" spc="-40" dirty="0">
                <a:latin typeface="Roboto Bk"/>
                <a:cs typeface="Roboto Bk"/>
              </a:rPr>
              <a:t> </a:t>
            </a:r>
            <a:r>
              <a:rPr sz="1400" b="1" dirty="0">
                <a:latin typeface="Roboto Bk"/>
                <a:cs typeface="Roboto Bk"/>
              </a:rPr>
              <a:t>to</a:t>
            </a:r>
            <a:r>
              <a:rPr sz="1400" b="1" spc="-30" dirty="0">
                <a:latin typeface="Roboto Bk"/>
                <a:cs typeface="Roboto Bk"/>
              </a:rPr>
              <a:t> </a:t>
            </a:r>
            <a:r>
              <a:rPr sz="1400" b="1" dirty="0">
                <a:latin typeface="Roboto Bk"/>
                <a:cs typeface="Roboto Bk"/>
              </a:rPr>
              <a:t>perform</a:t>
            </a:r>
            <a:r>
              <a:rPr sz="1400" b="1" spc="-55" dirty="0">
                <a:latin typeface="Roboto Bk"/>
                <a:cs typeface="Roboto Bk"/>
              </a:rPr>
              <a:t> </a:t>
            </a:r>
            <a:r>
              <a:rPr sz="1400" b="1" dirty="0">
                <a:latin typeface="Roboto Bk"/>
                <a:cs typeface="Roboto Bk"/>
              </a:rPr>
              <a:t>a</a:t>
            </a:r>
            <a:r>
              <a:rPr sz="1400" b="1" spc="-35" dirty="0">
                <a:latin typeface="Roboto Bk"/>
                <a:cs typeface="Roboto Bk"/>
              </a:rPr>
              <a:t> </a:t>
            </a:r>
            <a:r>
              <a:rPr sz="1400" b="1" dirty="0">
                <a:latin typeface="Roboto Bk"/>
                <a:cs typeface="Roboto Bk"/>
              </a:rPr>
              <a:t>specific</a:t>
            </a:r>
            <a:r>
              <a:rPr sz="1400" b="1" spc="-20" dirty="0">
                <a:latin typeface="Roboto Bk"/>
                <a:cs typeface="Roboto Bk"/>
              </a:rPr>
              <a:t> </a:t>
            </a:r>
            <a:r>
              <a:rPr sz="1400" b="1" dirty="0">
                <a:latin typeface="Roboto Bk"/>
                <a:cs typeface="Roboto Bk"/>
              </a:rPr>
              <a:t>task</a:t>
            </a:r>
            <a:r>
              <a:rPr sz="1400" b="1" spc="-25" dirty="0">
                <a:latin typeface="Roboto Bk"/>
                <a:cs typeface="Roboto Bk"/>
              </a:rPr>
              <a:t> </a:t>
            </a:r>
            <a:r>
              <a:rPr sz="1400" b="1" dirty="0">
                <a:latin typeface="Roboto Bk"/>
                <a:cs typeface="Roboto Bk"/>
              </a:rPr>
              <a:t>or</a:t>
            </a:r>
            <a:r>
              <a:rPr sz="1400" b="1" spc="-35" dirty="0">
                <a:latin typeface="Roboto Bk"/>
                <a:cs typeface="Roboto Bk"/>
              </a:rPr>
              <a:t> </a:t>
            </a:r>
            <a:r>
              <a:rPr sz="1400" b="1" dirty="0">
                <a:latin typeface="Roboto Bk"/>
                <a:cs typeface="Roboto Bk"/>
              </a:rPr>
              <a:t>to</a:t>
            </a:r>
            <a:r>
              <a:rPr sz="1400" b="1" spc="-10" dirty="0">
                <a:latin typeface="Roboto Bk"/>
                <a:cs typeface="Roboto Bk"/>
              </a:rPr>
              <a:t> </a:t>
            </a:r>
            <a:r>
              <a:rPr sz="1400" b="1" dirty="0">
                <a:latin typeface="Roboto Bk"/>
                <a:cs typeface="Roboto Bk"/>
              </a:rPr>
              <a:t>make</a:t>
            </a:r>
            <a:r>
              <a:rPr sz="1400" b="1" spc="-55" dirty="0">
                <a:latin typeface="Roboto Bk"/>
                <a:cs typeface="Roboto Bk"/>
              </a:rPr>
              <a:t> </a:t>
            </a:r>
            <a:r>
              <a:rPr sz="1400" b="1" dirty="0">
                <a:latin typeface="Roboto Bk"/>
                <a:cs typeface="Roboto Bk"/>
              </a:rPr>
              <a:t>a</a:t>
            </a:r>
            <a:r>
              <a:rPr sz="1400" b="1" spc="-25" dirty="0">
                <a:latin typeface="Roboto Bk"/>
                <a:cs typeface="Roboto Bk"/>
              </a:rPr>
              <a:t> </a:t>
            </a:r>
            <a:r>
              <a:rPr sz="1400" b="1" spc="-10" dirty="0">
                <a:latin typeface="Roboto Bk"/>
                <a:cs typeface="Roboto Bk"/>
              </a:rPr>
              <a:t>prediction</a:t>
            </a:r>
            <a:r>
              <a:rPr sz="1400" b="1" spc="-30" dirty="0">
                <a:latin typeface="Roboto Bk"/>
                <a:cs typeface="Roboto Bk"/>
              </a:rPr>
              <a:t> </a:t>
            </a:r>
            <a:r>
              <a:rPr sz="1400" b="1" dirty="0">
                <a:latin typeface="Roboto Bk"/>
                <a:cs typeface="Roboto Bk"/>
              </a:rPr>
              <a:t>by</a:t>
            </a:r>
            <a:r>
              <a:rPr sz="1400" b="1" spc="-30" dirty="0">
                <a:latin typeface="Roboto Bk"/>
                <a:cs typeface="Roboto Bk"/>
              </a:rPr>
              <a:t> </a:t>
            </a:r>
            <a:r>
              <a:rPr sz="1400" b="1" spc="-20" dirty="0">
                <a:latin typeface="Roboto Bk"/>
                <a:cs typeface="Roboto Bk"/>
              </a:rPr>
              <a:t>learning</a:t>
            </a:r>
            <a:r>
              <a:rPr sz="1400" b="1" spc="-45" dirty="0">
                <a:latin typeface="Roboto Bk"/>
                <a:cs typeface="Roboto Bk"/>
              </a:rPr>
              <a:t> </a:t>
            </a:r>
            <a:r>
              <a:rPr sz="1400" b="1" dirty="0">
                <a:latin typeface="Roboto Bk"/>
                <a:cs typeface="Roboto Bk"/>
              </a:rPr>
              <a:t>from</a:t>
            </a:r>
            <a:r>
              <a:rPr sz="1400" b="1" spc="-45" dirty="0">
                <a:latin typeface="Roboto Bk"/>
                <a:cs typeface="Roboto Bk"/>
              </a:rPr>
              <a:t> </a:t>
            </a:r>
            <a:r>
              <a:rPr sz="1400" b="1" spc="-10" dirty="0">
                <a:latin typeface="Roboto Bk"/>
                <a:cs typeface="Roboto Bk"/>
              </a:rPr>
              <a:t>data.</a:t>
            </a:r>
            <a:endParaRPr sz="1400">
              <a:latin typeface="Roboto Bk"/>
              <a:cs typeface="Roboto Bk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0550" y="470661"/>
            <a:ext cx="471485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Why</a:t>
            </a:r>
            <a:r>
              <a:rPr spc="-40" dirty="0"/>
              <a:t> </a:t>
            </a:r>
            <a:r>
              <a:rPr dirty="0"/>
              <a:t>we</a:t>
            </a:r>
            <a:r>
              <a:rPr spc="-45" dirty="0"/>
              <a:t> </a:t>
            </a:r>
            <a:r>
              <a:rPr dirty="0"/>
              <a:t>need</a:t>
            </a:r>
            <a:r>
              <a:rPr spc="-50" dirty="0"/>
              <a:t> </a:t>
            </a:r>
            <a:r>
              <a:rPr spc="-25" dirty="0"/>
              <a:t>ML?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25" dirty="0"/>
              <a:t>3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492658" y="1511934"/>
            <a:ext cx="6571615" cy="2769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67665" indent="-354965">
              <a:lnSpc>
                <a:spcPct val="100000"/>
              </a:lnSpc>
              <a:spcBef>
                <a:spcPts val="105"/>
              </a:spcBef>
              <a:buFont typeface="Segoe UI Symbol"/>
              <a:buChar char="❖"/>
              <a:tabLst>
                <a:tab pos="367665" algn="l"/>
              </a:tabLst>
            </a:pPr>
            <a:r>
              <a:rPr sz="2000" b="1" spc="-25" dirty="0">
                <a:solidFill>
                  <a:srgbClr val="434343"/>
                </a:solidFill>
                <a:latin typeface="Roboto Bk"/>
                <a:cs typeface="Roboto Bk"/>
              </a:rPr>
              <a:t>Predictive</a:t>
            </a:r>
            <a:r>
              <a:rPr sz="2000" b="1" spc="-75" dirty="0">
                <a:solidFill>
                  <a:srgbClr val="434343"/>
                </a:solidFill>
                <a:latin typeface="Roboto Bk"/>
                <a:cs typeface="Roboto Bk"/>
              </a:rPr>
              <a:t> </a:t>
            </a:r>
            <a:r>
              <a:rPr sz="2000" b="1" spc="-30" dirty="0">
                <a:solidFill>
                  <a:srgbClr val="434343"/>
                </a:solidFill>
                <a:latin typeface="Roboto Bk"/>
                <a:cs typeface="Roboto Bk"/>
              </a:rPr>
              <a:t>Analytics:</a:t>
            </a:r>
            <a:r>
              <a:rPr sz="2000" b="1" spc="-70" dirty="0">
                <a:solidFill>
                  <a:srgbClr val="434343"/>
                </a:solidFill>
                <a:latin typeface="Roboto Bk"/>
                <a:cs typeface="Roboto Bk"/>
              </a:rPr>
              <a:t> </a:t>
            </a:r>
            <a:r>
              <a:rPr sz="1600" b="1" i="1" spc="-30" dirty="0">
                <a:solidFill>
                  <a:srgbClr val="434343"/>
                </a:solidFill>
                <a:latin typeface="Roboto Bk"/>
                <a:cs typeface="Roboto Bk"/>
              </a:rPr>
              <a:t>Forecasting</a:t>
            </a:r>
            <a:r>
              <a:rPr sz="1600" b="1" i="1" spc="-50" dirty="0">
                <a:solidFill>
                  <a:srgbClr val="434343"/>
                </a:solidFill>
                <a:latin typeface="Roboto Bk"/>
                <a:cs typeface="Roboto Bk"/>
              </a:rPr>
              <a:t> </a:t>
            </a:r>
            <a:r>
              <a:rPr sz="1600" b="1" i="1" spc="-30" dirty="0">
                <a:solidFill>
                  <a:srgbClr val="434343"/>
                </a:solidFill>
                <a:latin typeface="Roboto Bk"/>
                <a:cs typeface="Roboto Bk"/>
              </a:rPr>
              <a:t>future</a:t>
            </a:r>
            <a:r>
              <a:rPr sz="1600" b="1" i="1" spc="-55" dirty="0">
                <a:solidFill>
                  <a:srgbClr val="434343"/>
                </a:solidFill>
                <a:latin typeface="Roboto Bk"/>
                <a:cs typeface="Roboto Bk"/>
              </a:rPr>
              <a:t> </a:t>
            </a:r>
            <a:r>
              <a:rPr sz="1600" b="1" i="1" dirty="0">
                <a:solidFill>
                  <a:srgbClr val="434343"/>
                </a:solidFill>
                <a:latin typeface="Roboto Bk"/>
                <a:cs typeface="Roboto Bk"/>
              </a:rPr>
              <a:t>based</a:t>
            </a:r>
            <a:r>
              <a:rPr sz="1600" b="1" i="1" spc="-50" dirty="0">
                <a:solidFill>
                  <a:srgbClr val="434343"/>
                </a:solidFill>
                <a:latin typeface="Roboto Bk"/>
                <a:cs typeface="Roboto Bk"/>
              </a:rPr>
              <a:t> </a:t>
            </a:r>
            <a:r>
              <a:rPr sz="1600" b="1" i="1" dirty="0">
                <a:solidFill>
                  <a:srgbClr val="434343"/>
                </a:solidFill>
                <a:latin typeface="Roboto Bk"/>
                <a:cs typeface="Roboto Bk"/>
              </a:rPr>
              <a:t>on</a:t>
            </a:r>
            <a:r>
              <a:rPr sz="1600" b="1" i="1" spc="-65" dirty="0">
                <a:solidFill>
                  <a:srgbClr val="434343"/>
                </a:solidFill>
                <a:latin typeface="Roboto Bk"/>
                <a:cs typeface="Roboto Bk"/>
              </a:rPr>
              <a:t> </a:t>
            </a:r>
            <a:r>
              <a:rPr sz="1600" b="1" i="1" spc="-30" dirty="0">
                <a:solidFill>
                  <a:srgbClr val="434343"/>
                </a:solidFill>
                <a:latin typeface="Roboto Bk"/>
                <a:cs typeface="Roboto Bk"/>
              </a:rPr>
              <a:t>historical</a:t>
            </a:r>
            <a:r>
              <a:rPr sz="1600" b="1" i="1" spc="-35" dirty="0">
                <a:solidFill>
                  <a:srgbClr val="434343"/>
                </a:solidFill>
                <a:latin typeface="Roboto Bk"/>
                <a:cs typeface="Roboto Bk"/>
              </a:rPr>
              <a:t> </a:t>
            </a:r>
            <a:r>
              <a:rPr sz="1600" b="1" i="1" spc="-10" dirty="0">
                <a:solidFill>
                  <a:srgbClr val="434343"/>
                </a:solidFill>
                <a:latin typeface="Roboto Bk"/>
                <a:cs typeface="Roboto Bk"/>
              </a:rPr>
              <a:t>data.</a:t>
            </a:r>
            <a:endParaRPr sz="1600">
              <a:latin typeface="Roboto Bk"/>
              <a:cs typeface="Roboto Bk"/>
            </a:endParaRPr>
          </a:p>
          <a:p>
            <a:pPr>
              <a:lnSpc>
                <a:spcPct val="100000"/>
              </a:lnSpc>
              <a:spcBef>
                <a:spcPts val="475"/>
              </a:spcBef>
              <a:buClr>
                <a:srgbClr val="434343"/>
              </a:buClr>
              <a:buFont typeface="Segoe UI Symbol"/>
              <a:buChar char="❖"/>
            </a:pPr>
            <a:endParaRPr sz="1600">
              <a:latin typeface="Roboto Bk"/>
              <a:cs typeface="Roboto Bk"/>
            </a:endParaRPr>
          </a:p>
          <a:p>
            <a:pPr marL="367665" indent="-354965">
              <a:lnSpc>
                <a:spcPct val="100000"/>
              </a:lnSpc>
              <a:buFont typeface="Segoe UI Symbol"/>
              <a:buChar char="❖"/>
              <a:tabLst>
                <a:tab pos="367665" algn="l"/>
              </a:tabLst>
            </a:pPr>
            <a:r>
              <a:rPr sz="2000" b="1" spc="-10" dirty="0">
                <a:solidFill>
                  <a:srgbClr val="434343"/>
                </a:solidFill>
                <a:latin typeface="Roboto Bk"/>
                <a:cs typeface="Roboto Bk"/>
              </a:rPr>
              <a:t>Natural</a:t>
            </a:r>
            <a:r>
              <a:rPr sz="2000" b="1" spc="-105" dirty="0">
                <a:solidFill>
                  <a:srgbClr val="434343"/>
                </a:solidFill>
                <a:latin typeface="Roboto Bk"/>
                <a:cs typeface="Roboto Bk"/>
              </a:rPr>
              <a:t> </a:t>
            </a:r>
            <a:r>
              <a:rPr sz="2000" b="1" dirty="0">
                <a:solidFill>
                  <a:srgbClr val="434343"/>
                </a:solidFill>
                <a:latin typeface="Roboto Bk"/>
                <a:cs typeface="Roboto Bk"/>
              </a:rPr>
              <a:t>Language</a:t>
            </a:r>
            <a:r>
              <a:rPr sz="2000" b="1" spc="-95" dirty="0">
                <a:solidFill>
                  <a:srgbClr val="434343"/>
                </a:solidFill>
                <a:latin typeface="Roboto Bk"/>
                <a:cs typeface="Roboto Bk"/>
              </a:rPr>
              <a:t> </a:t>
            </a:r>
            <a:r>
              <a:rPr sz="2000" b="1" spc="-10" dirty="0">
                <a:solidFill>
                  <a:srgbClr val="434343"/>
                </a:solidFill>
                <a:latin typeface="Roboto Bk"/>
                <a:cs typeface="Roboto Bk"/>
              </a:rPr>
              <a:t>Processing</a:t>
            </a:r>
            <a:r>
              <a:rPr sz="1600" b="1" spc="-10" dirty="0">
                <a:solidFill>
                  <a:srgbClr val="434343"/>
                </a:solidFill>
                <a:latin typeface="Roboto Bk"/>
                <a:cs typeface="Roboto Bk"/>
              </a:rPr>
              <a:t>:</a:t>
            </a:r>
            <a:r>
              <a:rPr sz="1600" b="1" spc="-50" dirty="0">
                <a:solidFill>
                  <a:srgbClr val="434343"/>
                </a:solidFill>
                <a:latin typeface="Roboto Bk"/>
                <a:cs typeface="Roboto Bk"/>
              </a:rPr>
              <a:t> </a:t>
            </a:r>
            <a:r>
              <a:rPr sz="1600" b="1" i="1" spc="-35" dirty="0">
                <a:solidFill>
                  <a:srgbClr val="434343"/>
                </a:solidFill>
                <a:latin typeface="Roboto Bk"/>
                <a:cs typeface="Roboto Bk"/>
              </a:rPr>
              <a:t>Understand</a:t>
            </a:r>
            <a:r>
              <a:rPr sz="1600" b="1" i="1" spc="-45" dirty="0">
                <a:solidFill>
                  <a:srgbClr val="434343"/>
                </a:solidFill>
                <a:latin typeface="Roboto Bk"/>
                <a:cs typeface="Roboto Bk"/>
              </a:rPr>
              <a:t> </a:t>
            </a:r>
            <a:r>
              <a:rPr sz="1600" b="1" i="1" spc="-20" dirty="0">
                <a:solidFill>
                  <a:srgbClr val="434343"/>
                </a:solidFill>
                <a:latin typeface="Roboto Bk"/>
                <a:cs typeface="Roboto Bk"/>
              </a:rPr>
              <a:t>human</a:t>
            </a:r>
            <a:r>
              <a:rPr sz="1600" b="1" i="1" spc="-65" dirty="0">
                <a:solidFill>
                  <a:srgbClr val="434343"/>
                </a:solidFill>
                <a:latin typeface="Roboto Bk"/>
                <a:cs typeface="Roboto Bk"/>
              </a:rPr>
              <a:t> </a:t>
            </a:r>
            <a:r>
              <a:rPr sz="1600" b="1" i="1" spc="-10" dirty="0">
                <a:solidFill>
                  <a:srgbClr val="434343"/>
                </a:solidFill>
                <a:latin typeface="Roboto Bk"/>
                <a:cs typeface="Roboto Bk"/>
              </a:rPr>
              <a:t>languages</a:t>
            </a:r>
            <a:endParaRPr sz="1600">
              <a:latin typeface="Roboto Bk"/>
              <a:cs typeface="Roboto Bk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Clr>
                <a:srgbClr val="434343"/>
              </a:buClr>
              <a:buFont typeface="Segoe UI Symbol"/>
              <a:buChar char="❖"/>
            </a:pPr>
            <a:endParaRPr sz="2000">
              <a:latin typeface="Roboto Bk"/>
              <a:cs typeface="Roboto Bk"/>
            </a:endParaRPr>
          </a:p>
          <a:p>
            <a:pPr marL="367665" indent="-354965">
              <a:lnSpc>
                <a:spcPct val="100000"/>
              </a:lnSpc>
              <a:buFont typeface="Segoe UI Symbol"/>
              <a:buChar char="❖"/>
              <a:tabLst>
                <a:tab pos="367665" algn="l"/>
              </a:tabLst>
            </a:pPr>
            <a:r>
              <a:rPr sz="2000" b="1" dirty="0">
                <a:solidFill>
                  <a:srgbClr val="434343"/>
                </a:solidFill>
                <a:latin typeface="Roboto Bk"/>
                <a:cs typeface="Roboto Bk"/>
              </a:rPr>
              <a:t>Computer</a:t>
            </a:r>
            <a:r>
              <a:rPr sz="2000" b="1" spc="-80" dirty="0">
                <a:solidFill>
                  <a:srgbClr val="434343"/>
                </a:solidFill>
                <a:latin typeface="Roboto Bk"/>
                <a:cs typeface="Roboto Bk"/>
              </a:rPr>
              <a:t> </a:t>
            </a:r>
            <a:r>
              <a:rPr sz="2000" b="1" spc="-35" dirty="0">
                <a:solidFill>
                  <a:srgbClr val="434343"/>
                </a:solidFill>
                <a:latin typeface="Roboto Bk"/>
                <a:cs typeface="Roboto Bk"/>
              </a:rPr>
              <a:t>vision:</a:t>
            </a:r>
            <a:r>
              <a:rPr sz="2000" b="1" spc="-40" dirty="0">
                <a:solidFill>
                  <a:srgbClr val="434343"/>
                </a:solidFill>
                <a:latin typeface="Roboto Bk"/>
                <a:cs typeface="Roboto Bk"/>
              </a:rPr>
              <a:t> </a:t>
            </a:r>
            <a:r>
              <a:rPr sz="1600" b="1" i="1" spc="-35" dirty="0">
                <a:solidFill>
                  <a:srgbClr val="434343"/>
                </a:solidFill>
                <a:latin typeface="Roboto Bk"/>
                <a:cs typeface="Roboto Bk"/>
              </a:rPr>
              <a:t>Recognize</a:t>
            </a:r>
            <a:r>
              <a:rPr sz="1600" b="1" i="1" spc="-55" dirty="0">
                <a:solidFill>
                  <a:srgbClr val="434343"/>
                </a:solidFill>
                <a:latin typeface="Roboto Bk"/>
                <a:cs typeface="Roboto Bk"/>
              </a:rPr>
              <a:t> </a:t>
            </a:r>
            <a:r>
              <a:rPr sz="1600" b="1" i="1" spc="-25" dirty="0">
                <a:solidFill>
                  <a:srgbClr val="434343"/>
                </a:solidFill>
                <a:latin typeface="Roboto Bk"/>
                <a:cs typeface="Roboto Bk"/>
              </a:rPr>
              <a:t>objects</a:t>
            </a:r>
            <a:r>
              <a:rPr sz="1600" b="1" i="1" spc="-50" dirty="0">
                <a:solidFill>
                  <a:srgbClr val="434343"/>
                </a:solidFill>
                <a:latin typeface="Roboto Bk"/>
                <a:cs typeface="Roboto Bk"/>
              </a:rPr>
              <a:t> </a:t>
            </a:r>
            <a:r>
              <a:rPr sz="1600" b="1" i="1" spc="-10" dirty="0">
                <a:solidFill>
                  <a:srgbClr val="434343"/>
                </a:solidFill>
                <a:latin typeface="Roboto Bk"/>
                <a:cs typeface="Roboto Bk"/>
              </a:rPr>
              <a:t>in</a:t>
            </a:r>
            <a:r>
              <a:rPr sz="1600" b="1" i="1" spc="-45" dirty="0">
                <a:solidFill>
                  <a:srgbClr val="434343"/>
                </a:solidFill>
                <a:latin typeface="Roboto Bk"/>
                <a:cs typeface="Roboto Bk"/>
              </a:rPr>
              <a:t> </a:t>
            </a:r>
            <a:r>
              <a:rPr sz="1600" b="1" i="1" spc="-20" dirty="0">
                <a:solidFill>
                  <a:srgbClr val="434343"/>
                </a:solidFill>
                <a:latin typeface="Roboto Bk"/>
                <a:cs typeface="Roboto Bk"/>
              </a:rPr>
              <a:t>Images</a:t>
            </a:r>
            <a:r>
              <a:rPr sz="1600" b="1" i="1" spc="-65" dirty="0">
                <a:solidFill>
                  <a:srgbClr val="434343"/>
                </a:solidFill>
                <a:latin typeface="Roboto Bk"/>
                <a:cs typeface="Roboto Bk"/>
              </a:rPr>
              <a:t> </a:t>
            </a:r>
            <a:r>
              <a:rPr sz="1600" b="1" i="1" dirty="0">
                <a:solidFill>
                  <a:srgbClr val="434343"/>
                </a:solidFill>
                <a:latin typeface="Roboto Bk"/>
                <a:cs typeface="Roboto Bk"/>
              </a:rPr>
              <a:t>or</a:t>
            </a:r>
            <a:r>
              <a:rPr sz="1600" b="1" i="1" spc="-55" dirty="0">
                <a:solidFill>
                  <a:srgbClr val="434343"/>
                </a:solidFill>
                <a:latin typeface="Roboto Bk"/>
                <a:cs typeface="Roboto Bk"/>
              </a:rPr>
              <a:t> </a:t>
            </a:r>
            <a:r>
              <a:rPr sz="1600" b="1" i="1" spc="-10" dirty="0">
                <a:solidFill>
                  <a:srgbClr val="434343"/>
                </a:solidFill>
                <a:latin typeface="Roboto Bk"/>
                <a:cs typeface="Roboto Bk"/>
              </a:rPr>
              <a:t>Videos</a:t>
            </a:r>
            <a:endParaRPr sz="1600">
              <a:latin typeface="Roboto Bk"/>
              <a:cs typeface="Roboto Bk"/>
            </a:endParaRPr>
          </a:p>
          <a:p>
            <a:pPr>
              <a:lnSpc>
                <a:spcPct val="100000"/>
              </a:lnSpc>
              <a:spcBef>
                <a:spcPts val="480"/>
              </a:spcBef>
              <a:buClr>
                <a:srgbClr val="434343"/>
              </a:buClr>
              <a:buFont typeface="Segoe UI Symbol"/>
              <a:buChar char="❖"/>
            </a:pPr>
            <a:endParaRPr sz="1600">
              <a:latin typeface="Roboto Bk"/>
              <a:cs typeface="Roboto Bk"/>
            </a:endParaRPr>
          </a:p>
          <a:p>
            <a:pPr marL="367665" indent="-354965">
              <a:lnSpc>
                <a:spcPct val="100000"/>
              </a:lnSpc>
              <a:buFont typeface="Segoe UI Symbol"/>
              <a:buChar char="❖"/>
              <a:tabLst>
                <a:tab pos="367665" algn="l"/>
              </a:tabLst>
            </a:pPr>
            <a:r>
              <a:rPr sz="2000" b="1" dirty="0">
                <a:solidFill>
                  <a:srgbClr val="434343"/>
                </a:solidFill>
                <a:latin typeface="Roboto Bk"/>
                <a:cs typeface="Roboto Bk"/>
              </a:rPr>
              <a:t>Recommender</a:t>
            </a:r>
            <a:r>
              <a:rPr sz="2000" b="1" spc="-50" dirty="0">
                <a:solidFill>
                  <a:srgbClr val="434343"/>
                </a:solidFill>
                <a:latin typeface="Roboto Bk"/>
                <a:cs typeface="Roboto Bk"/>
              </a:rPr>
              <a:t> </a:t>
            </a:r>
            <a:r>
              <a:rPr sz="2000" b="1" spc="-25" dirty="0">
                <a:solidFill>
                  <a:srgbClr val="434343"/>
                </a:solidFill>
                <a:latin typeface="Roboto Bk"/>
                <a:cs typeface="Roboto Bk"/>
              </a:rPr>
              <a:t>Systems:</a:t>
            </a:r>
            <a:r>
              <a:rPr sz="2000" b="1" spc="-40" dirty="0">
                <a:solidFill>
                  <a:srgbClr val="434343"/>
                </a:solidFill>
                <a:latin typeface="Roboto Bk"/>
                <a:cs typeface="Roboto Bk"/>
              </a:rPr>
              <a:t> </a:t>
            </a:r>
            <a:r>
              <a:rPr sz="1600" b="1" i="1" spc="-40" dirty="0">
                <a:solidFill>
                  <a:srgbClr val="434343"/>
                </a:solidFill>
                <a:latin typeface="Roboto Bk"/>
                <a:cs typeface="Roboto Bk"/>
              </a:rPr>
              <a:t>Build </a:t>
            </a:r>
            <a:r>
              <a:rPr sz="1600" b="1" i="1" spc="-30" dirty="0">
                <a:solidFill>
                  <a:srgbClr val="434343"/>
                </a:solidFill>
                <a:latin typeface="Roboto Bk"/>
                <a:cs typeface="Roboto Bk"/>
              </a:rPr>
              <a:t>personalized</a:t>
            </a:r>
            <a:r>
              <a:rPr sz="1600" b="1" i="1" spc="-45" dirty="0">
                <a:solidFill>
                  <a:srgbClr val="434343"/>
                </a:solidFill>
                <a:latin typeface="Roboto Bk"/>
                <a:cs typeface="Roboto Bk"/>
              </a:rPr>
              <a:t> </a:t>
            </a:r>
            <a:r>
              <a:rPr sz="1600" b="1" i="1" spc="-10" dirty="0">
                <a:solidFill>
                  <a:srgbClr val="434343"/>
                </a:solidFill>
                <a:latin typeface="Roboto Bk"/>
                <a:cs typeface="Roboto Bk"/>
              </a:rPr>
              <a:t>recommendations</a:t>
            </a:r>
            <a:endParaRPr sz="1600">
              <a:latin typeface="Roboto Bk"/>
              <a:cs typeface="Roboto Bk"/>
            </a:endParaRPr>
          </a:p>
          <a:p>
            <a:pPr>
              <a:lnSpc>
                <a:spcPct val="100000"/>
              </a:lnSpc>
              <a:spcBef>
                <a:spcPts val="480"/>
              </a:spcBef>
              <a:buClr>
                <a:srgbClr val="434343"/>
              </a:buClr>
              <a:buFont typeface="Segoe UI Symbol"/>
              <a:buChar char="❖"/>
            </a:pPr>
            <a:endParaRPr sz="1600">
              <a:latin typeface="Roboto Bk"/>
              <a:cs typeface="Roboto Bk"/>
            </a:endParaRPr>
          </a:p>
          <a:p>
            <a:pPr marL="367665" indent="-354965">
              <a:lnSpc>
                <a:spcPct val="100000"/>
              </a:lnSpc>
              <a:buFont typeface="Segoe UI Symbol"/>
              <a:buChar char="❖"/>
              <a:tabLst>
                <a:tab pos="367665" algn="l"/>
              </a:tabLst>
            </a:pPr>
            <a:r>
              <a:rPr sz="2000" b="1" dirty="0">
                <a:solidFill>
                  <a:srgbClr val="434343"/>
                </a:solidFill>
                <a:latin typeface="Roboto Bk"/>
                <a:cs typeface="Roboto Bk"/>
              </a:rPr>
              <a:t>Fraud</a:t>
            </a:r>
            <a:r>
              <a:rPr sz="2000" b="1" spc="-65" dirty="0">
                <a:solidFill>
                  <a:srgbClr val="434343"/>
                </a:solidFill>
                <a:latin typeface="Roboto Bk"/>
                <a:cs typeface="Roboto Bk"/>
              </a:rPr>
              <a:t> </a:t>
            </a:r>
            <a:r>
              <a:rPr sz="2000" b="1" spc="-30" dirty="0">
                <a:solidFill>
                  <a:srgbClr val="434343"/>
                </a:solidFill>
                <a:latin typeface="Roboto Bk"/>
                <a:cs typeface="Roboto Bk"/>
              </a:rPr>
              <a:t>detection:</a:t>
            </a:r>
            <a:r>
              <a:rPr sz="2000" b="1" spc="-50" dirty="0">
                <a:solidFill>
                  <a:srgbClr val="434343"/>
                </a:solidFill>
                <a:latin typeface="Roboto Bk"/>
                <a:cs typeface="Roboto Bk"/>
              </a:rPr>
              <a:t> </a:t>
            </a:r>
            <a:r>
              <a:rPr sz="1600" b="1" i="1" spc="-25" dirty="0">
                <a:solidFill>
                  <a:srgbClr val="434343"/>
                </a:solidFill>
                <a:latin typeface="Roboto Bk"/>
                <a:cs typeface="Roboto Bk"/>
              </a:rPr>
              <a:t>Detect</a:t>
            </a:r>
            <a:r>
              <a:rPr sz="1600" b="1" i="1" spc="-50" dirty="0">
                <a:solidFill>
                  <a:srgbClr val="434343"/>
                </a:solidFill>
                <a:latin typeface="Roboto Bk"/>
                <a:cs typeface="Roboto Bk"/>
              </a:rPr>
              <a:t> </a:t>
            </a:r>
            <a:r>
              <a:rPr sz="1600" b="1" i="1" spc="-35" dirty="0">
                <a:solidFill>
                  <a:srgbClr val="434343"/>
                </a:solidFill>
                <a:latin typeface="Roboto Bk"/>
                <a:cs typeface="Roboto Bk"/>
              </a:rPr>
              <a:t>fraudulent</a:t>
            </a:r>
            <a:r>
              <a:rPr sz="1600" b="1" i="1" spc="-25" dirty="0">
                <a:solidFill>
                  <a:srgbClr val="434343"/>
                </a:solidFill>
                <a:latin typeface="Roboto Bk"/>
                <a:cs typeface="Roboto Bk"/>
              </a:rPr>
              <a:t> </a:t>
            </a:r>
            <a:r>
              <a:rPr sz="1600" b="1" i="1" spc="-35" dirty="0">
                <a:solidFill>
                  <a:srgbClr val="434343"/>
                </a:solidFill>
                <a:latin typeface="Roboto Bk"/>
                <a:cs typeface="Roboto Bk"/>
              </a:rPr>
              <a:t>activities</a:t>
            </a:r>
            <a:r>
              <a:rPr sz="1600" b="1" i="1" spc="-30" dirty="0">
                <a:solidFill>
                  <a:srgbClr val="434343"/>
                </a:solidFill>
                <a:latin typeface="Roboto Bk"/>
                <a:cs typeface="Roboto Bk"/>
              </a:rPr>
              <a:t> </a:t>
            </a:r>
            <a:r>
              <a:rPr sz="1600" b="1" i="1" dirty="0">
                <a:solidFill>
                  <a:srgbClr val="434343"/>
                </a:solidFill>
                <a:latin typeface="Roboto Bk"/>
                <a:cs typeface="Roboto Bk"/>
              </a:rPr>
              <a:t>or</a:t>
            </a:r>
            <a:r>
              <a:rPr sz="1600" b="1" i="1" spc="-45" dirty="0">
                <a:solidFill>
                  <a:srgbClr val="434343"/>
                </a:solidFill>
                <a:latin typeface="Roboto Bk"/>
                <a:cs typeface="Roboto Bk"/>
              </a:rPr>
              <a:t> </a:t>
            </a:r>
            <a:r>
              <a:rPr sz="1600" b="1" i="1" spc="-10" dirty="0">
                <a:solidFill>
                  <a:srgbClr val="434343"/>
                </a:solidFill>
                <a:latin typeface="Roboto Bk"/>
                <a:cs typeface="Roboto Bk"/>
              </a:rPr>
              <a:t>anomalies</a:t>
            </a:r>
            <a:endParaRPr sz="1600">
              <a:latin typeface="Roboto Bk"/>
              <a:cs typeface="Roboto Bk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4455">
              <a:lnSpc>
                <a:spcPct val="100000"/>
              </a:lnSpc>
              <a:spcBef>
                <a:spcPts val="100"/>
              </a:spcBef>
            </a:pPr>
            <a:r>
              <a:rPr dirty="0"/>
              <a:t>Types</a:t>
            </a:r>
            <a:r>
              <a:rPr spc="-20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spc="-25" dirty="0"/>
              <a:t>ML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816660" y="1934717"/>
            <a:ext cx="6974840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354965" algn="l"/>
              </a:tabLst>
            </a:pPr>
            <a:r>
              <a:rPr sz="1800" b="1" dirty="0">
                <a:solidFill>
                  <a:srgbClr val="434343"/>
                </a:solidFill>
                <a:latin typeface="Roboto"/>
                <a:cs typeface="Roboto"/>
              </a:rPr>
              <a:t>Supervised</a:t>
            </a:r>
            <a:r>
              <a:rPr sz="1800" b="1" spc="-3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b="1" dirty="0">
                <a:solidFill>
                  <a:srgbClr val="434343"/>
                </a:solidFill>
                <a:latin typeface="Roboto"/>
                <a:cs typeface="Roboto"/>
              </a:rPr>
              <a:t>learning</a:t>
            </a:r>
            <a:r>
              <a:rPr sz="1600" b="1" i="1" dirty="0">
                <a:solidFill>
                  <a:srgbClr val="434343"/>
                </a:solidFill>
                <a:latin typeface="Roboto Bk"/>
                <a:cs typeface="Roboto Bk"/>
              </a:rPr>
              <a:t>:</a:t>
            </a:r>
            <a:r>
              <a:rPr sz="1600" b="1" i="1" spc="-50" dirty="0">
                <a:solidFill>
                  <a:srgbClr val="434343"/>
                </a:solidFill>
                <a:latin typeface="Roboto Bk"/>
                <a:cs typeface="Roboto Bk"/>
              </a:rPr>
              <a:t> </a:t>
            </a:r>
            <a:r>
              <a:rPr sz="1600" b="1" i="1" spc="-20" dirty="0">
                <a:solidFill>
                  <a:srgbClr val="434343"/>
                </a:solidFill>
                <a:latin typeface="Roboto Bk"/>
                <a:cs typeface="Roboto Bk"/>
              </a:rPr>
              <a:t>Model</a:t>
            </a:r>
            <a:r>
              <a:rPr sz="1600" b="1" i="1" spc="-35" dirty="0">
                <a:solidFill>
                  <a:srgbClr val="434343"/>
                </a:solidFill>
                <a:latin typeface="Roboto Bk"/>
                <a:cs typeface="Roboto Bk"/>
              </a:rPr>
              <a:t> </a:t>
            </a:r>
            <a:r>
              <a:rPr sz="1600" b="1" i="1" dirty="0">
                <a:solidFill>
                  <a:srgbClr val="434343"/>
                </a:solidFill>
                <a:latin typeface="Roboto Bk"/>
                <a:cs typeface="Roboto Bk"/>
              </a:rPr>
              <a:t>is</a:t>
            </a:r>
            <a:r>
              <a:rPr sz="1600" b="1" i="1" spc="-45" dirty="0">
                <a:solidFill>
                  <a:srgbClr val="434343"/>
                </a:solidFill>
                <a:latin typeface="Roboto Bk"/>
                <a:cs typeface="Roboto Bk"/>
              </a:rPr>
              <a:t> </a:t>
            </a:r>
            <a:r>
              <a:rPr sz="1600" b="1" i="1" spc="-25" dirty="0">
                <a:solidFill>
                  <a:srgbClr val="434343"/>
                </a:solidFill>
                <a:latin typeface="Roboto Bk"/>
                <a:cs typeface="Roboto Bk"/>
              </a:rPr>
              <a:t>trained</a:t>
            </a:r>
            <a:r>
              <a:rPr sz="1600" b="1" i="1" spc="-40" dirty="0">
                <a:solidFill>
                  <a:srgbClr val="434343"/>
                </a:solidFill>
                <a:latin typeface="Roboto Bk"/>
                <a:cs typeface="Roboto Bk"/>
              </a:rPr>
              <a:t> </a:t>
            </a:r>
            <a:r>
              <a:rPr sz="1600" b="1" i="1" dirty="0">
                <a:solidFill>
                  <a:srgbClr val="434343"/>
                </a:solidFill>
                <a:latin typeface="Roboto Bk"/>
                <a:cs typeface="Roboto Bk"/>
              </a:rPr>
              <a:t>on</a:t>
            </a:r>
            <a:r>
              <a:rPr sz="1600" b="1" i="1" spc="-55" dirty="0">
                <a:solidFill>
                  <a:srgbClr val="434343"/>
                </a:solidFill>
                <a:latin typeface="Roboto Bk"/>
                <a:cs typeface="Roboto Bk"/>
              </a:rPr>
              <a:t> </a:t>
            </a:r>
            <a:r>
              <a:rPr sz="1600" b="1" i="1" dirty="0">
                <a:solidFill>
                  <a:srgbClr val="434343"/>
                </a:solidFill>
                <a:latin typeface="Roboto Bk"/>
                <a:cs typeface="Roboto Bk"/>
              </a:rPr>
              <a:t>a</a:t>
            </a:r>
            <a:r>
              <a:rPr sz="1600" b="1" i="1" spc="-55" dirty="0">
                <a:solidFill>
                  <a:srgbClr val="434343"/>
                </a:solidFill>
                <a:latin typeface="Roboto Bk"/>
                <a:cs typeface="Roboto Bk"/>
              </a:rPr>
              <a:t> </a:t>
            </a:r>
            <a:r>
              <a:rPr sz="1600" b="1" i="1" spc="-25" dirty="0">
                <a:solidFill>
                  <a:srgbClr val="434343"/>
                </a:solidFill>
                <a:latin typeface="Roboto Bk"/>
                <a:cs typeface="Roboto Bk"/>
              </a:rPr>
              <a:t>labeled</a:t>
            </a:r>
            <a:r>
              <a:rPr sz="1600" b="1" i="1" spc="-45" dirty="0">
                <a:solidFill>
                  <a:srgbClr val="434343"/>
                </a:solidFill>
                <a:latin typeface="Roboto Bk"/>
                <a:cs typeface="Roboto Bk"/>
              </a:rPr>
              <a:t> </a:t>
            </a:r>
            <a:r>
              <a:rPr sz="1600" b="1" i="1" spc="-10" dirty="0">
                <a:solidFill>
                  <a:srgbClr val="434343"/>
                </a:solidFill>
                <a:latin typeface="Roboto Bk"/>
                <a:cs typeface="Roboto Bk"/>
              </a:rPr>
              <a:t>dataset.</a:t>
            </a:r>
            <a:endParaRPr sz="1600">
              <a:latin typeface="Roboto Bk"/>
              <a:cs typeface="Roboto Bk"/>
            </a:endParaRPr>
          </a:p>
          <a:p>
            <a:pPr>
              <a:lnSpc>
                <a:spcPct val="100000"/>
              </a:lnSpc>
              <a:spcBef>
                <a:spcPts val="235"/>
              </a:spcBef>
              <a:buClr>
                <a:srgbClr val="434343"/>
              </a:buClr>
              <a:buFont typeface="Roboto"/>
              <a:buAutoNum type="arabicPeriod"/>
            </a:pPr>
            <a:endParaRPr sz="1600">
              <a:latin typeface="Roboto Bk"/>
              <a:cs typeface="Roboto Bk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354965" algn="l"/>
              </a:tabLst>
            </a:pPr>
            <a:r>
              <a:rPr sz="1800" b="1" dirty="0">
                <a:solidFill>
                  <a:srgbClr val="434343"/>
                </a:solidFill>
                <a:latin typeface="Roboto"/>
                <a:cs typeface="Roboto"/>
              </a:rPr>
              <a:t>Unsupervised</a:t>
            </a:r>
            <a:r>
              <a:rPr sz="1800" b="1" spc="-4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b="1" dirty="0">
                <a:solidFill>
                  <a:srgbClr val="434343"/>
                </a:solidFill>
                <a:latin typeface="Roboto"/>
                <a:cs typeface="Roboto"/>
              </a:rPr>
              <a:t>learning</a:t>
            </a:r>
            <a:r>
              <a:rPr sz="1600" b="1" i="1" dirty="0">
                <a:solidFill>
                  <a:srgbClr val="434343"/>
                </a:solidFill>
                <a:latin typeface="Roboto Bk"/>
                <a:cs typeface="Roboto Bk"/>
              </a:rPr>
              <a:t>:</a:t>
            </a:r>
            <a:r>
              <a:rPr sz="1600" b="1" i="1" spc="-50" dirty="0">
                <a:solidFill>
                  <a:srgbClr val="434343"/>
                </a:solidFill>
                <a:latin typeface="Roboto Bk"/>
                <a:cs typeface="Roboto Bk"/>
              </a:rPr>
              <a:t> </a:t>
            </a:r>
            <a:r>
              <a:rPr sz="1600" b="1" i="1" spc="-20" dirty="0">
                <a:solidFill>
                  <a:srgbClr val="434343"/>
                </a:solidFill>
                <a:latin typeface="Roboto Bk"/>
                <a:cs typeface="Roboto Bk"/>
              </a:rPr>
              <a:t>Model</a:t>
            </a:r>
            <a:r>
              <a:rPr sz="1600" b="1" i="1" spc="-35" dirty="0">
                <a:solidFill>
                  <a:srgbClr val="434343"/>
                </a:solidFill>
                <a:latin typeface="Roboto Bk"/>
                <a:cs typeface="Roboto Bk"/>
              </a:rPr>
              <a:t> </a:t>
            </a:r>
            <a:r>
              <a:rPr sz="1600" b="1" i="1" dirty="0">
                <a:solidFill>
                  <a:srgbClr val="434343"/>
                </a:solidFill>
                <a:latin typeface="Roboto Bk"/>
                <a:cs typeface="Roboto Bk"/>
              </a:rPr>
              <a:t>is</a:t>
            </a:r>
            <a:r>
              <a:rPr sz="1600" b="1" i="1" spc="-55" dirty="0">
                <a:solidFill>
                  <a:srgbClr val="434343"/>
                </a:solidFill>
                <a:latin typeface="Roboto Bk"/>
                <a:cs typeface="Roboto Bk"/>
              </a:rPr>
              <a:t> </a:t>
            </a:r>
            <a:r>
              <a:rPr sz="1600" b="1" i="1" spc="-25" dirty="0">
                <a:solidFill>
                  <a:srgbClr val="434343"/>
                </a:solidFill>
                <a:latin typeface="Roboto Bk"/>
                <a:cs typeface="Roboto Bk"/>
              </a:rPr>
              <a:t>trained</a:t>
            </a:r>
            <a:r>
              <a:rPr sz="1600" b="1" i="1" spc="-40" dirty="0">
                <a:solidFill>
                  <a:srgbClr val="434343"/>
                </a:solidFill>
                <a:latin typeface="Roboto Bk"/>
                <a:cs typeface="Roboto Bk"/>
              </a:rPr>
              <a:t> </a:t>
            </a:r>
            <a:r>
              <a:rPr sz="1600" b="1" i="1" dirty="0">
                <a:solidFill>
                  <a:srgbClr val="434343"/>
                </a:solidFill>
                <a:latin typeface="Roboto Bk"/>
                <a:cs typeface="Roboto Bk"/>
              </a:rPr>
              <a:t>on</a:t>
            </a:r>
            <a:r>
              <a:rPr sz="1600" b="1" i="1" spc="-60" dirty="0">
                <a:solidFill>
                  <a:srgbClr val="434343"/>
                </a:solidFill>
                <a:latin typeface="Roboto Bk"/>
                <a:cs typeface="Roboto Bk"/>
              </a:rPr>
              <a:t> </a:t>
            </a:r>
            <a:r>
              <a:rPr sz="1600" b="1" i="1" dirty="0">
                <a:solidFill>
                  <a:srgbClr val="434343"/>
                </a:solidFill>
                <a:latin typeface="Roboto Bk"/>
                <a:cs typeface="Roboto Bk"/>
              </a:rPr>
              <a:t>a</a:t>
            </a:r>
            <a:r>
              <a:rPr sz="1600" b="1" i="1" spc="-55" dirty="0">
                <a:solidFill>
                  <a:srgbClr val="434343"/>
                </a:solidFill>
                <a:latin typeface="Roboto Bk"/>
                <a:cs typeface="Roboto Bk"/>
              </a:rPr>
              <a:t> </a:t>
            </a:r>
            <a:r>
              <a:rPr sz="1600" b="1" i="1" spc="-30" dirty="0">
                <a:solidFill>
                  <a:srgbClr val="434343"/>
                </a:solidFill>
                <a:latin typeface="Roboto Bk"/>
                <a:cs typeface="Roboto Bk"/>
              </a:rPr>
              <a:t>unlabeled</a:t>
            </a:r>
            <a:r>
              <a:rPr sz="1600" b="1" i="1" spc="-55" dirty="0">
                <a:solidFill>
                  <a:srgbClr val="434343"/>
                </a:solidFill>
                <a:latin typeface="Roboto Bk"/>
                <a:cs typeface="Roboto Bk"/>
              </a:rPr>
              <a:t> </a:t>
            </a:r>
            <a:r>
              <a:rPr sz="1600" b="1" i="1" spc="-10" dirty="0">
                <a:solidFill>
                  <a:srgbClr val="434343"/>
                </a:solidFill>
                <a:latin typeface="Roboto Bk"/>
                <a:cs typeface="Roboto Bk"/>
              </a:rPr>
              <a:t>dataset.</a:t>
            </a:r>
            <a:endParaRPr sz="1600">
              <a:latin typeface="Roboto Bk"/>
              <a:cs typeface="Roboto Bk"/>
            </a:endParaRPr>
          </a:p>
          <a:p>
            <a:pPr>
              <a:lnSpc>
                <a:spcPct val="100000"/>
              </a:lnSpc>
              <a:spcBef>
                <a:spcPts val="240"/>
              </a:spcBef>
              <a:buClr>
                <a:srgbClr val="434343"/>
              </a:buClr>
              <a:buFont typeface="Roboto"/>
              <a:buAutoNum type="arabicPeriod"/>
            </a:pPr>
            <a:endParaRPr sz="1600">
              <a:latin typeface="Roboto Bk"/>
              <a:cs typeface="Roboto Bk"/>
            </a:endParaRPr>
          </a:p>
          <a:p>
            <a:pPr marL="354965" indent="-342265">
              <a:lnSpc>
                <a:spcPct val="100000"/>
              </a:lnSpc>
              <a:buAutoNum type="arabicPeriod"/>
              <a:tabLst>
                <a:tab pos="354965" algn="l"/>
              </a:tabLst>
            </a:pPr>
            <a:r>
              <a:rPr sz="1800" b="1" dirty="0">
                <a:solidFill>
                  <a:srgbClr val="434343"/>
                </a:solidFill>
                <a:latin typeface="Roboto"/>
                <a:cs typeface="Roboto"/>
              </a:rPr>
              <a:t>Reinforcement</a:t>
            </a:r>
            <a:r>
              <a:rPr sz="1800" b="1" spc="-3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b="1" dirty="0">
                <a:solidFill>
                  <a:srgbClr val="434343"/>
                </a:solidFill>
                <a:latin typeface="Roboto"/>
                <a:cs typeface="Roboto"/>
              </a:rPr>
              <a:t>learning</a:t>
            </a:r>
            <a:r>
              <a:rPr sz="1600" b="1" i="1" dirty="0">
                <a:solidFill>
                  <a:srgbClr val="434343"/>
                </a:solidFill>
                <a:latin typeface="Roboto Bk"/>
                <a:cs typeface="Roboto Bk"/>
              </a:rPr>
              <a:t>:</a:t>
            </a:r>
            <a:r>
              <a:rPr sz="1600" b="1" i="1" spc="-50" dirty="0">
                <a:solidFill>
                  <a:srgbClr val="434343"/>
                </a:solidFill>
                <a:latin typeface="Roboto Bk"/>
                <a:cs typeface="Roboto Bk"/>
              </a:rPr>
              <a:t> </a:t>
            </a:r>
            <a:r>
              <a:rPr sz="1600" b="1" i="1" spc="-25" dirty="0">
                <a:solidFill>
                  <a:srgbClr val="434343"/>
                </a:solidFill>
                <a:latin typeface="Roboto Bk"/>
                <a:cs typeface="Roboto Bk"/>
              </a:rPr>
              <a:t>Learns</a:t>
            </a:r>
            <a:r>
              <a:rPr sz="1600" b="1" i="1" spc="-50" dirty="0">
                <a:solidFill>
                  <a:srgbClr val="434343"/>
                </a:solidFill>
                <a:latin typeface="Roboto Bk"/>
                <a:cs typeface="Roboto Bk"/>
              </a:rPr>
              <a:t> </a:t>
            </a:r>
            <a:r>
              <a:rPr sz="1600" b="1" i="1" dirty="0">
                <a:solidFill>
                  <a:srgbClr val="434343"/>
                </a:solidFill>
                <a:latin typeface="Roboto Bk"/>
                <a:cs typeface="Roboto Bk"/>
              </a:rPr>
              <a:t>to</a:t>
            </a:r>
            <a:r>
              <a:rPr sz="1600" b="1" i="1" spc="-50" dirty="0">
                <a:solidFill>
                  <a:srgbClr val="434343"/>
                </a:solidFill>
                <a:latin typeface="Roboto Bk"/>
                <a:cs typeface="Roboto Bk"/>
              </a:rPr>
              <a:t> </a:t>
            </a:r>
            <a:r>
              <a:rPr sz="1600" b="1" i="1" spc="-10" dirty="0">
                <a:solidFill>
                  <a:srgbClr val="434343"/>
                </a:solidFill>
                <a:latin typeface="Roboto Bk"/>
                <a:cs typeface="Roboto Bk"/>
              </a:rPr>
              <a:t>make</a:t>
            </a:r>
            <a:r>
              <a:rPr sz="1600" b="1" i="1" spc="-45" dirty="0">
                <a:solidFill>
                  <a:srgbClr val="434343"/>
                </a:solidFill>
                <a:latin typeface="Roboto Bk"/>
                <a:cs typeface="Roboto Bk"/>
              </a:rPr>
              <a:t> </a:t>
            </a:r>
            <a:r>
              <a:rPr sz="1600" b="1" i="1" spc="-30" dirty="0">
                <a:solidFill>
                  <a:srgbClr val="434343"/>
                </a:solidFill>
                <a:latin typeface="Roboto Bk"/>
                <a:cs typeface="Roboto Bk"/>
              </a:rPr>
              <a:t>decisions</a:t>
            </a:r>
            <a:r>
              <a:rPr sz="1600" b="1" i="1" spc="-10" dirty="0">
                <a:solidFill>
                  <a:srgbClr val="434343"/>
                </a:solidFill>
                <a:latin typeface="Roboto Bk"/>
                <a:cs typeface="Roboto Bk"/>
              </a:rPr>
              <a:t> based</a:t>
            </a:r>
            <a:r>
              <a:rPr sz="1600" b="1" i="1" spc="-50" dirty="0">
                <a:solidFill>
                  <a:srgbClr val="434343"/>
                </a:solidFill>
                <a:latin typeface="Roboto Bk"/>
                <a:cs typeface="Roboto Bk"/>
              </a:rPr>
              <a:t> </a:t>
            </a:r>
            <a:r>
              <a:rPr sz="1600" b="1" i="1" dirty="0">
                <a:solidFill>
                  <a:srgbClr val="434343"/>
                </a:solidFill>
                <a:latin typeface="Roboto Bk"/>
                <a:cs typeface="Roboto Bk"/>
              </a:rPr>
              <a:t>on</a:t>
            </a:r>
            <a:r>
              <a:rPr sz="1600" b="1" i="1" spc="-55" dirty="0">
                <a:solidFill>
                  <a:srgbClr val="434343"/>
                </a:solidFill>
                <a:latin typeface="Roboto Bk"/>
                <a:cs typeface="Roboto Bk"/>
              </a:rPr>
              <a:t> </a:t>
            </a:r>
            <a:r>
              <a:rPr sz="1600" b="1" i="1" spc="-10" dirty="0">
                <a:solidFill>
                  <a:srgbClr val="434343"/>
                </a:solidFill>
                <a:latin typeface="Roboto Bk"/>
                <a:cs typeface="Roboto Bk"/>
              </a:rPr>
              <a:t>feedbacks</a:t>
            </a:r>
            <a:endParaRPr sz="1600">
              <a:latin typeface="Roboto Bk"/>
              <a:cs typeface="Roboto Bk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0550" y="470661"/>
            <a:ext cx="578165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Unsupervised</a:t>
            </a:r>
            <a:r>
              <a:rPr spc="-70" dirty="0"/>
              <a:t> </a:t>
            </a:r>
            <a:r>
              <a:rPr spc="-190" dirty="0"/>
              <a:t>ML-</a:t>
            </a:r>
            <a:r>
              <a:rPr spc="-15" dirty="0"/>
              <a:t> </a:t>
            </a:r>
            <a:r>
              <a:rPr spc="-20" dirty="0"/>
              <a:t>What?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390550" y="1274653"/>
            <a:ext cx="7114540" cy="226441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1800" b="1" dirty="0">
                <a:solidFill>
                  <a:srgbClr val="434343"/>
                </a:solidFill>
                <a:latin typeface="Roboto Bk"/>
                <a:cs typeface="Roboto Bk"/>
              </a:rPr>
              <a:t>A</a:t>
            </a:r>
            <a:r>
              <a:rPr sz="1800" b="1" spc="-50" dirty="0">
                <a:solidFill>
                  <a:srgbClr val="434343"/>
                </a:solidFill>
                <a:latin typeface="Roboto Bk"/>
                <a:cs typeface="Roboto Bk"/>
              </a:rPr>
              <a:t> </a:t>
            </a:r>
            <a:r>
              <a:rPr sz="1800" b="1" spc="-20" dirty="0">
                <a:solidFill>
                  <a:srgbClr val="434343"/>
                </a:solidFill>
                <a:latin typeface="Roboto Bk"/>
                <a:cs typeface="Roboto Bk"/>
              </a:rPr>
              <a:t>technique</a:t>
            </a:r>
            <a:r>
              <a:rPr sz="1800" b="1" spc="-60" dirty="0">
                <a:solidFill>
                  <a:srgbClr val="434343"/>
                </a:solidFill>
                <a:latin typeface="Roboto Bk"/>
                <a:cs typeface="Roboto Bk"/>
              </a:rPr>
              <a:t> </a:t>
            </a:r>
            <a:r>
              <a:rPr sz="1800" b="1" dirty="0">
                <a:solidFill>
                  <a:srgbClr val="434343"/>
                </a:solidFill>
                <a:latin typeface="Roboto Bk"/>
                <a:cs typeface="Roboto Bk"/>
              </a:rPr>
              <a:t>in</a:t>
            </a:r>
            <a:r>
              <a:rPr sz="1800" b="1" spc="-35" dirty="0">
                <a:solidFill>
                  <a:srgbClr val="434343"/>
                </a:solidFill>
                <a:latin typeface="Roboto Bk"/>
                <a:cs typeface="Roboto Bk"/>
              </a:rPr>
              <a:t> </a:t>
            </a:r>
            <a:r>
              <a:rPr sz="1800" b="1" dirty="0">
                <a:solidFill>
                  <a:srgbClr val="434343"/>
                </a:solidFill>
                <a:latin typeface="Roboto Bk"/>
                <a:cs typeface="Roboto Bk"/>
              </a:rPr>
              <a:t>which</a:t>
            </a:r>
            <a:r>
              <a:rPr sz="1800" b="1" spc="-50" dirty="0">
                <a:solidFill>
                  <a:srgbClr val="434343"/>
                </a:solidFill>
                <a:latin typeface="Roboto Bk"/>
                <a:cs typeface="Roboto Bk"/>
              </a:rPr>
              <a:t> </a:t>
            </a:r>
            <a:r>
              <a:rPr sz="1800" b="1" dirty="0">
                <a:solidFill>
                  <a:srgbClr val="434343"/>
                </a:solidFill>
                <a:latin typeface="Roboto Bk"/>
                <a:cs typeface="Roboto Bk"/>
              </a:rPr>
              <a:t>models</a:t>
            </a:r>
            <a:r>
              <a:rPr sz="1800" b="1" spc="-40" dirty="0">
                <a:solidFill>
                  <a:srgbClr val="434343"/>
                </a:solidFill>
                <a:latin typeface="Roboto Bk"/>
                <a:cs typeface="Roboto Bk"/>
              </a:rPr>
              <a:t> </a:t>
            </a:r>
            <a:r>
              <a:rPr sz="1800" b="1" dirty="0">
                <a:solidFill>
                  <a:srgbClr val="434343"/>
                </a:solidFill>
                <a:latin typeface="Roboto Bk"/>
                <a:cs typeface="Roboto Bk"/>
              </a:rPr>
              <a:t>are</a:t>
            </a:r>
            <a:r>
              <a:rPr sz="1800" b="1" spc="-45" dirty="0">
                <a:solidFill>
                  <a:srgbClr val="434343"/>
                </a:solidFill>
                <a:latin typeface="Roboto Bk"/>
                <a:cs typeface="Roboto Bk"/>
              </a:rPr>
              <a:t> </a:t>
            </a:r>
            <a:r>
              <a:rPr sz="1800" b="1" dirty="0">
                <a:solidFill>
                  <a:srgbClr val="434343"/>
                </a:solidFill>
                <a:latin typeface="Roboto Bk"/>
                <a:cs typeface="Roboto Bk"/>
              </a:rPr>
              <a:t>not</a:t>
            </a:r>
            <a:r>
              <a:rPr sz="1800" b="1" spc="-50" dirty="0">
                <a:solidFill>
                  <a:srgbClr val="434343"/>
                </a:solidFill>
                <a:latin typeface="Roboto Bk"/>
                <a:cs typeface="Roboto Bk"/>
              </a:rPr>
              <a:t> </a:t>
            </a:r>
            <a:r>
              <a:rPr sz="1800" b="1" spc="-20" dirty="0">
                <a:solidFill>
                  <a:srgbClr val="434343"/>
                </a:solidFill>
                <a:latin typeface="Roboto Bk"/>
                <a:cs typeface="Roboto Bk"/>
              </a:rPr>
              <a:t>supervised</a:t>
            </a:r>
            <a:r>
              <a:rPr sz="1800" b="1" spc="-40" dirty="0">
                <a:solidFill>
                  <a:srgbClr val="434343"/>
                </a:solidFill>
                <a:latin typeface="Roboto Bk"/>
                <a:cs typeface="Roboto Bk"/>
              </a:rPr>
              <a:t> </a:t>
            </a:r>
            <a:r>
              <a:rPr sz="1800" b="1" spc="-10" dirty="0">
                <a:solidFill>
                  <a:srgbClr val="434343"/>
                </a:solidFill>
                <a:latin typeface="Roboto Bk"/>
                <a:cs typeface="Roboto Bk"/>
              </a:rPr>
              <a:t>using</a:t>
            </a:r>
            <a:r>
              <a:rPr sz="1800" b="1" spc="-40" dirty="0">
                <a:solidFill>
                  <a:srgbClr val="434343"/>
                </a:solidFill>
                <a:latin typeface="Roboto Bk"/>
                <a:cs typeface="Roboto Bk"/>
              </a:rPr>
              <a:t> </a:t>
            </a:r>
            <a:r>
              <a:rPr sz="1800" b="1" spc="-25" dirty="0">
                <a:solidFill>
                  <a:srgbClr val="434343"/>
                </a:solidFill>
                <a:latin typeface="Roboto Bk"/>
                <a:cs typeface="Roboto Bk"/>
              </a:rPr>
              <a:t>training</a:t>
            </a:r>
            <a:r>
              <a:rPr sz="1800" b="1" spc="-40" dirty="0">
                <a:solidFill>
                  <a:srgbClr val="434343"/>
                </a:solidFill>
                <a:latin typeface="Roboto Bk"/>
                <a:cs typeface="Roboto Bk"/>
              </a:rPr>
              <a:t> </a:t>
            </a:r>
            <a:r>
              <a:rPr sz="1800" b="1" spc="-10" dirty="0">
                <a:solidFill>
                  <a:srgbClr val="434343"/>
                </a:solidFill>
                <a:latin typeface="Roboto Bk"/>
                <a:cs typeface="Roboto Bk"/>
              </a:rPr>
              <a:t>dataset</a:t>
            </a:r>
            <a:endParaRPr sz="1800">
              <a:latin typeface="Roboto Bk"/>
              <a:cs typeface="Roboto Bk"/>
            </a:endParaRPr>
          </a:p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sz="1800" b="1" dirty="0">
                <a:solidFill>
                  <a:srgbClr val="434343"/>
                </a:solidFill>
                <a:latin typeface="Roboto Bk"/>
                <a:cs typeface="Roboto Bk"/>
              </a:rPr>
              <a:t>Models</a:t>
            </a:r>
            <a:r>
              <a:rPr sz="1800" b="1" spc="-70" dirty="0">
                <a:solidFill>
                  <a:srgbClr val="434343"/>
                </a:solidFill>
                <a:latin typeface="Roboto Bk"/>
                <a:cs typeface="Roboto Bk"/>
              </a:rPr>
              <a:t> </a:t>
            </a:r>
            <a:r>
              <a:rPr sz="1800" b="1" dirty="0">
                <a:solidFill>
                  <a:srgbClr val="434343"/>
                </a:solidFill>
                <a:latin typeface="Roboto Bk"/>
                <a:cs typeface="Roboto Bk"/>
              </a:rPr>
              <a:t>finds</a:t>
            </a:r>
            <a:r>
              <a:rPr sz="1800" b="1" spc="-70" dirty="0">
                <a:solidFill>
                  <a:srgbClr val="434343"/>
                </a:solidFill>
                <a:latin typeface="Roboto Bk"/>
                <a:cs typeface="Roboto Bk"/>
              </a:rPr>
              <a:t> </a:t>
            </a:r>
            <a:r>
              <a:rPr sz="1800" b="1" dirty="0">
                <a:solidFill>
                  <a:srgbClr val="434343"/>
                </a:solidFill>
                <a:latin typeface="Roboto Bk"/>
                <a:cs typeface="Roboto Bk"/>
              </a:rPr>
              <a:t>the</a:t>
            </a:r>
            <a:r>
              <a:rPr sz="1800" b="1" spc="-60" dirty="0">
                <a:solidFill>
                  <a:srgbClr val="434343"/>
                </a:solidFill>
                <a:latin typeface="Roboto Bk"/>
                <a:cs typeface="Roboto Bk"/>
              </a:rPr>
              <a:t> </a:t>
            </a:r>
            <a:r>
              <a:rPr sz="1800" b="1" spc="-10" dirty="0">
                <a:solidFill>
                  <a:srgbClr val="434343"/>
                </a:solidFill>
                <a:latin typeface="Roboto Bk"/>
                <a:cs typeface="Roboto Bk"/>
              </a:rPr>
              <a:t>patterns</a:t>
            </a:r>
            <a:r>
              <a:rPr sz="1800" b="1" spc="-65" dirty="0">
                <a:solidFill>
                  <a:srgbClr val="434343"/>
                </a:solidFill>
                <a:latin typeface="Roboto Bk"/>
                <a:cs typeface="Roboto Bk"/>
              </a:rPr>
              <a:t> </a:t>
            </a:r>
            <a:r>
              <a:rPr sz="1800" b="1" spc="-25" dirty="0">
                <a:solidFill>
                  <a:srgbClr val="434343"/>
                </a:solidFill>
                <a:latin typeface="Roboto Bk"/>
                <a:cs typeface="Roboto Bk"/>
              </a:rPr>
              <a:t>itself</a:t>
            </a:r>
            <a:r>
              <a:rPr sz="1800" b="1" spc="-55" dirty="0">
                <a:solidFill>
                  <a:srgbClr val="434343"/>
                </a:solidFill>
                <a:latin typeface="Roboto Bk"/>
                <a:cs typeface="Roboto Bk"/>
              </a:rPr>
              <a:t> </a:t>
            </a:r>
            <a:r>
              <a:rPr sz="1800" b="1" dirty="0">
                <a:solidFill>
                  <a:srgbClr val="434343"/>
                </a:solidFill>
                <a:latin typeface="Roboto Bk"/>
                <a:cs typeface="Roboto Bk"/>
              </a:rPr>
              <a:t>and</a:t>
            </a:r>
            <a:r>
              <a:rPr sz="1800" b="1" spc="-75" dirty="0">
                <a:solidFill>
                  <a:srgbClr val="434343"/>
                </a:solidFill>
                <a:latin typeface="Roboto Bk"/>
                <a:cs typeface="Roboto Bk"/>
              </a:rPr>
              <a:t> </a:t>
            </a:r>
            <a:r>
              <a:rPr sz="1800" b="1" spc="-20" dirty="0">
                <a:solidFill>
                  <a:srgbClr val="434343"/>
                </a:solidFill>
                <a:latin typeface="Roboto Bk"/>
                <a:cs typeface="Roboto Bk"/>
              </a:rPr>
              <a:t>insights</a:t>
            </a:r>
            <a:r>
              <a:rPr sz="1800" b="1" spc="-60" dirty="0">
                <a:solidFill>
                  <a:srgbClr val="434343"/>
                </a:solidFill>
                <a:latin typeface="Roboto Bk"/>
                <a:cs typeface="Roboto Bk"/>
              </a:rPr>
              <a:t> </a:t>
            </a:r>
            <a:r>
              <a:rPr sz="1800" b="1" dirty="0">
                <a:solidFill>
                  <a:srgbClr val="434343"/>
                </a:solidFill>
                <a:latin typeface="Roboto Bk"/>
                <a:cs typeface="Roboto Bk"/>
              </a:rPr>
              <a:t>from</a:t>
            </a:r>
            <a:r>
              <a:rPr sz="1800" b="1" spc="-65" dirty="0">
                <a:solidFill>
                  <a:srgbClr val="434343"/>
                </a:solidFill>
                <a:latin typeface="Roboto Bk"/>
                <a:cs typeface="Roboto Bk"/>
              </a:rPr>
              <a:t> </a:t>
            </a:r>
            <a:r>
              <a:rPr sz="1800" b="1" spc="-10" dirty="0">
                <a:solidFill>
                  <a:srgbClr val="434343"/>
                </a:solidFill>
                <a:latin typeface="Roboto Bk"/>
                <a:cs typeface="Roboto Bk"/>
              </a:rPr>
              <a:t>given</a:t>
            </a:r>
            <a:r>
              <a:rPr sz="1800" b="1" spc="-65" dirty="0">
                <a:solidFill>
                  <a:srgbClr val="434343"/>
                </a:solidFill>
                <a:latin typeface="Roboto Bk"/>
                <a:cs typeface="Roboto Bk"/>
              </a:rPr>
              <a:t> </a:t>
            </a:r>
            <a:r>
              <a:rPr sz="1800" b="1" spc="-10" dirty="0">
                <a:solidFill>
                  <a:srgbClr val="434343"/>
                </a:solidFill>
                <a:latin typeface="Roboto Bk"/>
                <a:cs typeface="Roboto Bk"/>
              </a:rPr>
              <a:t>dataset</a:t>
            </a:r>
            <a:endParaRPr sz="1800">
              <a:latin typeface="Roboto Bk"/>
              <a:cs typeface="Roboto Bk"/>
            </a:endParaRPr>
          </a:p>
          <a:p>
            <a:pPr>
              <a:lnSpc>
                <a:spcPct val="100000"/>
              </a:lnSpc>
              <a:spcBef>
                <a:spcPts val="645"/>
              </a:spcBef>
            </a:pPr>
            <a:endParaRPr sz="1800">
              <a:latin typeface="Roboto Bk"/>
              <a:cs typeface="Roboto Bk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b="1" spc="-80" dirty="0">
                <a:solidFill>
                  <a:srgbClr val="434343"/>
                </a:solidFill>
                <a:latin typeface="Roboto Bk"/>
                <a:cs typeface="Roboto Bk"/>
              </a:rPr>
              <a:t>Real-</a:t>
            </a:r>
            <a:r>
              <a:rPr sz="1800" b="1" dirty="0">
                <a:solidFill>
                  <a:srgbClr val="434343"/>
                </a:solidFill>
                <a:latin typeface="Roboto Bk"/>
                <a:cs typeface="Roboto Bk"/>
              </a:rPr>
              <a:t>LIFE</a:t>
            </a:r>
            <a:r>
              <a:rPr sz="1800" b="1" spc="-60" dirty="0">
                <a:solidFill>
                  <a:srgbClr val="434343"/>
                </a:solidFill>
                <a:latin typeface="Roboto Bk"/>
                <a:cs typeface="Roboto Bk"/>
              </a:rPr>
              <a:t> </a:t>
            </a:r>
            <a:r>
              <a:rPr sz="1800" b="1" spc="-10" dirty="0">
                <a:solidFill>
                  <a:srgbClr val="434343"/>
                </a:solidFill>
                <a:latin typeface="Roboto Bk"/>
                <a:cs typeface="Roboto Bk"/>
              </a:rPr>
              <a:t>Example:</a:t>
            </a:r>
            <a:endParaRPr sz="1800">
              <a:latin typeface="Roboto Bk"/>
              <a:cs typeface="Roboto Bk"/>
            </a:endParaRPr>
          </a:p>
          <a:p>
            <a:pPr>
              <a:lnSpc>
                <a:spcPct val="100000"/>
              </a:lnSpc>
            </a:pPr>
            <a:endParaRPr sz="1800">
              <a:latin typeface="Roboto Bk"/>
              <a:cs typeface="Roboto Bk"/>
            </a:endParaRPr>
          </a:p>
          <a:p>
            <a:pPr>
              <a:lnSpc>
                <a:spcPct val="100000"/>
              </a:lnSpc>
              <a:spcBef>
                <a:spcPts val="360"/>
              </a:spcBef>
            </a:pPr>
            <a:endParaRPr sz="1800">
              <a:latin typeface="Roboto Bk"/>
              <a:cs typeface="Roboto Bk"/>
            </a:endParaRPr>
          </a:p>
          <a:p>
            <a:pPr marL="853440">
              <a:lnSpc>
                <a:spcPct val="100000"/>
              </a:lnSpc>
            </a:pPr>
            <a:r>
              <a:rPr sz="2500" b="1" spc="-10" dirty="0">
                <a:latin typeface="Roboto Bk"/>
                <a:cs typeface="Roboto Bk"/>
              </a:rPr>
              <a:t>Humans</a:t>
            </a:r>
            <a:endParaRPr sz="2500">
              <a:latin typeface="Roboto Bk"/>
              <a:cs typeface="Roboto Bk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0550" y="470661"/>
            <a:ext cx="562925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Unsupervised</a:t>
            </a:r>
            <a:r>
              <a:rPr spc="-130" dirty="0"/>
              <a:t> </a:t>
            </a:r>
            <a:r>
              <a:rPr dirty="0"/>
              <a:t>ML</a:t>
            </a:r>
            <a:r>
              <a:rPr spc="-60" dirty="0"/>
              <a:t> </a:t>
            </a:r>
            <a:r>
              <a:rPr spc="-465" dirty="0"/>
              <a:t>-</a:t>
            </a:r>
            <a:r>
              <a:rPr spc="-5" dirty="0"/>
              <a:t> </a:t>
            </a:r>
            <a:r>
              <a:rPr spc="-50" dirty="0"/>
              <a:t>Why?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880972" y="1724405"/>
            <a:ext cx="6662827" cy="140294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sz="1800" spc="-50" dirty="0">
                <a:solidFill>
                  <a:srgbClr val="434343"/>
                </a:solidFill>
                <a:latin typeface="Segoe UI Symbol"/>
                <a:cs typeface="Segoe UI Symbol"/>
              </a:rPr>
              <a:t>❏</a:t>
            </a:r>
            <a:r>
              <a:rPr sz="1800" dirty="0">
                <a:solidFill>
                  <a:srgbClr val="434343"/>
                </a:solidFill>
                <a:latin typeface="Segoe UI Symbol"/>
                <a:cs typeface="Segoe UI Symbol"/>
              </a:rPr>
              <a:t>	</a:t>
            </a:r>
            <a:r>
              <a:rPr sz="1800" b="1" dirty="0">
                <a:solidFill>
                  <a:srgbClr val="434343"/>
                </a:solidFill>
                <a:latin typeface="Roboto Bk"/>
                <a:cs typeface="Roboto Bk"/>
              </a:rPr>
              <a:t>When</a:t>
            </a:r>
            <a:r>
              <a:rPr sz="1800" b="1" spc="-70" dirty="0">
                <a:solidFill>
                  <a:srgbClr val="434343"/>
                </a:solidFill>
                <a:latin typeface="Roboto Bk"/>
                <a:cs typeface="Roboto Bk"/>
              </a:rPr>
              <a:t> </a:t>
            </a:r>
            <a:r>
              <a:rPr sz="1800" b="1" dirty="0">
                <a:solidFill>
                  <a:srgbClr val="434343"/>
                </a:solidFill>
                <a:latin typeface="Roboto Bk"/>
                <a:cs typeface="Roboto Bk"/>
              </a:rPr>
              <a:t>0</a:t>
            </a:r>
            <a:r>
              <a:rPr sz="1800" b="1" spc="-70" dirty="0">
                <a:solidFill>
                  <a:srgbClr val="434343"/>
                </a:solidFill>
                <a:latin typeface="Roboto Bk"/>
                <a:cs typeface="Roboto Bk"/>
              </a:rPr>
              <a:t> </a:t>
            </a:r>
            <a:r>
              <a:rPr sz="1800" b="1" dirty="0">
                <a:solidFill>
                  <a:srgbClr val="434343"/>
                </a:solidFill>
                <a:latin typeface="Roboto Bk"/>
                <a:cs typeface="Roboto Bk"/>
              </a:rPr>
              <a:t>manual</a:t>
            </a:r>
            <a:r>
              <a:rPr sz="1800" b="1" spc="-85" dirty="0">
                <a:solidFill>
                  <a:srgbClr val="434343"/>
                </a:solidFill>
                <a:latin typeface="Roboto Bk"/>
                <a:cs typeface="Roboto Bk"/>
              </a:rPr>
              <a:t> </a:t>
            </a:r>
            <a:r>
              <a:rPr sz="1800" b="1" dirty="0">
                <a:solidFill>
                  <a:srgbClr val="434343"/>
                </a:solidFill>
                <a:latin typeface="Roboto Bk"/>
                <a:cs typeface="Roboto Bk"/>
              </a:rPr>
              <a:t>labour</a:t>
            </a:r>
            <a:r>
              <a:rPr sz="1800" b="1" spc="-75" dirty="0">
                <a:solidFill>
                  <a:srgbClr val="434343"/>
                </a:solidFill>
                <a:latin typeface="Roboto Bk"/>
                <a:cs typeface="Roboto Bk"/>
              </a:rPr>
              <a:t> </a:t>
            </a:r>
            <a:r>
              <a:rPr sz="1800" b="1" dirty="0">
                <a:solidFill>
                  <a:srgbClr val="434343"/>
                </a:solidFill>
                <a:latin typeface="Roboto Bk"/>
                <a:cs typeface="Roboto Bk"/>
              </a:rPr>
              <a:t>is</a:t>
            </a:r>
            <a:r>
              <a:rPr sz="1800" b="1" spc="-65" dirty="0">
                <a:solidFill>
                  <a:srgbClr val="434343"/>
                </a:solidFill>
                <a:latin typeface="Roboto Bk"/>
                <a:cs typeface="Roboto Bk"/>
              </a:rPr>
              <a:t> </a:t>
            </a:r>
            <a:r>
              <a:rPr sz="1800" b="1" dirty="0">
                <a:solidFill>
                  <a:srgbClr val="434343"/>
                </a:solidFill>
                <a:latin typeface="Roboto Bk"/>
                <a:cs typeface="Roboto Bk"/>
              </a:rPr>
              <a:t>desired</a:t>
            </a:r>
            <a:r>
              <a:rPr sz="1800" b="1" spc="-65" dirty="0">
                <a:solidFill>
                  <a:srgbClr val="434343"/>
                </a:solidFill>
                <a:latin typeface="Roboto Bk"/>
                <a:cs typeface="Roboto Bk"/>
              </a:rPr>
              <a:t> </a:t>
            </a:r>
            <a:r>
              <a:rPr sz="1800" b="1" dirty="0">
                <a:solidFill>
                  <a:srgbClr val="434343"/>
                </a:solidFill>
                <a:latin typeface="Roboto Bk"/>
                <a:cs typeface="Roboto Bk"/>
              </a:rPr>
              <a:t>in</a:t>
            </a:r>
            <a:r>
              <a:rPr sz="1800" b="1" spc="-60" dirty="0">
                <a:solidFill>
                  <a:srgbClr val="434343"/>
                </a:solidFill>
                <a:latin typeface="Roboto Bk"/>
                <a:cs typeface="Roboto Bk"/>
              </a:rPr>
              <a:t> </a:t>
            </a:r>
            <a:r>
              <a:rPr sz="1800" b="1" spc="-10" dirty="0">
                <a:solidFill>
                  <a:srgbClr val="434343"/>
                </a:solidFill>
                <a:latin typeface="Roboto Bk"/>
                <a:cs typeface="Roboto Bk"/>
              </a:rPr>
              <a:t>training.</a:t>
            </a:r>
            <a:endParaRPr sz="1800" dirty="0">
              <a:latin typeface="Roboto Bk"/>
              <a:cs typeface="Roboto Bk"/>
            </a:endParaRPr>
          </a:p>
          <a:p>
            <a:pPr marL="12700">
              <a:lnSpc>
                <a:spcPct val="100000"/>
              </a:lnSpc>
              <a:spcBef>
                <a:spcPts val="2160"/>
              </a:spcBef>
              <a:tabLst>
                <a:tab pos="354965" algn="l"/>
              </a:tabLst>
            </a:pPr>
            <a:r>
              <a:rPr sz="1800" spc="-50" dirty="0">
                <a:solidFill>
                  <a:srgbClr val="434343"/>
                </a:solidFill>
                <a:latin typeface="Segoe UI Symbol"/>
                <a:cs typeface="Segoe UI Symbol"/>
              </a:rPr>
              <a:t>❏</a:t>
            </a:r>
            <a:r>
              <a:rPr sz="1800" dirty="0">
                <a:solidFill>
                  <a:srgbClr val="434343"/>
                </a:solidFill>
                <a:latin typeface="Segoe UI Symbol"/>
                <a:cs typeface="Segoe UI Symbol"/>
              </a:rPr>
              <a:t>	</a:t>
            </a:r>
            <a:r>
              <a:rPr sz="1800" b="1" dirty="0">
                <a:solidFill>
                  <a:srgbClr val="434343"/>
                </a:solidFill>
                <a:latin typeface="Roboto Bk"/>
                <a:cs typeface="Roboto Bk"/>
              </a:rPr>
              <a:t>When</a:t>
            </a:r>
            <a:r>
              <a:rPr sz="1800" b="1" spc="-75" dirty="0">
                <a:solidFill>
                  <a:srgbClr val="434343"/>
                </a:solidFill>
                <a:latin typeface="Roboto Bk"/>
                <a:cs typeface="Roboto Bk"/>
              </a:rPr>
              <a:t> </a:t>
            </a:r>
            <a:r>
              <a:rPr sz="1800" b="1" spc="-10" dirty="0">
                <a:solidFill>
                  <a:srgbClr val="434343"/>
                </a:solidFill>
                <a:latin typeface="Roboto Bk"/>
                <a:cs typeface="Roboto Bk"/>
              </a:rPr>
              <a:t>it</a:t>
            </a:r>
            <a:r>
              <a:rPr sz="1800" b="1" spc="-70" dirty="0">
                <a:solidFill>
                  <a:srgbClr val="434343"/>
                </a:solidFill>
                <a:latin typeface="Roboto Bk"/>
                <a:cs typeface="Roboto Bk"/>
              </a:rPr>
              <a:t> </a:t>
            </a:r>
            <a:r>
              <a:rPr sz="1800" b="1" dirty="0">
                <a:solidFill>
                  <a:srgbClr val="434343"/>
                </a:solidFill>
                <a:latin typeface="Roboto Bk"/>
                <a:cs typeface="Roboto Bk"/>
              </a:rPr>
              <a:t>is</a:t>
            </a:r>
            <a:r>
              <a:rPr sz="1800" b="1" spc="-55" dirty="0">
                <a:solidFill>
                  <a:srgbClr val="434343"/>
                </a:solidFill>
                <a:latin typeface="Roboto Bk"/>
                <a:cs typeface="Roboto Bk"/>
              </a:rPr>
              <a:t> </a:t>
            </a:r>
            <a:r>
              <a:rPr sz="1800" b="1" spc="-30" dirty="0">
                <a:solidFill>
                  <a:srgbClr val="434343"/>
                </a:solidFill>
                <a:latin typeface="Roboto Bk"/>
                <a:cs typeface="Roboto Bk"/>
              </a:rPr>
              <a:t>difficult</a:t>
            </a:r>
            <a:r>
              <a:rPr sz="1800" b="1" spc="-85" dirty="0">
                <a:solidFill>
                  <a:srgbClr val="434343"/>
                </a:solidFill>
                <a:latin typeface="Roboto Bk"/>
                <a:cs typeface="Roboto Bk"/>
              </a:rPr>
              <a:t> </a:t>
            </a:r>
            <a:r>
              <a:rPr sz="1800" b="1" dirty="0">
                <a:solidFill>
                  <a:srgbClr val="434343"/>
                </a:solidFill>
                <a:latin typeface="Roboto Bk"/>
                <a:cs typeface="Roboto Bk"/>
              </a:rPr>
              <a:t>to</a:t>
            </a:r>
            <a:r>
              <a:rPr sz="1800" b="1" spc="-70" dirty="0">
                <a:solidFill>
                  <a:srgbClr val="434343"/>
                </a:solidFill>
                <a:latin typeface="Roboto Bk"/>
                <a:cs typeface="Roboto Bk"/>
              </a:rPr>
              <a:t> </a:t>
            </a:r>
            <a:r>
              <a:rPr sz="1800" b="1" spc="-10" dirty="0">
                <a:solidFill>
                  <a:srgbClr val="434343"/>
                </a:solidFill>
                <a:latin typeface="Roboto Bk"/>
                <a:cs typeface="Roboto Bk"/>
              </a:rPr>
              <a:t>find</a:t>
            </a:r>
            <a:r>
              <a:rPr sz="1800" b="1" spc="-70" dirty="0">
                <a:solidFill>
                  <a:srgbClr val="434343"/>
                </a:solidFill>
                <a:latin typeface="Roboto Bk"/>
                <a:cs typeface="Roboto Bk"/>
              </a:rPr>
              <a:t> </a:t>
            </a:r>
            <a:r>
              <a:rPr sz="1800" b="1" spc="-10" dirty="0">
                <a:solidFill>
                  <a:srgbClr val="434343"/>
                </a:solidFill>
                <a:latin typeface="Roboto Bk"/>
                <a:cs typeface="Roboto Bk"/>
              </a:rPr>
              <a:t>patterns.</a:t>
            </a:r>
            <a:endParaRPr sz="1800" dirty="0">
              <a:latin typeface="Roboto Bk"/>
              <a:cs typeface="Roboto Bk"/>
            </a:endParaRPr>
          </a:p>
          <a:p>
            <a:pPr>
              <a:lnSpc>
                <a:spcPct val="100000"/>
              </a:lnSpc>
            </a:pPr>
            <a:endParaRPr sz="1800" dirty="0">
              <a:latin typeface="Roboto Bk"/>
              <a:cs typeface="Roboto Bk"/>
            </a:endParaRPr>
          </a:p>
          <a:p>
            <a:pPr marL="12700">
              <a:lnSpc>
                <a:spcPct val="100000"/>
              </a:lnSpc>
              <a:tabLst>
                <a:tab pos="354965" algn="l"/>
              </a:tabLst>
            </a:pPr>
            <a:r>
              <a:rPr sz="1800" spc="-50" dirty="0">
                <a:solidFill>
                  <a:srgbClr val="434343"/>
                </a:solidFill>
                <a:latin typeface="Segoe UI Symbol"/>
                <a:cs typeface="Segoe UI Symbol"/>
              </a:rPr>
              <a:t>❏</a:t>
            </a:r>
            <a:r>
              <a:rPr sz="1800" dirty="0">
                <a:solidFill>
                  <a:srgbClr val="434343"/>
                </a:solidFill>
                <a:latin typeface="Segoe UI Symbol"/>
                <a:cs typeface="Segoe UI Symbol"/>
              </a:rPr>
              <a:t>	</a:t>
            </a:r>
            <a:r>
              <a:rPr sz="1800" b="1" dirty="0">
                <a:solidFill>
                  <a:srgbClr val="434343"/>
                </a:solidFill>
                <a:latin typeface="Roboto Bk"/>
                <a:cs typeface="Roboto Bk"/>
              </a:rPr>
              <a:t>When</a:t>
            </a:r>
            <a:r>
              <a:rPr sz="1800" b="1" spc="-65" dirty="0">
                <a:solidFill>
                  <a:srgbClr val="434343"/>
                </a:solidFill>
                <a:latin typeface="Roboto Bk"/>
                <a:cs typeface="Roboto Bk"/>
              </a:rPr>
              <a:t> </a:t>
            </a:r>
            <a:r>
              <a:rPr sz="1800" b="1" dirty="0">
                <a:solidFill>
                  <a:srgbClr val="434343"/>
                </a:solidFill>
                <a:latin typeface="Roboto Bk"/>
                <a:cs typeface="Roboto Bk"/>
              </a:rPr>
              <a:t>there</a:t>
            </a:r>
            <a:r>
              <a:rPr sz="1800" b="1" spc="-65" dirty="0">
                <a:solidFill>
                  <a:srgbClr val="434343"/>
                </a:solidFill>
                <a:latin typeface="Roboto Bk"/>
                <a:cs typeface="Roboto Bk"/>
              </a:rPr>
              <a:t> </a:t>
            </a:r>
            <a:r>
              <a:rPr sz="1800" b="1" dirty="0">
                <a:solidFill>
                  <a:srgbClr val="434343"/>
                </a:solidFill>
                <a:latin typeface="Roboto Bk"/>
                <a:cs typeface="Roboto Bk"/>
              </a:rPr>
              <a:t>is</a:t>
            </a:r>
            <a:r>
              <a:rPr sz="1800" b="1" spc="-60" dirty="0">
                <a:solidFill>
                  <a:srgbClr val="434343"/>
                </a:solidFill>
                <a:latin typeface="Roboto Bk"/>
                <a:cs typeface="Roboto Bk"/>
              </a:rPr>
              <a:t> </a:t>
            </a:r>
            <a:r>
              <a:rPr sz="1800" b="1" dirty="0">
                <a:solidFill>
                  <a:srgbClr val="434343"/>
                </a:solidFill>
                <a:latin typeface="Roboto Bk"/>
                <a:cs typeface="Roboto Bk"/>
              </a:rPr>
              <a:t>a</a:t>
            </a:r>
            <a:r>
              <a:rPr sz="1800" b="1" spc="-55" dirty="0">
                <a:solidFill>
                  <a:srgbClr val="434343"/>
                </a:solidFill>
                <a:latin typeface="Roboto Bk"/>
                <a:cs typeface="Roboto Bk"/>
              </a:rPr>
              <a:t> </a:t>
            </a:r>
            <a:r>
              <a:rPr sz="1800" b="1" dirty="0">
                <a:solidFill>
                  <a:srgbClr val="434343"/>
                </a:solidFill>
                <a:latin typeface="Roboto Bk"/>
                <a:cs typeface="Roboto Bk"/>
              </a:rPr>
              <a:t>need</a:t>
            </a:r>
            <a:r>
              <a:rPr sz="1800" b="1" spc="-70" dirty="0">
                <a:solidFill>
                  <a:srgbClr val="434343"/>
                </a:solidFill>
                <a:latin typeface="Roboto Bk"/>
                <a:cs typeface="Roboto Bk"/>
              </a:rPr>
              <a:t> </a:t>
            </a:r>
            <a:r>
              <a:rPr sz="1800" b="1" dirty="0">
                <a:solidFill>
                  <a:srgbClr val="434343"/>
                </a:solidFill>
                <a:latin typeface="Roboto Bk"/>
                <a:cs typeface="Roboto Bk"/>
              </a:rPr>
              <a:t>to</a:t>
            </a:r>
            <a:r>
              <a:rPr sz="1800" b="1" spc="-55" dirty="0">
                <a:solidFill>
                  <a:srgbClr val="434343"/>
                </a:solidFill>
                <a:latin typeface="Roboto Bk"/>
                <a:cs typeface="Roboto Bk"/>
              </a:rPr>
              <a:t> </a:t>
            </a:r>
            <a:r>
              <a:rPr sz="1800" b="1" dirty="0">
                <a:solidFill>
                  <a:srgbClr val="434343"/>
                </a:solidFill>
                <a:latin typeface="Roboto Bk"/>
                <a:cs typeface="Roboto Bk"/>
              </a:rPr>
              <a:t>find</a:t>
            </a:r>
            <a:r>
              <a:rPr sz="1800" b="1" spc="-60" dirty="0">
                <a:solidFill>
                  <a:srgbClr val="434343"/>
                </a:solidFill>
                <a:latin typeface="Roboto Bk"/>
                <a:cs typeface="Roboto Bk"/>
              </a:rPr>
              <a:t> </a:t>
            </a:r>
            <a:r>
              <a:rPr sz="1800" b="1" dirty="0">
                <a:solidFill>
                  <a:srgbClr val="434343"/>
                </a:solidFill>
                <a:latin typeface="Roboto Bk"/>
                <a:cs typeface="Roboto Bk"/>
              </a:rPr>
              <a:t>the</a:t>
            </a:r>
            <a:r>
              <a:rPr sz="1800" b="1" spc="-65" dirty="0">
                <a:solidFill>
                  <a:srgbClr val="434343"/>
                </a:solidFill>
                <a:latin typeface="Roboto Bk"/>
                <a:cs typeface="Roboto Bk"/>
              </a:rPr>
              <a:t> </a:t>
            </a:r>
            <a:r>
              <a:rPr sz="1800" b="1" dirty="0">
                <a:solidFill>
                  <a:srgbClr val="434343"/>
                </a:solidFill>
                <a:latin typeface="Roboto Bk"/>
                <a:cs typeface="Roboto Bk"/>
              </a:rPr>
              <a:t>hidden</a:t>
            </a:r>
            <a:r>
              <a:rPr sz="1800" b="1" spc="-80" dirty="0">
                <a:solidFill>
                  <a:srgbClr val="434343"/>
                </a:solidFill>
                <a:latin typeface="Roboto Bk"/>
                <a:cs typeface="Roboto Bk"/>
              </a:rPr>
              <a:t> </a:t>
            </a:r>
            <a:r>
              <a:rPr sz="1800" b="1" spc="-10" dirty="0">
                <a:solidFill>
                  <a:srgbClr val="434343"/>
                </a:solidFill>
                <a:latin typeface="Roboto Bk"/>
                <a:cs typeface="Roboto Bk"/>
              </a:rPr>
              <a:t>pattern</a:t>
            </a:r>
            <a:endParaRPr sz="1800" dirty="0">
              <a:latin typeface="Roboto Bk"/>
              <a:cs typeface="Roboto Bk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4455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Unsupervised</a:t>
            </a:r>
            <a:r>
              <a:rPr spc="-130" dirty="0"/>
              <a:t> </a:t>
            </a:r>
            <a:r>
              <a:rPr dirty="0"/>
              <a:t>ML</a:t>
            </a:r>
            <a:r>
              <a:rPr spc="-60" dirty="0"/>
              <a:t> </a:t>
            </a:r>
            <a:r>
              <a:rPr spc="-465" dirty="0"/>
              <a:t>-</a:t>
            </a:r>
            <a:r>
              <a:rPr spc="-5" dirty="0"/>
              <a:t> </a:t>
            </a:r>
            <a:r>
              <a:rPr spc="-20" dirty="0"/>
              <a:t>How?</a:t>
            </a:r>
          </a:p>
        </p:txBody>
      </p:sp>
      <p:sp>
        <p:nvSpPr>
          <p:cNvPr id="3" name="object 3"/>
          <p:cNvSpPr/>
          <p:nvPr/>
        </p:nvSpPr>
        <p:spPr>
          <a:xfrm>
            <a:off x="2878835" y="1232916"/>
            <a:ext cx="3240405" cy="928369"/>
          </a:xfrm>
          <a:custGeom>
            <a:avLst/>
            <a:gdLst/>
            <a:ahLst/>
            <a:cxnLst/>
            <a:rect l="l" t="t" r="r" b="b"/>
            <a:pathLst>
              <a:path w="3240404" h="928369">
                <a:moveTo>
                  <a:pt x="1620012" y="0"/>
                </a:moveTo>
                <a:lnTo>
                  <a:pt x="1549738" y="428"/>
                </a:lnTo>
                <a:lnTo>
                  <a:pt x="1480230" y="1703"/>
                </a:lnTo>
                <a:lnTo>
                  <a:pt x="1411547" y="3806"/>
                </a:lnTo>
                <a:lnTo>
                  <a:pt x="1343750" y="6720"/>
                </a:lnTo>
                <a:lnTo>
                  <a:pt x="1276900" y="10428"/>
                </a:lnTo>
                <a:lnTo>
                  <a:pt x="1211058" y="14912"/>
                </a:lnTo>
                <a:lnTo>
                  <a:pt x="1146285" y="20155"/>
                </a:lnTo>
                <a:lnTo>
                  <a:pt x="1082642" y="26140"/>
                </a:lnTo>
                <a:lnTo>
                  <a:pt x="1020188" y="32848"/>
                </a:lnTo>
                <a:lnTo>
                  <a:pt x="958986" y="40263"/>
                </a:lnTo>
                <a:lnTo>
                  <a:pt x="899095" y="48367"/>
                </a:lnTo>
                <a:lnTo>
                  <a:pt x="840577" y="57143"/>
                </a:lnTo>
                <a:lnTo>
                  <a:pt x="783492" y="66573"/>
                </a:lnTo>
                <a:lnTo>
                  <a:pt x="727901" y="76641"/>
                </a:lnTo>
                <a:lnTo>
                  <a:pt x="673866" y="87327"/>
                </a:lnTo>
                <a:lnTo>
                  <a:pt x="621446" y="98616"/>
                </a:lnTo>
                <a:lnTo>
                  <a:pt x="570702" y="110490"/>
                </a:lnTo>
                <a:lnTo>
                  <a:pt x="521696" y="122931"/>
                </a:lnTo>
                <a:lnTo>
                  <a:pt x="474487" y="135921"/>
                </a:lnTo>
                <a:lnTo>
                  <a:pt x="429138" y="149444"/>
                </a:lnTo>
                <a:lnTo>
                  <a:pt x="385708" y="163483"/>
                </a:lnTo>
                <a:lnTo>
                  <a:pt x="344259" y="178018"/>
                </a:lnTo>
                <a:lnTo>
                  <a:pt x="304850" y="193034"/>
                </a:lnTo>
                <a:lnTo>
                  <a:pt x="267544" y="208513"/>
                </a:lnTo>
                <a:lnTo>
                  <a:pt x="232400" y="224437"/>
                </a:lnTo>
                <a:lnTo>
                  <a:pt x="168845" y="257552"/>
                </a:lnTo>
                <a:lnTo>
                  <a:pt x="114669" y="292239"/>
                </a:lnTo>
                <a:lnTo>
                  <a:pt x="70360" y="328360"/>
                </a:lnTo>
                <a:lnTo>
                  <a:pt x="36404" y="365775"/>
                </a:lnTo>
                <a:lnTo>
                  <a:pt x="13288" y="404344"/>
                </a:lnTo>
                <a:lnTo>
                  <a:pt x="1496" y="443928"/>
                </a:lnTo>
                <a:lnTo>
                  <a:pt x="0" y="464058"/>
                </a:lnTo>
                <a:lnTo>
                  <a:pt x="1496" y="484187"/>
                </a:lnTo>
                <a:lnTo>
                  <a:pt x="13288" y="523771"/>
                </a:lnTo>
                <a:lnTo>
                  <a:pt x="36404" y="562340"/>
                </a:lnTo>
                <a:lnTo>
                  <a:pt x="70360" y="599755"/>
                </a:lnTo>
                <a:lnTo>
                  <a:pt x="114669" y="635876"/>
                </a:lnTo>
                <a:lnTo>
                  <a:pt x="168845" y="670563"/>
                </a:lnTo>
                <a:lnTo>
                  <a:pt x="232400" y="703678"/>
                </a:lnTo>
                <a:lnTo>
                  <a:pt x="267544" y="719602"/>
                </a:lnTo>
                <a:lnTo>
                  <a:pt x="304850" y="735081"/>
                </a:lnTo>
                <a:lnTo>
                  <a:pt x="344259" y="750097"/>
                </a:lnTo>
                <a:lnTo>
                  <a:pt x="385708" y="764632"/>
                </a:lnTo>
                <a:lnTo>
                  <a:pt x="429138" y="778671"/>
                </a:lnTo>
                <a:lnTo>
                  <a:pt x="474487" y="792194"/>
                </a:lnTo>
                <a:lnTo>
                  <a:pt x="521696" y="805184"/>
                </a:lnTo>
                <a:lnTo>
                  <a:pt x="570702" y="817625"/>
                </a:lnTo>
                <a:lnTo>
                  <a:pt x="621446" y="829499"/>
                </a:lnTo>
                <a:lnTo>
                  <a:pt x="673866" y="840788"/>
                </a:lnTo>
                <a:lnTo>
                  <a:pt x="727901" y="851474"/>
                </a:lnTo>
                <a:lnTo>
                  <a:pt x="783492" y="861542"/>
                </a:lnTo>
                <a:lnTo>
                  <a:pt x="840577" y="870972"/>
                </a:lnTo>
                <a:lnTo>
                  <a:pt x="899095" y="879748"/>
                </a:lnTo>
                <a:lnTo>
                  <a:pt x="958986" y="887852"/>
                </a:lnTo>
                <a:lnTo>
                  <a:pt x="1020188" y="895267"/>
                </a:lnTo>
                <a:lnTo>
                  <a:pt x="1082642" y="901975"/>
                </a:lnTo>
                <a:lnTo>
                  <a:pt x="1146285" y="907960"/>
                </a:lnTo>
                <a:lnTo>
                  <a:pt x="1211058" y="913203"/>
                </a:lnTo>
                <a:lnTo>
                  <a:pt x="1276900" y="917687"/>
                </a:lnTo>
                <a:lnTo>
                  <a:pt x="1343750" y="921395"/>
                </a:lnTo>
                <a:lnTo>
                  <a:pt x="1411547" y="924309"/>
                </a:lnTo>
                <a:lnTo>
                  <a:pt x="1480230" y="926412"/>
                </a:lnTo>
                <a:lnTo>
                  <a:pt x="1549738" y="927687"/>
                </a:lnTo>
                <a:lnTo>
                  <a:pt x="1620012" y="928116"/>
                </a:lnTo>
                <a:lnTo>
                  <a:pt x="1690285" y="927687"/>
                </a:lnTo>
                <a:lnTo>
                  <a:pt x="1759793" y="926412"/>
                </a:lnTo>
                <a:lnTo>
                  <a:pt x="1828476" y="924309"/>
                </a:lnTo>
                <a:lnTo>
                  <a:pt x="1896273" y="921395"/>
                </a:lnTo>
                <a:lnTo>
                  <a:pt x="1963123" y="917687"/>
                </a:lnTo>
                <a:lnTo>
                  <a:pt x="2028965" y="913203"/>
                </a:lnTo>
                <a:lnTo>
                  <a:pt x="2093738" y="907960"/>
                </a:lnTo>
                <a:lnTo>
                  <a:pt x="2157381" y="901975"/>
                </a:lnTo>
                <a:lnTo>
                  <a:pt x="2219835" y="895267"/>
                </a:lnTo>
                <a:lnTo>
                  <a:pt x="2281037" y="887852"/>
                </a:lnTo>
                <a:lnTo>
                  <a:pt x="2340928" y="879748"/>
                </a:lnTo>
                <a:lnTo>
                  <a:pt x="2399446" y="870972"/>
                </a:lnTo>
                <a:lnTo>
                  <a:pt x="2456531" y="861542"/>
                </a:lnTo>
                <a:lnTo>
                  <a:pt x="2512122" y="851474"/>
                </a:lnTo>
                <a:lnTo>
                  <a:pt x="2566157" y="840788"/>
                </a:lnTo>
                <a:lnTo>
                  <a:pt x="2618577" y="829499"/>
                </a:lnTo>
                <a:lnTo>
                  <a:pt x="2669321" y="817625"/>
                </a:lnTo>
                <a:lnTo>
                  <a:pt x="2718327" y="805184"/>
                </a:lnTo>
                <a:lnTo>
                  <a:pt x="2765536" y="792194"/>
                </a:lnTo>
                <a:lnTo>
                  <a:pt x="2810885" y="778671"/>
                </a:lnTo>
                <a:lnTo>
                  <a:pt x="2854315" y="764632"/>
                </a:lnTo>
                <a:lnTo>
                  <a:pt x="2895764" y="750097"/>
                </a:lnTo>
                <a:lnTo>
                  <a:pt x="2935173" y="735081"/>
                </a:lnTo>
                <a:lnTo>
                  <a:pt x="2972479" y="719602"/>
                </a:lnTo>
                <a:lnTo>
                  <a:pt x="3007623" y="703678"/>
                </a:lnTo>
                <a:lnTo>
                  <a:pt x="3071178" y="670563"/>
                </a:lnTo>
                <a:lnTo>
                  <a:pt x="3125354" y="635876"/>
                </a:lnTo>
                <a:lnTo>
                  <a:pt x="3169663" y="599755"/>
                </a:lnTo>
                <a:lnTo>
                  <a:pt x="3203619" y="562340"/>
                </a:lnTo>
                <a:lnTo>
                  <a:pt x="3226735" y="523771"/>
                </a:lnTo>
                <a:lnTo>
                  <a:pt x="3238527" y="484187"/>
                </a:lnTo>
                <a:lnTo>
                  <a:pt x="3240024" y="464058"/>
                </a:lnTo>
                <a:lnTo>
                  <a:pt x="3238527" y="443928"/>
                </a:lnTo>
                <a:lnTo>
                  <a:pt x="3226735" y="404344"/>
                </a:lnTo>
                <a:lnTo>
                  <a:pt x="3203619" y="365775"/>
                </a:lnTo>
                <a:lnTo>
                  <a:pt x="3169663" y="328360"/>
                </a:lnTo>
                <a:lnTo>
                  <a:pt x="3125354" y="292239"/>
                </a:lnTo>
                <a:lnTo>
                  <a:pt x="3071178" y="257552"/>
                </a:lnTo>
                <a:lnTo>
                  <a:pt x="3007623" y="224437"/>
                </a:lnTo>
                <a:lnTo>
                  <a:pt x="2972479" y="208513"/>
                </a:lnTo>
                <a:lnTo>
                  <a:pt x="2935173" y="193034"/>
                </a:lnTo>
                <a:lnTo>
                  <a:pt x="2895764" y="178018"/>
                </a:lnTo>
                <a:lnTo>
                  <a:pt x="2854315" y="163483"/>
                </a:lnTo>
                <a:lnTo>
                  <a:pt x="2810885" y="149444"/>
                </a:lnTo>
                <a:lnTo>
                  <a:pt x="2765536" y="135921"/>
                </a:lnTo>
                <a:lnTo>
                  <a:pt x="2718327" y="122931"/>
                </a:lnTo>
                <a:lnTo>
                  <a:pt x="2669321" y="110490"/>
                </a:lnTo>
                <a:lnTo>
                  <a:pt x="2618577" y="98616"/>
                </a:lnTo>
                <a:lnTo>
                  <a:pt x="2566157" y="87327"/>
                </a:lnTo>
                <a:lnTo>
                  <a:pt x="2512122" y="76641"/>
                </a:lnTo>
                <a:lnTo>
                  <a:pt x="2456531" y="66573"/>
                </a:lnTo>
                <a:lnTo>
                  <a:pt x="2399446" y="57143"/>
                </a:lnTo>
                <a:lnTo>
                  <a:pt x="2340928" y="48367"/>
                </a:lnTo>
                <a:lnTo>
                  <a:pt x="2281037" y="40263"/>
                </a:lnTo>
                <a:lnTo>
                  <a:pt x="2219835" y="32848"/>
                </a:lnTo>
                <a:lnTo>
                  <a:pt x="2157381" y="26140"/>
                </a:lnTo>
                <a:lnTo>
                  <a:pt x="2093738" y="20155"/>
                </a:lnTo>
                <a:lnTo>
                  <a:pt x="2028965" y="14912"/>
                </a:lnTo>
                <a:lnTo>
                  <a:pt x="1963123" y="10428"/>
                </a:lnTo>
                <a:lnTo>
                  <a:pt x="1896273" y="6720"/>
                </a:lnTo>
                <a:lnTo>
                  <a:pt x="1828476" y="3806"/>
                </a:lnTo>
                <a:lnTo>
                  <a:pt x="1759793" y="1703"/>
                </a:lnTo>
                <a:lnTo>
                  <a:pt x="1690285" y="428"/>
                </a:lnTo>
                <a:lnTo>
                  <a:pt x="1620012" y="0"/>
                </a:lnTo>
                <a:close/>
              </a:path>
            </a:pathLst>
          </a:custGeom>
          <a:solidFill>
            <a:srgbClr val="FFE4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496436" y="1524762"/>
            <a:ext cx="2002789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Arial MT"/>
                <a:cs typeface="Arial MT"/>
              </a:rPr>
              <a:t>Unsupervised</a:t>
            </a:r>
            <a:r>
              <a:rPr sz="2000" spc="-100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ML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097280" y="2802635"/>
            <a:ext cx="2312035" cy="608330"/>
          </a:xfrm>
          <a:custGeom>
            <a:avLst/>
            <a:gdLst/>
            <a:ahLst/>
            <a:cxnLst/>
            <a:rect l="l" t="t" r="r" b="b"/>
            <a:pathLst>
              <a:path w="2312035" h="608329">
                <a:moveTo>
                  <a:pt x="2210561" y="0"/>
                </a:moveTo>
                <a:lnTo>
                  <a:pt x="0" y="0"/>
                </a:lnTo>
                <a:lnTo>
                  <a:pt x="0" y="608076"/>
                </a:lnTo>
                <a:lnTo>
                  <a:pt x="2311908" y="608076"/>
                </a:lnTo>
                <a:lnTo>
                  <a:pt x="2311908" y="101345"/>
                </a:lnTo>
                <a:lnTo>
                  <a:pt x="2210561" y="0"/>
                </a:lnTo>
                <a:close/>
              </a:path>
            </a:pathLst>
          </a:custGeom>
          <a:solidFill>
            <a:srgbClr val="FFE4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641094" y="2960370"/>
            <a:ext cx="117221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latin typeface="Arial MT"/>
                <a:cs typeface="Arial MT"/>
              </a:rPr>
              <a:t>Clustering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500115" y="2781300"/>
            <a:ext cx="2400300" cy="607060"/>
          </a:xfrm>
          <a:custGeom>
            <a:avLst/>
            <a:gdLst/>
            <a:ahLst/>
            <a:cxnLst/>
            <a:rect l="l" t="t" r="r" b="b"/>
            <a:pathLst>
              <a:path w="2400300" h="607060">
                <a:moveTo>
                  <a:pt x="2299208" y="0"/>
                </a:moveTo>
                <a:lnTo>
                  <a:pt x="0" y="0"/>
                </a:lnTo>
                <a:lnTo>
                  <a:pt x="0" y="606551"/>
                </a:lnTo>
                <a:lnTo>
                  <a:pt x="2400300" y="606551"/>
                </a:lnTo>
                <a:lnTo>
                  <a:pt x="2400300" y="101092"/>
                </a:lnTo>
                <a:lnTo>
                  <a:pt x="2299208" y="0"/>
                </a:lnTo>
                <a:close/>
              </a:path>
            </a:pathLst>
          </a:custGeom>
          <a:solidFill>
            <a:srgbClr val="FFE4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011417" y="2938018"/>
            <a:ext cx="132842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latin typeface="Arial MT"/>
                <a:cs typeface="Arial MT"/>
              </a:rPr>
              <a:t>Association</a:t>
            </a:r>
            <a:endParaRPr sz="2000">
              <a:latin typeface="Arial MT"/>
              <a:cs typeface="Arial M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247900" y="1691639"/>
            <a:ext cx="4495165" cy="1115695"/>
            <a:chOff x="2247900" y="1691639"/>
            <a:chExt cx="4495165" cy="1115695"/>
          </a:xfrm>
        </p:grpSpPr>
        <p:sp>
          <p:nvSpPr>
            <p:cNvPr id="10" name="object 10"/>
            <p:cNvSpPr/>
            <p:nvPr/>
          </p:nvSpPr>
          <p:spPr>
            <a:xfrm>
              <a:off x="2252472" y="1696211"/>
              <a:ext cx="624840" cy="1106170"/>
            </a:xfrm>
            <a:custGeom>
              <a:avLst/>
              <a:gdLst/>
              <a:ahLst/>
              <a:cxnLst/>
              <a:rect l="l" t="t" r="r" b="b"/>
              <a:pathLst>
                <a:path w="624839" h="1106170">
                  <a:moveTo>
                    <a:pt x="0" y="1106043"/>
                  </a:moveTo>
                  <a:lnTo>
                    <a:pt x="0" y="0"/>
                  </a:lnTo>
                  <a:lnTo>
                    <a:pt x="624839" y="0"/>
                  </a:lnTo>
                </a:path>
              </a:pathLst>
            </a:custGeom>
            <a:ln w="9143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118859" y="1696211"/>
              <a:ext cx="619760" cy="1083945"/>
            </a:xfrm>
            <a:custGeom>
              <a:avLst/>
              <a:gdLst/>
              <a:ahLst/>
              <a:cxnLst/>
              <a:rect l="l" t="t" r="r" b="b"/>
              <a:pathLst>
                <a:path w="619759" h="1083945">
                  <a:moveTo>
                    <a:pt x="619506" y="1083945"/>
                  </a:moveTo>
                  <a:lnTo>
                    <a:pt x="619506" y="0"/>
                  </a:lnTo>
                  <a:lnTo>
                    <a:pt x="0" y="0"/>
                  </a:lnTo>
                </a:path>
              </a:pathLst>
            </a:custGeom>
            <a:ln w="914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9139" y="1581911"/>
            <a:ext cx="2339340" cy="1612392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3752469" y="2324100"/>
            <a:ext cx="1051560" cy="114300"/>
          </a:xfrm>
          <a:custGeom>
            <a:avLst/>
            <a:gdLst/>
            <a:ahLst/>
            <a:cxnLst/>
            <a:rect l="l" t="t" r="r" b="b"/>
            <a:pathLst>
              <a:path w="1051560" h="114300">
                <a:moveTo>
                  <a:pt x="938148" y="0"/>
                </a:moveTo>
                <a:lnTo>
                  <a:pt x="937345" y="38077"/>
                </a:lnTo>
                <a:lnTo>
                  <a:pt x="956436" y="38481"/>
                </a:lnTo>
                <a:lnTo>
                  <a:pt x="955683" y="76176"/>
                </a:lnTo>
                <a:lnTo>
                  <a:pt x="955675" y="76581"/>
                </a:lnTo>
                <a:lnTo>
                  <a:pt x="936532" y="76581"/>
                </a:lnTo>
                <a:lnTo>
                  <a:pt x="935735" y="114300"/>
                </a:lnTo>
                <a:lnTo>
                  <a:pt x="1015374" y="76581"/>
                </a:lnTo>
                <a:lnTo>
                  <a:pt x="955675" y="76581"/>
                </a:lnTo>
                <a:lnTo>
                  <a:pt x="936540" y="76176"/>
                </a:lnTo>
                <a:lnTo>
                  <a:pt x="1016228" y="76176"/>
                </a:lnTo>
                <a:lnTo>
                  <a:pt x="1051305" y="59562"/>
                </a:lnTo>
                <a:lnTo>
                  <a:pt x="938148" y="0"/>
                </a:lnTo>
                <a:close/>
              </a:path>
              <a:path w="1051560" h="114300">
                <a:moveTo>
                  <a:pt x="937345" y="38077"/>
                </a:moveTo>
                <a:lnTo>
                  <a:pt x="936540" y="76176"/>
                </a:lnTo>
                <a:lnTo>
                  <a:pt x="955675" y="76581"/>
                </a:lnTo>
                <a:lnTo>
                  <a:pt x="956436" y="38481"/>
                </a:lnTo>
                <a:lnTo>
                  <a:pt x="937345" y="38077"/>
                </a:lnTo>
                <a:close/>
              </a:path>
              <a:path w="1051560" h="114300">
                <a:moveTo>
                  <a:pt x="761" y="18287"/>
                </a:moveTo>
                <a:lnTo>
                  <a:pt x="0" y="56387"/>
                </a:lnTo>
                <a:lnTo>
                  <a:pt x="936540" y="76176"/>
                </a:lnTo>
                <a:lnTo>
                  <a:pt x="937336" y="38481"/>
                </a:lnTo>
                <a:lnTo>
                  <a:pt x="937345" y="38077"/>
                </a:lnTo>
                <a:lnTo>
                  <a:pt x="761" y="18287"/>
                </a:lnTo>
                <a:close/>
              </a:path>
            </a:pathLst>
          </a:custGeom>
          <a:solidFill>
            <a:srgbClr val="43434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109454" y="1749349"/>
            <a:ext cx="1101556" cy="1211254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6001511" y="2519172"/>
            <a:ext cx="558165" cy="577850"/>
            <a:chOff x="6001511" y="2519172"/>
            <a:chExt cx="558165" cy="577850"/>
          </a:xfrm>
        </p:grpSpPr>
        <p:sp>
          <p:nvSpPr>
            <p:cNvPr id="6" name="object 6"/>
            <p:cNvSpPr/>
            <p:nvPr/>
          </p:nvSpPr>
          <p:spPr>
            <a:xfrm>
              <a:off x="6006083" y="2523744"/>
              <a:ext cx="548640" cy="568960"/>
            </a:xfrm>
            <a:custGeom>
              <a:avLst/>
              <a:gdLst/>
              <a:ahLst/>
              <a:cxnLst/>
              <a:rect l="l" t="t" r="r" b="b"/>
              <a:pathLst>
                <a:path w="548640" h="568960">
                  <a:moveTo>
                    <a:pt x="437895" y="243458"/>
                  </a:moveTo>
                  <a:lnTo>
                    <a:pt x="437895" y="324993"/>
                  </a:lnTo>
                  <a:lnTo>
                    <a:pt x="548639" y="284225"/>
                  </a:lnTo>
                  <a:lnTo>
                    <a:pt x="437895" y="243458"/>
                  </a:lnTo>
                  <a:close/>
                </a:path>
                <a:path w="548640" h="568960">
                  <a:moveTo>
                    <a:pt x="313689" y="453770"/>
                  </a:moveTo>
                  <a:lnTo>
                    <a:pt x="234950" y="453770"/>
                  </a:lnTo>
                  <a:lnTo>
                    <a:pt x="274319" y="568451"/>
                  </a:lnTo>
                  <a:lnTo>
                    <a:pt x="313689" y="453770"/>
                  </a:lnTo>
                  <a:close/>
                </a:path>
                <a:path w="548640" h="568960">
                  <a:moveTo>
                    <a:pt x="130810" y="375285"/>
                  </a:moveTo>
                  <a:lnTo>
                    <a:pt x="80390" y="485139"/>
                  </a:lnTo>
                  <a:lnTo>
                    <a:pt x="186436" y="432943"/>
                  </a:lnTo>
                  <a:lnTo>
                    <a:pt x="130810" y="375285"/>
                  </a:lnTo>
                  <a:close/>
                </a:path>
                <a:path w="548640" h="568960">
                  <a:moveTo>
                    <a:pt x="417829" y="375285"/>
                  </a:moveTo>
                  <a:lnTo>
                    <a:pt x="362203" y="432943"/>
                  </a:lnTo>
                  <a:lnTo>
                    <a:pt x="468249" y="485139"/>
                  </a:lnTo>
                  <a:lnTo>
                    <a:pt x="417829" y="375285"/>
                  </a:lnTo>
                  <a:close/>
                </a:path>
                <a:path w="548640" h="568960">
                  <a:moveTo>
                    <a:pt x="274319" y="142112"/>
                  </a:moveTo>
                  <a:lnTo>
                    <a:pt x="230989" y="149358"/>
                  </a:lnTo>
                  <a:lnTo>
                    <a:pt x="193340" y="169532"/>
                  </a:lnTo>
                  <a:lnTo>
                    <a:pt x="163641" y="200296"/>
                  </a:lnTo>
                  <a:lnTo>
                    <a:pt x="144158" y="239307"/>
                  </a:lnTo>
                  <a:lnTo>
                    <a:pt x="137160" y="284225"/>
                  </a:lnTo>
                  <a:lnTo>
                    <a:pt x="144158" y="329144"/>
                  </a:lnTo>
                  <a:lnTo>
                    <a:pt x="163641" y="368155"/>
                  </a:lnTo>
                  <a:lnTo>
                    <a:pt x="193340" y="398919"/>
                  </a:lnTo>
                  <a:lnTo>
                    <a:pt x="230989" y="419093"/>
                  </a:lnTo>
                  <a:lnTo>
                    <a:pt x="274319" y="426338"/>
                  </a:lnTo>
                  <a:lnTo>
                    <a:pt x="317650" y="419093"/>
                  </a:lnTo>
                  <a:lnTo>
                    <a:pt x="355299" y="398919"/>
                  </a:lnTo>
                  <a:lnTo>
                    <a:pt x="384998" y="368155"/>
                  </a:lnTo>
                  <a:lnTo>
                    <a:pt x="404481" y="329144"/>
                  </a:lnTo>
                  <a:lnTo>
                    <a:pt x="411479" y="284225"/>
                  </a:lnTo>
                  <a:lnTo>
                    <a:pt x="404481" y="239307"/>
                  </a:lnTo>
                  <a:lnTo>
                    <a:pt x="384998" y="200296"/>
                  </a:lnTo>
                  <a:lnTo>
                    <a:pt x="355299" y="169532"/>
                  </a:lnTo>
                  <a:lnTo>
                    <a:pt x="317650" y="149358"/>
                  </a:lnTo>
                  <a:lnTo>
                    <a:pt x="274319" y="142112"/>
                  </a:lnTo>
                  <a:close/>
                </a:path>
                <a:path w="548640" h="568960">
                  <a:moveTo>
                    <a:pt x="110743" y="243458"/>
                  </a:moveTo>
                  <a:lnTo>
                    <a:pt x="0" y="284225"/>
                  </a:lnTo>
                  <a:lnTo>
                    <a:pt x="110743" y="324993"/>
                  </a:lnTo>
                  <a:lnTo>
                    <a:pt x="110743" y="243458"/>
                  </a:lnTo>
                  <a:close/>
                </a:path>
                <a:path w="548640" h="568960">
                  <a:moveTo>
                    <a:pt x="80390" y="83185"/>
                  </a:moveTo>
                  <a:lnTo>
                    <a:pt x="130810" y="193167"/>
                  </a:lnTo>
                  <a:lnTo>
                    <a:pt x="186436" y="135508"/>
                  </a:lnTo>
                  <a:lnTo>
                    <a:pt x="80390" y="83185"/>
                  </a:lnTo>
                  <a:close/>
                </a:path>
                <a:path w="548640" h="568960">
                  <a:moveTo>
                    <a:pt x="468249" y="83185"/>
                  </a:moveTo>
                  <a:lnTo>
                    <a:pt x="362203" y="135508"/>
                  </a:lnTo>
                  <a:lnTo>
                    <a:pt x="417829" y="193167"/>
                  </a:lnTo>
                  <a:lnTo>
                    <a:pt x="468249" y="83185"/>
                  </a:lnTo>
                  <a:close/>
                </a:path>
                <a:path w="548640" h="568960">
                  <a:moveTo>
                    <a:pt x="274319" y="0"/>
                  </a:moveTo>
                  <a:lnTo>
                    <a:pt x="234950" y="114681"/>
                  </a:lnTo>
                  <a:lnTo>
                    <a:pt x="313689" y="114681"/>
                  </a:lnTo>
                  <a:lnTo>
                    <a:pt x="274319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006083" y="2523744"/>
              <a:ext cx="548640" cy="568960"/>
            </a:xfrm>
            <a:custGeom>
              <a:avLst/>
              <a:gdLst/>
              <a:ahLst/>
              <a:cxnLst/>
              <a:rect l="l" t="t" r="r" b="b"/>
              <a:pathLst>
                <a:path w="548640" h="568960">
                  <a:moveTo>
                    <a:pt x="548639" y="284225"/>
                  </a:moveTo>
                  <a:lnTo>
                    <a:pt x="437895" y="324993"/>
                  </a:lnTo>
                  <a:lnTo>
                    <a:pt x="437895" y="243458"/>
                  </a:lnTo>
                  <a:lnTo>
                    <a:pt x="548639" y="284225"/>
                  </a:lnTo>
                  <a:close/>
                </a:path>
                <a:path w="548640" h="568960">
                  <a:moveTo>
                    <a:pt x="468249" y="83185"/>
                  </a:moveTo>
                  <a:lnTo>
                    <a:pt x="417829" y="193167"/>
                  </a:lnTo>
                  <a:lnTo>
                    <a:pt x="362203" y="135508"/>
                  </a:lnTo>
                  <a:lnTo>
                    <a:pt x="468249" y="83185"/>
                  </a:lnTo>
                  <a:close/>
                </a:path>
                <a:path w="548640" h="568960">
                  <a:moveTo>
                    <a:pt x="274319" y="0"/>
                  </a:moveTo>
                  <a:lnTo>
                    <a:pt x="313689" y="114681"/>
                  </a:lnTo>
                  <a:lnTo>
                    <a:pt x="234950" y="114681"/>
                  </a:lnTo>
                  <a:lnTo>
                    <a:pt x="274319" y="0"/>
                  </a:lnTo>
                  <a:close/>
                </a:path>
                <a:path w="548640" h="568960">
                  <a:moveTo>
                    <a:pt x="80390" y="83185"/>
                  </a:moveTo>
                  <a:lnTo>
                    <a:pt x="186436" y="135508"/>
                  </a:lnTo>
                  <a:lnTo>
                    <a:pt x="130810" y="193167"/>
                  </a:lnTo>
                  <a:lnTo>
                    <a:pt x="80390" y="83185"/>
                  </a:lnTo>
                  <a:close/>
                </a:path>
                <a:path w="548640" h="568960">
                  <a:moveTo>
                    <a:pt x="0" y="284225"/>
                  </a:moveTo>
                  <a:lnTo>
                    <a:pt x="110743" y="243458"/>
                  </a:lnTo>
                  <a:lnTo>
                    <a:pt x="110743" y="324993"/>
                  </a:lnTo>
                  <a:lnTo>
                    <a:pt x="0" y="284225"/>
                  </a:lnTo>
                  <a:close/>
                </a:path>
                <a:path w="548640" h="568960">
                  <a:moveTo>
                    <a:pt x="80390" y="485139"/>
                  </a:moveTo>
                  <a:lnTo>
                    <a:pt x="130810" y="375285"/>
                  </a:lnTo>
                  <a:lnTo>
                    <a:pt x="186436" y="432943"/>
                  </a:lnTo>
                  <a:lnTo>
                    <a:pt x="80390" y="485139"/>
                  </a:lnTo>
                  <a:close/>
                </a:path>
                <a:path w="548640" h="568960">
                  <a:moveTo>
                    <a:pt x="274319" y="568451"/>
                  </a:moveTo>
                  <a:lnTo>
                    <a:pt x="234950" y="453770"/>
                  </a:lnTo>
                  <a:lnTo>
                    <a:pt x="313689" y="453770"/>
                  </a:lnTo>
                  <a:lnTo>
                    <a:pt x="274319" y="568451"/>
                  </a:lnTo>
                  <a:close/>
                </a:path>
                <a:path w="548640" h="568960">
                  <a:moveTo>
                    <a:pt x="468249" y="485139"/>
                  </a:moveTo>
                  <a:lnTo>
                    <a:pt x="362203" y="432943"/>
                  </a:lnTo>
                  <a:lnTo>
                    <a:pt x="417829" y="375285"/>
                  </a:lnTo>
                  <a:lnTo>
                    <a:pt x="468249" y="485139"/>
                  </a:lnTo>
                  <a:close/>
                </a:path>
                <a:path w="548640" h="568960">
                  <a:moveTo>
                    <a:pt x="137160" y="284225"/>
                  </a:moveTo>
                  <a:lnTo>
                    <a:pt x="144158" y="239307"/>
                  </a:lnTo>
                  <a:lnTo>
                    <a:pt x="163641" y="200296"/>
                  </a:lnTo>
                  <a:lnTo>
                    <a:pt x="193340" y="169532"/>
                  </a:lnTo>
                  <a:lnTo>
                    <a:pt x="230989" y="149358"/>
                  </a:lnTo>
                  <a:lnTo>
                    <a:pt x="274319" y="142112"/>
                  </a:lnTo>
                  <a:lnTo>
                    <a:pt x="317650" y="149358"/>
                  </a:lnTo>
                  <a:lnTo>
                    <a:pt x="355299" y="169532"/>
                  </a:lnTo>
                  <a:lnTo>
                    <a:pt x="384998" y="200296"/>
                  </a:lnTo>
                  <a:lnTo>
                    <a:pt x="404481" y="239307"/>
                  </a:lnTo>
                  <a:lnTo>
                    <a:pt x="411479" y="284225"/>
                  </a:lnTo>
                  <a:lnTo>
                    <a:pt x="404481" y="329144"/>
                  </a:lnTo>
                  <a:lnTo>
                    <a:pt x="384998" y="368155"/>
                  </a:lnTo>
                  <a:lnTo>
                    <a:pt x="355299" y="398919"/>
                  </a:lnTo>
                  <a:lnTo>
                    <a:pt x="317650" y="419093"/>
                  </a:lnTo>
                  <a:lnTo>
                    <a:pt x="274319" y="426338"/>
                  </a:lnTo>
                  <a:lnTo>
                    <a:pt x="230989" y="419093"/>
                  </a:lnTo>
                  <a:lnTo>
                    <a:pt x="193340" y="398919"/>
                  </a:lnTo>
                  <a:lnTo>
                    <a:pt x="163641" y="368155"/>
                  </a:lnTo>
                  <a:lnTo>
                    <a:pt x="144158" y="329144"/>
                  </a:lnTo>
                  <a:lnTo>
                    <a:pt x="137160" y="284225"/>
                  </a:lnTo>
                  <a:close/>
                </a:path>
              </a:pathLst>
            </a:custGeom>
            <a:ln w="914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5861303" y="1647444"/>
            <a:ext cx="558165" cy="577850"/>
            <a:chOff x="5861303" y="1647444"/>
            <a:chExt cx="558165" cy="577850"/>
          </a:xfrm>
        </p:grpSpPr>
        <p:sp>
          <p:nvSpPr>
            <p:cNvPr id="9" name="object 9"/>
            <p:cNvSpPr/>
            <p:nvPr/>
          </p:nvSpPr>
          <p:spPr>
            <a:xfrm>
              <a:off x="5865875" y="1652016"/>
              <a:ext cx="548640" cy="568960"/>
            </a:xfrm>
            <a:custGeom>
              <a:avLst/>
              <a:gdLst/>
              <a:ahLst/>
              <a:cxnLst/>
              <a:rect l="l" t="t" r="r" b="b"/>
              <a:pathLst>
                <a:path w="548639" h="568960">
                  <a:moveTo>
                    <a:pt x="437896" y="243459"/>
                  </a:moveTo>
                  <a:lnTo>
                    <a:pt x="437896" y="324993"/>
                  </a:lnTo>
                  <a:lnTo>
                    <a:pt x="548639" y="284226"/>
                  </a:lnTo>
                  <a:lnTo>
                    <a:pt x="437896" y="243459"/>
                  </a:lnTo>
                  <a:close/>
                </a:path>
                <a:path w="548639" h="568960">
                  <a:moveTo>
                    <a:pt x="313689" y="453771"/>
                  </a:moveTo>
                  <a:lnTo>
                    <a:pt x="234950" y="453771"/>
                  </a:lnTo>
                  <a:lnTo>
                    <a:pt x="274320" y="568452"/>
                  </a:lnTo>
                  <a:lnTo>
                    <a:pt x="313689" y="453771"/>
                  </a:lnTo>
                  <a:close/>
                </a:path>
                <a:path w="548639" h="568960">
                  <a:moveTo>
                    <a:pt x="130810" y="375285"/>
                  </a:moveTo>
                  <a:lnTo>
                    <a:pt x="80390" y="485140"/>
                  </a:lnTo>
                  <a:lnTo>
                    <a:pt x="186436" y="432943"/>
                  </a:lnTo>
                  <a:lnTo>
                    <a:pt x="130810" y="375285"/>
                  </a:lnTo>
                  <a:close/>
                </a:path>
                <a:path w="548639" h="568960">
                  <a:moveTo>
                    <a:pt x="417829" y="375285"/>
                  </a:moveTo>
                  <a:lnTo>
                    <a:pt x="362203" y="432943"/>
                  </a:lnTo>
                  <a:lnTo>
                    <a:pt x="468249" y="485140"/>
                  </a:lnTo>
                  <a:lnTo>
                    <a:pt x="417829" y="375285"/>
                  </a:lnTo>
                  <a:close/>
                </a:path>
                <a:path w="548639" h="568960">
                  <a:moveTo>
                    <a:pt x="274320" y="142112"/>
                  </a:moveTo>
                  <a:lnTo>
                    <a:pt x="230989" y="149358"/>
                  </a:lnTo>
                  <a:lnTo>
                    <a:pt x="193340" y="169532"/>
                  </a:lnTo>
                  <a:lnTo>
                    <a:pt x="163641" y="200296"/>
                  </a:lnTo>
                  <a:lnTo>
                    <a:pt x="144158" y="239307"/>
                  </a:lnTo>
                  <a:lnTo>
                    <a:pt x="137160" y="284226"/>
                  </a:lnTo>
                  <a:lnTo>
                    <a:pt x="144158" y="329144"/>
                  </a:lnTo>
                  <a:lnTo>
                    <a:pt x="163641" y="368155"/>
                  </a:lnTo>
                  <a:lnTo>
                    <a:pt x="193340" y="398919"/>
                  </a:lnTo>
                  <a:lnTo>
                    <a:pt x="230989" y="419093"/>
                  </a:lnTo>
                  <a:lnTo>
                    <a:pt x="274320" y="426339"/>
                  </a:lnTo>
                  <a:lnTo>
                    <a:pt x="317650" y="419093"/>
                  </a:lnTo>
                  <a:lnTo>
                    <a:pt x="355299" y="398919"/>
                  </a:lnTo>
                  <a:lnTo>
                    <a:pt x="384998" y="368155"/>
                  </a:lnTo>
                  <a:lnTo>
                    <a:pt x="404481" y="329144"/>
                  </a:lnTo>
                  <a:lnTo>
                    <a:pt x="411479" y="284226"/>
                  </a:lnTo>
                  <a:lnTo>
                    <a:pt x="404481" y="239307"/>
                  </a:lnTo>
                  <a:lnTo>
                    <a:pt x="384998" y="200296"/>
                  </a:lnTo>
                  <a:lnTo>
                    <a:pt x="355299" y="169532"/>
                  </a:lnTo>
                  <a:lnTo>
                    <a:pt x="317650" y="149358"/>
                  </a:lnTo>
                  <a:lnTo>
                    <a:pt x="274320" y="142112"/>
                  </a:lnTo>
                  <a:close/>
                </a:path>
                <a:path w="548639" h="568960">
                  <a:moveTo>
                    <a:pt x="110744" y="243459"/>
                  </a:moveTo>
                  <a:lnTo>
                    <a:pt x="0" y="284226"/>
                  </a:lnTo>
                  <a:lnTo>
                    <a:pt x="110744" y="324993"/>
                  </a:lnTo>
                  <a:lnTo>
                    <a:pt x="110744" y="243459"/>
                  </a:lnTo>
                  <a:close/>
                </a:path>
                <a:path w="548639" h="568960">
                  <a:moveTo>
                    <a:pt x="80390" y="83185"/>
                  </a:moveTo>
                  <a:lnTo>
                    <a:pt x="130810" y="193167"/>
                  </a:lnTo>
                  <a:lnTo>
                    <a:pt x="186436" y="135509"/>
                  </a:lnTo>
                  <a:lnTo>
                    <a:pt x="80390" y="83185"/>
                  </a:lnTo>
                  <a:close/>
                </a:path>
                <a:path w="548639" h="568960">
                  <a:moveTo>
                    <a:pt x="468249" y="83185"/>
                  </a:moveTo>
                  <a:lnTo>
                    <a:pt x="362203" y="135509"/>
                  </a:lnTo>
                  <a:lnTo>
                    <a:pt x="417829" y="193167"/>
                  </a:lnTo>
                  <a:lnTo>
                    <a:pt x="468249" y="83185"/>
                  </a:lnTo>
                  <a:close/>
                </a:path>
                <a:path w="548639" h="568960">
                  <a:moveTo>
                    <a:pt x="274320" y="0"/>
                  </a:moveTo>
                  <a:lnTo>
                    <a:pt x="234950" y="114681"/>
                  </a:lnTo>
                  <a:lnTo>
                    <a:pt x="313689" y="114681"/>
                  </a:lnTo>
                  <a:lnTo>
                    <a:pt x="274320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865875" y="1652016"/>
              <a:ext cx="548640" cy="568960"/>
            </a:xfrm>
            <a:custGeom>
              <a:avLst/>
              <a:gdLst/>
              <a:ahLst/>
              <a:cxnLst/>
              <a:rect l="l" t="t" r="r" b="b"/>
              <a:pathLst>
                <a:path w="548639" h="568960">
                  <a:moveTo>
                    <a:pt x="548639" y="284226"/>
                  </a:moveTo>
                  <a:lnTo>
                    <a:pt x="437896" y="324993"/>
                  </a:lnTo>
                  <a:lnTo>
                    <a:pt x="437896" y="243459"/>
                  </a:lnTo>
                  <a:lnTo>
                    <a:pt x="548639" y="284226"/>
                  </a:lnTo>
                  <a:close/>
                </a:path>
                <a:path w="548639" h="568960">
                  <a:moveTo>
                    <a:pt x="468249" y="83185"/>
                  </a:moveTo>
                  <a:lnTo>
                    <a:pt x="417829" y="193167"/>
                  </a:lnTo>
                  <a:lnTo>
                    <a:pt x="362203" y="135509"/>
                  </a:lnTo>
                  <a:lnTo>
                    <a:pt x="468249" y="83185"/>
                  </a:lnTo>
                  <a:close/>
                </a:path>
                <a:path w="548639" h="568960">
                  <a:moveTo>
                    <a:pt x="274320" y="0"/>
                  </a:moveTo>
                  <a:lnTo>
                    <a:pt x="313689" y="114681"/>
                  </a:lnTo>
                  <a:lnTo>
                    <a:pt x="234950" y="114681"/>
                  </a:lnTo>
                  <a:lnTo>
                    <a:pt x="274320" y="0"/>
                  </a:lnTo>
                  <a:close/>
                </a:path>
                <a:path w="548639" h="568960">
                  <a:moveTo>
                    <a:pt x="80390" y="83185"/>
                  </a:moveTo>
                  <a:lnTo>
                    <a:pt x="186436" y="135509"/>
                  </a:lnTo>
                  <a:lnTo>
                    <a:pt x="130810" y="193167"/>
                  </a:lnTo>
                  <a:lnTo>
                    <a:pt x="80390" y="83185"/>
                  </a:lnTo>
                  <a:close/>
                </a:path>
                <a:path w="548639" h="568960">
                  <a:moveTo>
                    <a:pt x="0" y="284226"/>
                  </a:moveTo>
                  <a:lnTo>
                    <a:pt x="110744" y="243459"/>
                  </a:lnTo>
                  <a:lnTo>
                    <a:pt x="110744" y="324993"/>
                  </a:lnTo>
                  <a:lnTo>
                    <a:pt x="0" y="284226"/>
                  </a:lnTo>
                  <a:close/>
                </a:path>
                <a:path w="548639" h="568960">
                  <a:moveTo>
                    <a:pt x="80390" y="485140"/>
                  </a:moveTo>
                  <a:lnTo>
                    <a:pt x="130810" y="375285"/>
                  </a:lnTo>
                  <a:lnTo>
                    <a:pt x="186436" y="432943"/>
                  </a:lnTo>
                  <a:lnTo>
                    <a:pt x="80390" y="485140"/>
                  </a:lnTo>
                  <a:close/>
                </a:path>
                <a:path w="548639" h="568960">
                  <a:moveTo>
                    <a:pt x="274320" y="568452"/>
                  </a:moveTo>
                  <a:lnTo>
                    <a:pt x="234950" y="453771"/>
                  </a:lnTo>
                  <a:lnTo>
                    <a:pt x="313689" y="453771"/>
                  </a:lnTo>
                  <a:lnTo>
                    <a:pt x="274320" y="568452"/>
                  </a:lnTo>
                  <a:close/>
                </a:path>
                <a:path w="548639" h="568960">
                  <a:moveTo>
                    <a:pt x="468249" y="485140"/>
                  </a:moveTo>
                  <a:lnTo>
                    <a:pt x="362203" y="432943"/>
                  </a:lnTo>
                  <a:lnTo>
                    <a:pt x="417829" y="375285"/>
                  </a:lnTo>
                  <a:lnTo>
                    <a:pt x="468249" y="485140"/>
                  </a:lnTo>
                  <a:close/>
                </a:path>
                <a:path w="548639" h="568960">
                  <a:moveTo>
                    <a:pt x="137160" y="284226"/>
                  </a:moveTo>
                  <a:lnTo>
                    <a:pt x="144158" y="239307"/>
                  </a:lnTo>
                  <a:lnTo>
                    <a:pt x="163641" y="200296"/>
                  </a:lnTo>
                  <a:lnTo>
                    <a:pt x="193340" y="169532"/>
                  </a:lnTo>
                  <a:lnTo>
                    <a:pt x="230989" y="149358"/>
                  </a:lnTo>
                  <a:lnTo>
                    <a:pt x="274320" y="142112"/>
                  </a:lnTo>
                  <a:lnTo>
                    <a:pt x="317650" y="149358"/>
                  </a:lnTo>
                  <a:lnTo>
                    <a:pt x="355299" y="169532"/>
                  </a:lnTo>
                  <a:lnTo>
                    <a:pt x="384998" y="200296"/>
                  </a:lnTo>
                  <a:lnTo>
                    <a:pt x="404481" y="239307"/>
                  </a:lnTo>
                  <a:lnTo>
                    <a:pt x="411479" y="284226"/>
                  </a:lnTo>
                  <a:lnTo>
                    <a:pt x="404481" y="329144"/>
                  </a:lnTo>
                  <a:lnTo>
                    <a:pt x="384998" y="368155"/>
                  </a:lnTo>
                  <a:lnTo>
                    <a:pt x="355299" y="398919"/>
                  </a:lnTo>
                  <a:lnTo>
                    <a:pt x="317650" y="419093"/>
                  </a:lnTo>
                  <a:lnTo>
                    <a:pt x="274320" y="426339"/>
                  </a:lnTo>
                  <a:lnTo>
                    <a:pt x="230989" y="419093"/>
                  </a:lnTo>
                  <a:lnTo>
                    <a:pt x="193340" y="398919"/>
                  </a:lnTo>
                  <a:lnTo>
                    <a:pt x="163641" y="368155"/>
                  </a:lnTo>
                  <a:lnTo>
                    <a:pt x="144158" y="329144"/>
                  </a:lnTo>
                  <a:lnTo>
                    <a:pt x="137160" y="284226"/>
                  </a:lnTo>
                  <a:close/>
                </a:path>
              </a:pathLst>
            </a:custGeom>
            <a:ln w="914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5382767" y="1827276"/>
            <a:ext cx="1036319" cy="1140460"/>
            <a:chOff x="5382767" y="1827276"/>
            <a:chExt cx="1036319" cy="1140460"/>
          </a:xfrm>
        </p:grpSpPr>
        <p:sp>
          <p:nvSpPr>
            <p:cNvPr id="12" name="object 12"/>
            <p:cNvSpPr/>
            <p:nvPr/>
          </p:nvSpPr>
          <p:spPr>
            <a:xfrm>
              <a:off x="5413247" y="2394204"/>
              <a:ext cx="548640" cy="568960"/>
            </a:xfrm>
            <a:custGeom>
              <a:avLst/>
              <a:gdLst/>
              <a:ahLst/>
              <a:cxnLst/>
              <a:rect l="l" t="t" r="r" b="b"/>
              <a:pathLst>
                <a:path w="548639" h="568960">
                  <a:moveTo>
                    <a:pt x="437896" y="243458"/>
                  </a:moveTo>
                  <a:lnTo>
                    <a:pt x="437896" y="324993"/>
                  </a:lnTo>
                  <a:lnTo>
                    <a:pt x="548639" y="284225"/>
                  </a:lnTo>
                  <a:lnTo>
                    <a:pt x="437896" y="243458"/>
                  </a:lnTo>
                  <a:close/>
                </a:path>
                <a:path w="548639" h="568960">
                  <a:moveTo>
                    <a:pt x="313689" y="453770"/>
                  </a:moveTo>
                  <a:lnTo>
                    <a:pt x="234950" y="453770"/>
                  </a:lnTo>
                  <a:lnTo>
                    <a:pt x="274319" y="568451"/>
                  </a:lnTo>
                  <a:lnTo>
                    <a:pt x="313689" y="453770"/>
                  </a:lnTo>
                  <a:close/>
                </a:path>
                <a:path w="548639" h="568960">
                  <a:moveTo>
                    <a:pt x="130810" y="375284"/>
                  </a:moveTo>
                  <a:lnTo>
                    <a:pt x="80390" y="485139"/>
                  </a:lnTo>
                  <a:lnTo>
                    <a:pt x="186436" y="432943"/>
                  </a:lnTo>
                  <a:lnTo>
                    <a:pt x="130810" y="375284"/>
                  </a:lnTo>
                  <a:close/>
                </a:path>
                <a:path w="548639" h="568960">
                  <a:moveTo>
                    <a:pt x="417829" y="375284"/>
                  </a:moveTo>
                  <a:lnTo>
                    <a:pt x="362203" y="432943"/>
                  </a:lnTo>
                  <a:lnTo>
                    <a:pt x="468249" y="485139"/>
                  </a:lnTo>
                  <a:lnTo>
                    <a:pt x="417829" y="375284"/>
                  </a:lnTo>
                  <a:close/>
                </a:path>
                <a:path w="548639" h="568960">
                  <a:moveTo>
                    <a:pt x="274319" y="142112"/>
                  </a:moveTo>
                  <a:lnTo>
                    <a:pt x="230989" y="149358"/>
                  </a:lnTo>
                  <a:lnTo>
                    <a:pt x="193340" y="169532"/>
                  </a:lnTo>
                  <a:lnTo>
                    <a:pt x="163641" y="200296"/>
                  </a:lnTo>
                  <a:lnTo>
                    <a:pt x="144158" y="239307"/>
                  </a:lnTo>
                  <a:lnTo>
                    <a:pt x="137160" y="284225"/>
                  </a:lnTo>
                  <a:lnTo>
                    <a:pt x="144158" y="329144"/>
                  </a:lnTo>
                  <a:lnTo>
                    <a:pt x="163641" y="368155"/>
                  </a:lnTo>
                  <a:lnTo>
                    <a:pt x="193340" y="398919"/>
                  </a:lnTo>
                  <a:lnTo>
                    <a:pt x="230989" y="419093"/>
                  </a:lnTo>
                  <a:lnTo>
                    <a:pt x="274319" y="426338"/>
                  </a:lnTo>
                  <a:lnTo>
                    <a:pt x="317650" y="419093"/>
                  </a:lnTo>
                  <a:lnTo>
                    <a:pt x="355299" y="398919"/>
                  </a:lnTo>
                  <a:lnTo>
                    <a:pt x="384998" y="368155"/>
                  </a:lnTo>
                  <a:lnTo>
                    <a:pt x="404481" y="329144"/>
                  </a:lnTo>
                  <a:lnTo>
                    <a:pt x="411479" y="284225"/>
                  </a:lnTo>
                  <a:lnTo>
                    <a:pt x="404481" y="239307"/>
                  </a:lnTo>
                  <a:lnTo>
                    <a:pt x="384998" y="200296"/>
                  </a:lnTo>
                  <a:lnTo>
                    <a:pt x="355299" y="169532"/>
                  </a:lnTo>
                  <a:lnTo>
                    <a:pt x="317650" y="149358"/>
                  </a:lnTo>
                  <a:lnTo>
                    <a:pt x="274319" y="142112"/>
                  </a:lnTo>
                  <a:close/>
                </a:path>
                <a:path w="548639" h="568960">
                  <a:moveTo>
                    <a:pt x="110743" y="243458"/>
                  </a:moveTo>
                  <a:lnTo>
                    <a:pt x="0" y="284225"/>
                  </a:lnTo>
                  <a:lnTo>
                    <a:pt x="110743" y="324993"/>
                  </a:lnTo>
                  <a:lnTo>
                    <a:pt x="110743" y="243458"/>
                  </a:lnTo>
                  <a:close/>
                </a:path>
                <a:path w="548639" h="568960">
                  <a:moveTo>
                    <a:pt x="80390" y="83184"/>
                  </a:moveTo>
                  <a:lnTo>
                    <a:pt x="130810" y="193166"/>
                  </a:lnTo>
                  <a:lnTo>
                    <a:pt x="186436" y="135508"/>
                  </a:lnTo>
                  <a:lnTo>
                    <a:pt x="80390" y="83184"/>
                  </a:lnTo>
                  <a:close/>
                </a:path>
                <a:path w="548639" h="568960">
                  <a:moveTo>
                    <a:pt x="468249" y="83184"/>
                  </a:moveTo>
                  <a:lnTo>
                    <a:pt x="362203" y="135508"/>
                  </a:lnTo>
                  <a:lnTo>
                    <a:pt x="417829" y="193166"/>
                  </a:lnTo>
                  <a:lnTo>
                    <a:pt x="468249" y="83184"/>
                  </a:lnTo>
                  <a:close/>
                </a:path>
                <a:path w="548639" h="568960">
                  <a:moveTo>
                    <a:pt x="274319" y="0"/>
                  </a:moveTo>
                  <a:lnTo>
                    <a:pt x="234950" y="114681"/>
                  </a:lnTo>
                  <a:lnTo>
                    <a:pt x="313689" y="114681"/>
                  </a:lnTo>
                  <a:lnTo>
                    <a:pt x="274319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413247" y="2394204"/>
              <a:ext cx="548640" cy="568960"/>
            </a:xfrm>
            <a:custGeom>
              <a:avLst/>
              <a:gdLst/>
              <a:ahLst/>
              <a:cxnLst/>
              <a:rect l="l" t="t" r="r" b="b"/>
              <a:pathLst>
                <a:path w="548639" h="568960">
                  <a:moveTo>
                    <a:pt x="548639" y="284225"/>
                  </a:moveTo>
                  <a:lnTo>
                    <a:pt x="437896" y="324993"/>
                  </a:lnTo>
                  <a:lnTo>
                    <a:pt x="437896" y="243458"/>
                  </a:lnTo>
                  <a:lnTo>
                    <a:pt x="548639" y="284225"/>
                  </a:lnTo>
                  <a:close/>
                </a:path>
                <a:path w="548639" h="568960">
                  <a:moveTo>
                    <a:pt x="468249" y="83184"/>
                  </a:moveTo>
                  <a:lnTo>
                    <a:pt x="417829" y="193166"/>
                  </a:lnTo>
                  <a:lnTo>
                    <a:pt x="362203" y="135508"/>
                  </a:lnTo>
                  <a:lnTo>
                    <a:pt x="468249" y="83184"/>
                  </a:lnTo>
                  <a:close/>
                </a:path>
                <a:path w="548639" h="568960">
                  <a:moveTo>
                    <a:pt x="274319" y="0"/>
                  </a:moveTo>
                  <a:lnTo>
                    <a:pt x="313689" y="114681"/>
                  </a:lnTo>
                  <a:lnTo>
                    <a:pt x="234950" y="114681"/>
                  </a:lnTo>
                  <a:lnTo>
                    <a:pt x="274319" y="0"/>
                  </a:lnTo>
                  <a:close/>
                </a:path>
                <a:path w="548639" h="568960">
                  <a:moveTo>
                    <a:pt x="80390" y="83184"/>
                  </a:moveTo>
                  <a:lnTo>
                    <a:pt x="186436" y="135508"/>
                  </a:lnTo>
                  <a:lnTo>
                    <a:pt x="130810" y="193166"/>
                  </a:lnTo>
                  <a:lnTo>
                    <a:pt x="80390" y="83184"/>
                  </a:lnTo>
                  <a:close/>
                </a:path>
                <a:path w="548639" h="568960">
                  <a:moveTo>
                    <a:pt x="0" y="284225"/>
                  </a:moveTo>
                  <a:lnTo>
                    <a:pt x="110743" y="243458"/>
                  </a:lnTo>
                  <a:lnTo>
                    <a:pt x="110743" y="324993"/>
                  </a:lnTo>
                  <a:lnTo>
                    <a:pt x="0" y="284225"/>
                  </a:lnTo>
                  <a:close/>
                </a:path>
                <a:path w="548639" h="568960">
                  <a:moveTo>
                    <a:pt x="80390" y="485139"/>
                  </a:moveTo>
                  <a:lnTo>
                    <a:pt x="130810" y="375284"/>
                  </a:lnTo>
                  <a:lnTo>
                    <a:pt x="186436" y="432943"/>
                  </a:lnTo>
                  <a:lnTo>
                    <a:pt x="80390" y="485139"/>
                  </a:lnTo>
                  <a:close/>
                </a:path>
                <a:path w="548639" h="568960">
                  <a:moveTo>
                    <a:pt x="274319" y="568451"/>
                  </a:moveTo>
                  <a:lnTo>
                    <a:pt x="234950" y="453770"/>
                  </a:lnTo>
                  <a:lnTo>
                    <a:pt x="313689" y="453770"/>
                  </a:lnTo>
                  <a:lnTo>
                    <a:pt x="274319" y="568451"/>
                  </a:lnTo>
                  <a:close/>
                </a:path>
                <a:path w="548639" h="568960">
                  <a:moveTo>
                    <a:pt x="468249" y="485139"/>
                  </a:moveTo>
                  <a:lnTo>
                    <a:pt x="362203" y="432943"/>
                  </a:lnTo>
                  <a:lnTo>
                    <a:pt x="417829" y="375284"/>
                  </a:lnTo>
                  <a:lnTo>
                    <a:pt x="468249" y="485139"/>
                  </a:lnTo>
                  <a:close/>
                </a:path>
                <a:path w="548639" h="568960">
                  <a:moveTo>
                    <a:pt x="137160" y="284225"/>
                  </a:moveTo>
                  <a:lnTo>
                    <a:pt x="144158" y="239307"/>
                  </a:lnTo>
                  <a:lnTo>
                    <a:pt x="163641" y="200296"/>
                  </a:lnTo>
                  <a:lnTo>
                    <a:pt x="193340" y="169532"/>
                  </a:lnTo>
                  <a:lnTo>
                    <a:pt x="230989" y="149358"/>
                  </a:lnTo>
                  <a:lnTo>
                    <a:pt x="274319" y="142112"/>
                  </a:lnTo>
                  <a:lnTo>
                    <a:pt x="317650" y="149358"/>
                  </a:lnTo>
                  <a:lnTo>
                    <a:pt x="355299" y="169532"/>
                  </a:lnTo>
                  <a:lnTo>
                    <a:pt x="384998" y="200296"/>
                  </a:lnTo>
                  <a:lnTo>
                    <a:pt x="404481" y="239307"/>
                  </a:lnTo>
                  <a:lnTo>
                    <a:pt x="411479" y="284225"/>
                  </a:lnTo>
                  <a:lnTo>
                    <a:pt x="404481" y="329144"/>
                  </a:lnTo>
                  <a:lnTo>
                    <a:pt x="384998" y="368155"/>
                  </a:lnTo>
                  <a:lnTo>
                    <a:pt x="355299" y="398919"/>
                  </a:lnTo>
                  <a:lnTo>
                    <a:pt x="317650" y="419093"/>
                  </a:lnTo>
                  <a:lnTo>
                    <a:pt x="274319" y="426338"/>
                  </a:lnTo>
                  <a:lnTo>
                    <a:pt x="230989" y="419093"/>
                  </a:lnTo>
                  <a:lnTo>
                    <a:pt x="193340" y="398919"/>
                  </a:lnTo>
                  <a:lnTo>
                    <a:pt x="163641" y="368155"/>
                  </a:lnTo>
                  <a:lnTo>
                    <a:pt x="144158" y="329144"/>
                  </a:lnTo>
                  <a:lnTo>
                    <a:pt x="137160" y="284225"/>
                  </a:lnTo>
                  <a:close/>
                </a:path>
              </a:pathLst>
            </a:custGeom>
            <a:ln w="914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865875" y="2069592"/>
              <a:ext cx="548640" cy="568960"/>
            </a:xfrm>
            <a:custGeom>
              <a:avLst/>
              <a:gdLst/>
              <a:ahLst/>
              <a:cxnLst/>
              <a:rect l="l" t="t" r="r" b="b"/>
              <a:pathLst>
                <a:path w="548639" h="568960">
                  <a:moveTo>
                    <a:pt x="437896" y="243458"/>
                  </a:moveTo>
                  <a:lnTo>
                    <a:pt x="437896" y="324993"/>
                  </a:lnTo>
                  <a:lnTo>
                    <a:pt x="548639" y="284225"/>
                  </a:lnTo>
                  <a:lnTo>
                    <a:pt x="437896" y="243458"/>
                  </a:lnTo>
                  <a:close/>
                </a:path>
                <a:path w="548639" h="568960">
                  <a:moveTo>
                    <a:pt x="313689" y="453770"/>
                  </a:moveTo>
                  <a:lnTo>
                    <a:pt x="234950" y="453770"/>
                  </a:lnTo>
                  <a:lnTo>
                    <a:pt x="274320" y="568451"/>
                  </a:lnTo>
                  <a:lnTo>
                    <a:pt x="313689" y="453770"/>
                  </a:lnTo>
                  <a:close/>
                </a:path>
                <a:path w="548639" h="568960">
                  <a:moveTo>
                    <a:pt x="130810" y="375284"/>
                  </a:moveTo>
                  <a:lnTo>
                    <a:pt x="80390" y="485139"/>
                  </a:lnTo>
                  <a:lnTo>
                    <a:pt x="186436" y="432943"/>
                  </a:lnTo>
                  <a:lnTo>
                    <a:pt x="130810" y="375284"/>
                  </a:lnTo>
                  <a:close/>
                </a:path>
                <a:path w="548639" h="568960">
                  <a:moveTo>
                    <a:pt x="417829" y="375284"/>
                  </a:moveTo>
                  <a:lnTo>
                    <a:pt x="362203" y="432943"/>
                  </a:lnTo>
                  <a:lnTo>
                    <a:pt x="468249" y="485139"/>
                  </a:lnTo>
                  <a:lnTo>
                    <a:pt x="417829" y="375284"/>
                  </a:lnTo>
                  <a:close/>
                </a:path>
                <a:path w="548639" h="568960">
                  <a:moveTo>
                    <a:pt x="274320" y="142112"/>
                  </a:moveTo>
                  <a:lnTo>
                    <a:pt x="230989" y="149358"/>
                  </a:lnTo>
                  <a:lnTo>
                    <a:pt x="193340" y="169532"/>
                  </a:lnTo>
                  <a:lnTo>
                    <a:pt x="163641" y="200296"/>
                  </a:lnTo>
                  <a:lnTo>
                    <a:pt x="144158" y="239307"/>
                  </a:lnTo>
                  <a:lnTo>
                    <a:pt x="137160" y="284225"/>
                  </a:lnTo>
                  <a:lnTo>
                    <a:pt x="144158" y="329144"/>
                  </a:lnTo>
                  <a:lnTo>
                    <a:pt x="163641" y="368155"/>
                  </a:lnTo>
                  <a:lnTo>
                    <a:pt x="193340" y="398919"/>
                  </a:lnTo>
                  <a:lnTo>
                    <a:pt x="230989" y="419093"/>
                  </a:lnTo>
                  <a:lnTo>
                    <a:pt x="274320" y="426338"/>
                  </a:lnTo>
                  <a:lnTo>
                    <a:pt x="317650" y="419093"/>
                  </a:lnTo>
                  <a:lnTo>
                    <a:pt x="355299" y="398919"/>
                  </a:lnTo>
                  <a:lnTo>
                    <a:pt x="384998" y="368155"/>
                  </a:lnTo>
                  <a:lnTo>
                    <a:pt x="404481" y="329144"/>
                  </a:lnTo>
                  <a:lnTo>
                    <a:pt x="411479" y="284225"/>
                  </a:lnTo>
                  <a:lnTo>
                    <a:pt x="404481" y="239307"/>
                  </a:lnTo>
                  <a:lnTo>
                    <a:pt x="384998" y="200296"/>
                  </a:lnTo>
                  <a:lnTo>
                    <a:pt x="355299" y="169532"/>
                  </a:lnTo>
                  <a:lnTo>
                    <a:pt x="317650" y="149358"/>
                  </a:lnTo>
                  <a:lnTo>
                    <a:pt x="274320" y="142112"/>
                  </a:lnTo>
                  <a:close/>
                </a:path>
                <a:path w="548639" h="568960">
                  <a:moveTo>
                    <a:pt x="110744" y="243458"/>
                  </a:moveTo>
                  <a:lnTo>
                    <a:pt x="0" y="284225"/>
                  </a:lnTo>
                  <a:lnTo>
                    <a:pt x="110744" y="324993"/>
                  </a:lnTo>
                  <a:lnTo>
                    <a:pt x="110744" y="243458"/>
                  </a:lnTo>
                  <a:close/>
                </a:path>
                <a:path w="548639" h="568960">
                  <a:moveTo>
                    <a:pt x="80390" y="83184"/>
                  </a:moveTo>
                  <a:lnTo>
                    <a:pt x="130810" y="193166"/>
                  </a:lnTo>
                  <a:lnTo>
                    <a:pt x="186436" y="135508"/>
                  </a:lnTo>
                  <a:lnTo>
                    <a:pt x="80390" y="83184"/>
                  </a:lnTo>
                  <a:close/>
                </a:path>
                <a:path w="548639" h="568960">
                  <a:moveTo>
                    <a:pt x="468249" y="83184"/>
                  </a:moveTo>
                  <a:lnTo>
                    <a:pt x="362203" y="135508"/>
                  </a:lnTo>
                  <a:lnTo>
                    <a:pt x="417829" y="193166"/>
                  </a:lnTo>
                  <a:lnTo>
                    <a:pt x="468249" y="83184"/>
                  </a:lnTo>
                  <a:close/>
                </a:path>
                <a:path w="548639" h="568960">
                  <a:moveTo>
                    <a:pt x="274320" y="0"/>
                  </a:moveTo>
                  <a:lnTo>
                    <a:pt x="234950" y="114681"/>
                  </a:lnTo>
                  <a:lnTo>
                    <a:pt x="313689" y="114681"/>
                  </a:lnTo>
                  <a:lnTo>
                    <a:pt x="274320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865875" y="2069592"/>
              <a:ext cx="548640" cy="568960"/>
            </a:xfrm>
            <a:custGeom>
              <a:avLst/>
              <a:gdLst/>
              <a:ahLst/>
              <a:cxnLst/>
              <a:rect l="l" t="t" r="r" b="b"/>
              <a:pathLst>
                <a:path w="548639" h="568960">
                  <a:moveTo>
                    <a:pt x="548639" y="284225"/>
                  </a:moveTo>
                  <a:lnTo>
                    <a:pt x="437896" y="324993"/>
                  </a:lnTo>
                  <a:lnTo>
                    <a:pt x="437896" y="243458"/>
                  </a:lnTo>
                  <a:lnTo>
                    <a:pt x="548639" y="284225"/>
                  </a:lnTo>
                  <a:close/>
                </a:path>
                <a:path w="548639" h="568960">
                  <a:moveTo>
                    <a:pt x="468249" y="83184"/>
                  </a:moveTo>
                  <a:lnTo>
                    <a:pt x="417829" y="193166"/>
                  </a:lnTo>
                  <a:lnTo>
                    <a:pt x="362203" y="135508"/>
                  </a:lnTo>
                  <a:lnTo>
                    <a:pt x="468249" y="83184"/>
                  </a:lnTo>
                  <a:close/>
                </a:path>
                <a:path w="548639" h="568960">
                  <a:moveTo>
                    <a:pt x="274320" y="0"/>
                  </a:moveTo>
                  <a:lnTo>
                    <a:pt x="313689" y="114681"/>
                  </a:lnTo>
                  <a:lnTo>
                    <a:pt x="234950" y="114681"/>
                  </a:lnTo>
                  <a:lnTo>
                    <a:pt x="274320" y="0"/>
                  </a:lnTo>
                  <a:close/>
                </a:path>
                <a:path w="548639" h="568960">
                  <a:moveTo>
                    <a:pt x="80390" y="83184"/>
                  </a:moveTo>
                  <a:lnTo>
                    <a:pt x="186436" y="135508"/>
                  </a:lnTo>
                  <a:lnTo>
                    <a:pt x="130810" y="193166"/>
                  </a:lnTo>
                  <a:lnTo>
                    <a:pt x="80390" y="83184"/>
                  </a:lnTo>
                  <a:close/>
                </a:path>
                <a:path w="548639" h="568960">
                  <a:moveTo>
                    <a:pt x="0" y="284225"/>
                  </a:moveTo>
                  <a:lnTo>
                    <a:pt x="110744" y="243458"/>
                  </a:lnTo>
                  <a:lnTo>
                    <a:pt x="110744" y="324993"/>
                  </a:lnTo>
                  <a:lnTo>
                    <a:pt x="0" y="284225"/>
                  </a:lnTo>
                  <a:close/>
                </a:path>
                <a:path w="548639" h="568960">
                  <a:moveTo>
                    <a:pt x="80390" y="485139"/>
                  </a:moveTo>
                  <a:lnTo>
                    <a:pt x="130810" y="375284"/>
                  </a:lnTo>
                  <a:lnTo>
                    <a:pt x="186436" y="432943"/>
                  </a:lnTo>
                  <a:lnTo>
                    <a:pt x="80390" y="485139"/>
                  </a:lnTo>
                  <a:close/>
                </a:path>
                <a:path w="548639" h="568960">
                  <a:moveTo>
                    <a:pt x="274320" y="568451"/>
                  </a:moveTo>
                  <a:lnTo>
                    <a:pt x="234950" y="453770"/>
                  </a:lnTo>
                  <a:lnTo>
                    <a:pt x="313689" y="453770"/>
                  </a:lnTo>
                  <a:lnTo>
                    <a:pt x="274320" y="568451"/>
                  </a:lnTo>
                  <a:close/>
                </a:path>
                <a:path w="548639" h="568960">
                  <a:moveTo>
                    <a:pt x="468249" y="485139"/>
                  </a:moveTo>
                  <a:lnTo>
                    <a:pt x="362203" y="432943"/>
                  </a:lnTo>
                  <a:lnTo>
                    <a:pt x="417829" y="375284"/>
                  </a:lnTo>
                  <a:lnTo>
                    <a:pt x="468249" y="485139"/>
                  </a:lnTo>
                  <a:close/>
                </a:path>
                <a:path w="548639" h="568960">
                  <a:moveTo>
                    <a:pt x="137160" y="284225"/>
                  </a:moveTo>
                  <a:lnTo>
                    <a:pt x="144158" y="239307"/>
                  </a:lnTo>
                  <a:lnTo>
                    <a:pt x="163641" y="200296"/>
                  </a:lnTo>
                  <a:lnTo>
                    <a:pt x="193340" y="169532"/>
                  </a:lnTo>
                  <a:lnTo>
                    <a:pt x="230989" y="149358"/>
                  </a:lnTo>
                  <a:lnTo>
                    <a:pt x="274320" y="142112"/>
                  </a:lnTo>
                  <a:lnTo>
                    <a:pt x="317650" y="149358"/>
                  </a:lnTo>
                  <a:lnTo>
                    <a:pt x="355299" y="169532"/>
                  </a:lnTo>
                  <a:lnTo>
                    <a:pt x="384998" y="200296"/>
                  </a:lnTo>
                  <a:lnTo>
                    <a:pt x="404481" y="239307"/>
                  </a:lnTo>
                  <a:lnTo>
                    <a:pt x="411479" y="284225"/>
                  </a:lnTo>
                  <a:lnTo>
                    <a:pt x="404481" y="329144"/>
                  </a:lnTo>
                  <a:lnTo>
                    <a:pt x="384998" y="368155"/>
                  </a:lnTo>
                  <a:lnTo>
                    <a:pt x="355299" y="398919"/>
                  </a:lnTo>
                  <a:lnTo>
                    <a:pt x="317650" y="419093"/>
                  </a:lnTo>
                  <a:lnTo>
                    <a:pt x="274320" y="426338"/>
                  </a:lnTo>
                  <a:lnTo>
                    <a:pt x="230989" y="419093"/>
                  </a:lnTo>
                  <a:lnTo>
                    <a:pt x="193340" y="398919"/>
                  </a:lnTo>
                  <a:lnTo>
                    <a:pt x="163641" y="368155"/>
                  </a:lnTo>
                  <a:lnTo>
                    <a:pt x="144158" y="329144"/>
                  </a:lnTo>
                  <a:lnTo>
                    <a:pt x="137160" y="284225"/>
                  </a:lnTo>
                  <a:close/>
                </a:path>
              </a:pathLst>
            </a:custGeom>
            <a:ln w="914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387339" y="1831848"/>
              <a:ext cx="548640" cy="568960"/>
            </a:xfrm>
            <a:custGeom>
              <a:avLst/>
              <a:gdLst/>
              <a:ahLst/>
              <a:cxnLst/>
              <a:rect l="l" t="t" r="r" b="b"/>
              <a:pathLst>
                <a:path w="548639" h="568960">
                  <a:moveTo>
                    <a:pt x="437896" y="243458"/>
                  </a:moveTo>
                  <a:lnTo>
                    <a:pt x="437896" y="324993"/>
                  </a:lnTo>
                  <a:lnTo>
                    <a:pt x="548639" y="284225"/>
                  </a:lnTo>
                  <a:lnTo>
                    <a:pt x="437896" y="243458"/>
                  </a:lnTo>
                  <a:close/>
                </a:path>
                <a:path w="548639" h="568960">
                  <a:moveTo>
                    <a:pt x="313689" y="453770"/>
                  </a:moveTo>
                  <a:lnTo>
                    <a:pt x="234950" y="453770"/>
                  </a:lnTo>
                  <a:lnTo>
                    <a:pt x="274320" y="568451"/>
                  </a:lnTo>
                  <a:lnTo>
                    <a:pt x="313689" y="453770"/>
                  </a:lnTo>
                  <a:close/>
                </a:path>
                <a:path w="548639" h="568960">
                  <a:moveTo>
                    <a:pt x="130810" y="375284"/>
                  </a:moveTo>
                  <a:lnTo>
                    <a:pt x="80390" y="485139"/>
                  </a:lnTo>
                  <a:lnTo>
                    <a:pt x="186436" y="432943"/>
                  </a:lnTo>
                  <a:lnTo>
                    <a:pt x="130810" y="375284"/>
                  </a:lnTo>
                  <a:close/>
                </a:path>
                <a:path w="548639" h="568960">
                  <a:moveTo>
                    <a:pt x="417830" y="375284"/>
                  </a:moveTo>
                  <a:lnTo>
                    <a:pt x="362204" y="432943"/>
                  </a:lnTo>
                  <a:lnTo>
                    <a:pt x="468249" y="485139"/>
                  </a:lnTo>
                  <a:lnTo>
                    <a:pt x="417830" y="375284"/>
                  </a:lnTo>
                  <a:close/>
                </a:path>
                <a:path w="548639" h="568960">
                  <a:moveTo>
                    <a:pt x="274320" y="142112"/>
                  </a:moveTo>
                  <a:lnTo>
                    <a:pt x="230989" y="149358"/>
                  </a:lnTo>
                  <a:lnTo>
                    <a:pt x="193340" y="169532"/>
                  </a:lnTo>
                  <a:lnTo>
                    <a:pt x="163641" y="200296"/>
                  </a:lnTo>
                  <a:lnTo>
                    <a:pt x="144158" y="239307"/>
                  </a:lnTo>
                  <a:lnTo>
                    <a:pt x="137160" y="284225"/>
                  </a:lnTo>
                  <a:lnTo>
                    <a:pt x="144158" y="329144"/>
                  </a:lnTo>
                  <a:lnTo>
                    <a:pt x="163641" y="368155"/>
                  </a:lnTo>
                  <a:lnTo>
                    <a:pt x="193340" y="398919"/>
                  </a:lnTo>
                  <a:lnTo>
                    <a:pt x="230989" y="419093"/>
                  </a:lnTo>
                  <a:lnTo>
                    <a:pt x="274320" y="426338"/>
                  </a:lnTo>
                  <a:lnTo>
                    <a:pt x="317650" y="419093"/>
                  </a:lnTo>
                  <a:lnTo>
                    <a:pt x="355299" y="398919"/>
                  </a:lnTo>
                  <a:lnTo>
                    <a:pt x="384998" y="368155"/>
                  </a:lnTo>
                  <a:lnTo>
                    <a:pt x="404481" y="329144"/>
                  </a:lnTo>
                  <a:lnTo>
                    <a:pt x="411480" y="284225"/>
                  </a:lnTo>
                  <a:lnTo>
                    <a:pt x="404481" y="239307"/>
                  </a:lnTo>
                  <a:lnTo>
                    <a:pt x="384998" y="200296"/>
                  </a:lnTo>
                  <a:lnTo>
                    <a:pt x="355299" y="169532"/>
                  </a:lnTo>
                  <a:lnTo>
                    <a:pt x="317650" y="149358"/>
                  </a:lnTo>
                  <a:lnTo>
                    <a:pt x="274320" y="142112"/>
                  </a:lnTo>
                  <a:close/>
                </a:path>
                <a:path w="548639" h="568960">
                  <a:moveTo>
                    <a:pt x="110744" y="243458"/>
                  </a:moveTo>
                  <a:lnTo>
                    <a:pt x="0" y="284225"/>
                  </a:lnTo>
                  <a:lnTo>
                    <a:pt x="110744" y="324993"/>
                  </a:lnTo>
                  <a:lnTo>
                    <a:pt x="110744" y="243458"/>
                  </a:lnTo>
                  <a:close/>
                </a:path>
                <a:path w="548639" h="568960">
                  <a:moveTo>
                    <a:pt x="80390" y="83184"/>
                  </a:moveTo>
                  <a:lnTo>
                    <a:pt x="130810" y="193166"/>
                  </a:lnTo>
                  <a:lnTo>
                    <a:pt x="186436" y="135508"/>
                  </a:lnTo>
                  <a:lnTo>
                    <a:pt x="80390" y="83184"/>
                  </a:lnTo>
                  <a:close/>
                </a:path>
                <a:path w="548639" h="568960">
                  <a:moveTo>
                    <a:pt x="468249" y="83184"/>
                  </a:moveTo>
                  <a:lnTo>
                    <a:pt x="362204" y="135508"/>
                  </a:lnTo>
                  <a:lnTo>
                    <a:pt x="417830" y="193166"/>
                  </a:lnTo>
                  <a:lnTo>
                    <a:pt x="468249" y="83184"/>
                  </a:lnTo>
                  <a:close/>
                </a:path>
                <a:path w="548639" h="568960">
                  <a:moveTo>
                    <a:pt x="274320" y="0"/>
                  </a:moveTo>
                  <a:lnTo>
                    <a:pt x="234950" y="114681"/>
                  </a:lnTo>
                  <a:lnTo>
                    <a:pt x="313689" y="114681"/>
                  </a:lnTo>
                  <a:lnTo>
                    <a:pt x="274320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387339" y="1831848"/>
              <a:ext cx="548640" cy="568960"/>
            </a:xfrm>
            <a:custGeom>
              <a:avLst/>
              <a:gdLst/>
              <a:ahLst/>
              <a:cxnLst/>
              <a:rect l="l" t="t" r="r" b="b"/>
              <a:pathLst>
                <a:path w="548639" h="568960">
                  <a:moveTo>
                    <a:pt x="548639" y="284225"/>
                  </a:moveTo>
                  <a:lnTo>
                    <a:pt x="437896" y="324993"/>
                  </a:lnTo>
                  <a:lnTo>
                    <a:pt x="437896" y="243458"/>
                  </a:lnTo>
                  <a:lnTo>
                    <a:pt x="548639" y="284225"/>
                  </a:lnTo>
                  <a:close/>
                </a:path>
                <a:path w="548639" h="568960">
                  <a:moveTo>
                    <a:pt x="468249" y="83184"/>
                  </a:moveTo>
                  <a:lnTo>
                    <a:pt x="417830" y="193166"/>
                  </a:lnTo>
                  <a:lnTo>
                    <a:pt x="362204" y="135508"/>
                  </a:lnTo>
                  <a:lnTo>
                    <a:pt x="468249" y="83184"/>
                  </a:lnTo>
                  <a:close/>
                </a:path>
                <a:path w="548639" h="568960">
                  <a:moveTo>
                    <a:pt x="274320" y="0"/>
                  </a:moveTo>
                  <a:lnTo>
                    <a:pt x="313689" y="114681"/>
                  </a:lnTo>
                  <a:lnTo>
                    <a:pt x="234950" y="114681"/>
                  </a:lnTo>
                  <a:lnTo>
                    <a:pt x="274320" y="0"/>
                  </a:lnTo>
                  <a:close/>
                </a:path>
                <a:path w="548639" h="568960">
                  <a:moveTo>
                    <a:pt x="80390" y="83184"/>
                  </a:moveTo>
                  <a:lnTo>
                    <a:pt x="186436" y="135508"/>
                  </a:lnTo>
                  <a:lnTo>
                    <a:pt x="130810" y="193166"/>
                  </a:lnTo>
                  <a:lnTo>
                    <a:pt x="80390" y="83184"/>
                  </a:lnTo>
                  <a:close/>
                </a:path>
                <a:path w="548639" h="568960">
                  <a:moveTo>
                    <a:pt x="0" y="284225"/>
                  </a:moveTo>
                  <a:lnTo>
                    <a:pt x="110744" y="243458"/>
                  </a:lnTo>
                  <a:lnTo>
                    <a:pt x="110744" y="324993"/>
                  </a:lnTo>
                  <a:lnTo>
                    <a:pt x="0" y="284225"/>
                  </a:lnTo>
                  <a:close/>
                </a:path>
                <a:path w="548639" h="568960">
                  <a:moveTo>
                    <a:pt x="80390" y="485139"/>
                  </a:moveTo>
                  <a:lnTo>
                    <a:pt x="130810" y="375284"/>
                  </a:lnTo>
                  <a:lnTo>
                    <a:pt x="186436" y="432943"/>
                  </a:lnTo>
                  <a:lnTo>
                    <a:pt x="80390" y="485139"/>
                  </a:lnTo>
                  <a:close/>
                </a:path>
                <a:path w="548639" h="568960">
                  <a:moveTo>
                    <a:pt x="274320" y="568451"/>
                  </a:moveTo>
                  <a:lnTo>
                    <a:pt x="234950" y="453770"/>
                  </a:lnTo>
                  <a:lnTo>
                    <a:pt x="313689" y="453770"/>
                  </a:lnTo>
                  <a:lnTo>
                    <a:pt x="274320" y="568451"/>
                  </a:lnTo>
                  <a:close/>
                </a:path>
                <a:path w="548639" h="568960">
                  <a:moveTo>
                    <a:pt x="468249" y="485139"/>
                  </a:moveTo>
                  <a:lnTo>
                    <a:pt x="362204" y="432943"/>
                  </a:lnTo>
                  <a:lnTo>
                    <a:pt x="417830" y="375284"/>
                  </a:lnTo>
                  <a:lnTo>
                    <a:pt x="468249" y="485139"/>
                  </a:lnTo>
                  <a:close/>
                </a:path>
                <a:path w="548639" h="568960">
                  <a:moveTo>
                    <a:pt x="137160" y="284225"/>
                  </a:moveTo>
                  <a:lnTo>
                    <a:pt x="144158" y="239307"/>
                  </a:lnTo>
                  <a:lnTo>
                    <a:pt x="163641" y="200296"/>
                  </a:lnTo>
                  <a:lnTo>
                    <a:pt x="193340" y="169532"/>
                  </a:lnTo>
                  <a:lnTo>
                    <a:pt x="230989" y="149358"/>
                  </a:lnTo>
                  <a:lnTo>
                    <a:pt x="274320" y="142112"/>
                  </a:lnTo>
                  <a:lnTo>
                    <a:pt x="317650" y="149358"/>
                  </a:lnTo>
                  <a:lnTo>
                    <a:pt x="355299" y="169532"/>
                  </a:lnTo>
                  <a:lnTo>
                    <a:pt x="384998" y="200296"/>
                  </a:lnTo>
                  <a:lnTo>
                    <a:pt x="404481" y="239307"/>
                  </a:lnTo>
                  <a:lnTo>
                    <a:pt x="411480" y="284225"/>
                  </a:lnTo>
                  <a:lnTo>
                    <a:pt x="404481" y="329144"/>
                  </a:lnTo>
                  <a:lnTo>
                    <a:pt x="384998" y="368155"/>
                  </a:lnTo>
                  <a:lnTo>
                    <a:pt x="355299" y="398919"/>
                  </a:lnTo>
                  <a:lnTo>
                    <a:pt x="317650" y="419093"/>
                  </a:lnTo>
                  <a:lnTo>
                    <a:pt x="274320" y="426338"/>
                  </a:lnTo>
                  <a:lnTo>
                    <a:pt x="230989" y="419093"/>
                  </a:lnTo>
                  <a:lnTo>
                    <a:pt x="193340" y="398919"/>
                  </a:lnTo>
                  <a:lnTo>
                    <a:pt x="163641" y="368155"/>
                  </a:lnTo>
                  <a:lnTo>
                    <a:pt x="144158" y="329144"/>
                  </a:lnTo>
                  <a:lnTo>
                    <a:pt x="137160" y="284225"/>
                  </a:lnTo>
                  <a:close/>
                </a:path>
              </a:pathLst>
            </a:custGeom>
            <a:ln w="914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6375" rIns="0" bIns="0" rtlCol="0">
            <a:spAutoFit/>
          </a:bodyPr>
          <a:lstStyle/>
          <a:p>
            <a:pPr marL="248285">
              <a:lnSpc>
                <a:spcPct val="100000"/>
              </a:lnSpc>
              <a:spcBef>
                <a:spcPts val="100"/>
              </a:spcBef>
            </a:pPr>
            <a:r>
              <a:rPr spc="-35" dirty="0"/>
              <a:t>Clustering</a:t>
            </a:r>
          </a:p>
        </p:txBody>
      </p:sp>
      <p:grpSp>
        <p:nvGrpSpPr>
          <p:cNvPr id="19" name="object 19"/>
          <p:cNvGrpSpPr/>
          <p:nvPr/>
        </p:nvGrpSpPr>
        <p:grpSpPr>
          <a:xfrm>
            <a:off x="6842759" y="1327403"/>
            <a:ext cx="163195" cy="429895"/>
            <a:chOff x="6842759" y="1327403"/>
            <a:chExt cx="163195" cy="429895"/>
          </a:xfrm>
        </p:grpSpPr>
        <p:sp>
          <p:nvSpPr>
            <p:cNvPr id="20" name="object 20"/>
            <p:cNvSpPr/>
            <p:nvPr/>
          </p:nvSpPr>
          <p:spPr>
            <a:xfrm>
              <a:off x="6847331" y="1331975"/>
              <a:ext cx="154305" cy="421005"/>
            </a:xfrm>
            <a:custGeom>
              <a:avLst/>
              <a:gdLst/>
              <a:ahLst/>
              <a:cxnLst/>
              <a:rect l="l" t="t" r="r" b="b"/>
              <a:pathLst>
                <a:path w="154304" h="421005">
                  <a:moveTo>
                    <a:pt x="153924" y="0"/>
                  </a:moveTo>
                  <a:lnTo>
                    <a:pt x="113021" y="7508"/>
                  </a:lnTo>
                  <a:lnTo>
                    <a:pt x="76256" y="28701"/>
                  </a:lnTo>
                  <a:lnTo>
                    <a:pt x="45100" y="61579"/>
                  </a:lnTo>
                  <a:lnTo>
                    <a:pt x="21025" y="104139"/>
                  </a:lnTo>
                  <a:lnTo>
                    <a:pt x="5501" y="154384"/>
                  </a:lnTo>
                  <a:lnTo>
                    <a:pt x="0" y="210312"/>
                  </a:lnTo>
                  <a:lnTo>
                    <a:pt x="5501" y="266239"/>
                  </a:lnTo>
                  <a:lnTo>
                    <a:pt x="21025" y="316484"/>
                  </a:lnTo>
                  <a:lnTo>
                    <a:pt x="45100" y="359044"/>
                  </a:lnTo>
                  <a:lnTo>
                    <a:pt x="76256" y="391922"/>
                  </a:lnTo>
                  <a:lnTo>
                    <a:pt x="113021" y="413115"/>
                  </a:lnTo>
                  <a:lnTo>
                    <a:pt x="153924" y="420624"/>
                  </a:lnTo>
                  <a:lnTo>
                    <a:pt x="143285" y="408890"/>
                  </a:lnTo>
                  <a:lnTo>
                    <a:pt x="133302" y="396192"/>
                  </a:lnTo>
                  <a:lnTo>
                    <a:pt x="95307" y="322441"/>
                  </a:lnTo>
                  <a:lnTo>
                    <a:pt x="82611" y="273766"/>
                  </a:lnTo>
                  <a:lnTo>
                    <a:pt x="77199" y="223498"/>
                  </a:lnTo>
                  <a:lnTo>
                    <a:pt x="78914" y="173116"/>
                  </a:lnTo>
                  <a:lnTo>
                    <a:pt x="87600" y="124098"/>
                  </a:lnTo>
                  <a:lnTo>
                    <a:pt x="103102" y="77920"/>
                  </a:lnTo>
                  <a:lnTo>
                    <a:pt x="125261" y="36061"/>
                  </a:lnTo>
                  <a:lnTo>
                    <a:pt x="153924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847331" y="1331975"/>
              <a:ext cx="154305" cy="421005"/>
            </a:xfrm>
            <a:custGeom>
              <a:avLst/>
              <a:gdLst/>
              <a:ahLst/>
              <a:cxnLst/>
              <a:rect l="l" t="t" r="r" b="b"/>
              <a:pathLst>
                <a:path w="154304" h="421005">
                  <a:moveTo>
                    <a:pt x="153924" y="420624"/>
                  </a:moveTo>
                  <a:lnTo>
                    <a:pt x="113021" y="413115"/>
                  </a:lnTo>
                  <a:lnTo>
                    <a:pt x="76256" y="391922"/>
                  </a:lnTo>
                  <a:lnTo>
                    <a:pt x="45100" y="359044"/>
                  </a:lnTo>
                  <a:lnTo>
                    <a:pt x="21025" y="316484"/>
                  </a:lnTo>
                  <a:lnTo>
                    <a:pt x="5501" y="266239"/>
                  </a:lnTo>
                  <a:lnTo>
                    <a:pt x="0" y="210312"/>
                  </a:lnTo>
                  <a:lnTo>
                    <a:pt x="5501" y="154384"/>
                  </a:lnTo>
                  <a:lnTo>
                    <a:pt x="21025" y="104139"/>
                  </a:lnTo>
                  <a:lnTo>
                    <a:pt x="45100" y="61579"/>
                  </a:lnTo>
                  <a:lnTo>
                    <a:pt x="76256" y="28701"/>
                  </a:lnTo>
                  <a:lnTo>
                    <a:pt x="113021" y="7508"/>
                  </a:lnTo>
                  <a:lnTo>
                    <a:pt x="153924" y="0"/>
                  </a:lnTo>
                  <a:lnTo>
                    <a:pt x="125261" y="36061"/>
                  </a:lnTo>
                  <a:lnTo>
                    <a:pt x="103102" y="77920"/>
                  </a:lnTo>
                  <a:lnTo>
                    <a:pt x="87600" y="124098"/>
                  </a:lnTo>
                  <a:lnTo>
                    <a:pt x="78914" y="173116"/>
                  </a:lnTo>
                  <a:lnTo>
                    <a:pt x="77199" y="223498"/>
                  </a:lnTo>
                  <a:lnTo>
                    <a:pt x="82611" y="273766"/>
                  </a:lnTo>
                  <a:lnTo>
                    <a:pt x="95307" y="322441"/>
                  </a:lnTo>
                  <a:lnTo>
                    <a:pt x="115443" y="368046"/>
                  </a:lnTo>
                  <a:lnTo>
                    <a:pt x="143285" y="408890"/>
                  </a:lnTo>
                  <a:lnTo>
                    <a:pt x="153924" y="420624"/>
                  </a:lnTo>
                  <a:close/>
                </a:path>
              </a:pathLst>
            </a:custGeom>
            <a:ln w="914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2634995"/>
            <a:ext cx="9144000" cy="2508885"/>
            <a:chOff x="0" y="2634995"/>
            <a:chExt cx="9144000" cy="250888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41095" y="2634995"/>
              <a:ext cx="957020" cy="113080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8244" y="3532631"/>
              <a:ext cx="792480" cy="79095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385815" y="2740151"/>
              <a:ext cx="1220724" cy="122072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55155" y="2709671"/>
              <a:ext cx="957020" cy="1130808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069047" y="2955035"/>
              <a:ext cx="611068" cy="792479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390550" y="470661"/>
            <a:ext cx="326705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Association</a:t>
            </a:r>
          </a:p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42666" y="1571752"/>
            <a:ext cx="1554235" cy="926388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426979" y="2806987"/>
            <a:ext cx="752837" cy="706548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346269" y="1757600"/>
            <a:ext cx="1106281" cy="534066"/>
          </a:xfrm>
          <a:prstGeom prst="rect">
            <a:avLst/>
          </a:prstGeom>
        </p:spPr>
      </p:pic>
      <p:sp>
        <p:nvSpPr>
          <p:cNvPr id="12" name="object 12"/>
          <p:cNvSpPr/>
          <p:nvPr/>
        </p:nvSpPr>
        <p:spPr>
          <a:xfrm>
            <a:off x="3752469" y="2324100"/>
            <a:ext cx="1051560" cy="114300"/>
          </a:xfrm>
          <a:custGeom>
            <a:avLst/>
            <a:gdLst/>
            <a:ahLst/>
            <a:cxnLst/>
            <a:rect l="l" t="t" r="r" b="b"/>
            <a:pathLst>
              <a:path w="1051560" h="114300">
                <a:moveTo>
                  <a:pt x="938148" y="0"/>
                </a:moveTo>
                <a:lnTo>
                  <a:pt x="937345" y="38077"/>
                </a:lnTo>
                <a:lnTo>
                  <a:pt x="956436" y="38481"/>
                </a:lnTo>
                <a:lnTo>
                  <a:pt x="955683" y="76176"/>
                </a:lnTo>
                <a:lnTo>
                  <a:pt x="955675" y="76581"/>
                </a:lnTo>
                <a:lnTo>
                  <a:pt x="936532" y="76581"/>
                </a:lnTo>
                <a:lnTo>
                  <a:pt x="935735" y="114300"/>
                </a:lnTo>
                <a:lnTo>
                  <a:pt x="1015374" y="76581"/>
                </a:lnTo>
                <a:lnTo>
                  <a:pt x="955675" y="76581"/>
                </a:lnTo>
                <a:lnTo>
                  <a:pt x="936540" y="76176"/>
                </a:lnTo>
                <a:lnTo>
                  <a:pt x="1016228" y="76176"/>
                </a:lnTo>
                <a:lnTo>
                  <a:pt x="1051305" y="59562"/>
                </a:lnTo>
                <a:lnTo>
                  <a:pt x="938148" y="0"/>
                </a:lnTo>
                <a:close/>
              </a:path>
              <a:path w="1051560" h="114300">
                <a:moveTo>
                  <a:pt x="937345" y="38077"/>
                </a:moveTo>
                <a:lnTo>
                  <a:pt x="936540" y="76176"/>
                </a:lnTo>
                <a:lnTo>
                  <a:pt x="955675" y="76581"/>
                </a:lnTo>
                <a:lnTo>
                  <a:pt x="956436" y="38481"/>
                </a:lnTo>
                <a:lnTo>
                  <a:pt x="937345" y="38077"/>
                </a:lnTo>
                <a:close/>
              </a:path>
              <a:path w="1051560" h="114300">
                <a:moveTo>
                  <a:pt x="761" y="18287"/>
                </a:moveTo>
                <a:lnTo>
                  <a:pt x="0" y="56387"/>
                </a:lnTo>
                <a:lnTo>
                  <a:pt x="936540" y="76176"/>
                </a:lnTo>
                <a:lnTo>
                  <a:pt x="937336" y="38481"/>
                </a:lnTo>
                <a:lnTo>
                  <a:pt x="937345" y="38077"/>
                </a:lnTo>
                <a:lnTo>
                  <a:pt x="761" y="18287"/>
                </a:lnTo>
                <a:close/>
              </a:path>
            </a:pathLst>
          </a:custGeom>
          <a:solidFill>
            <a:srgbClr val="43434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334024" y="1065711"/>
            <a:ext cx="1552907" cy="924980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546095" y="1084739"/>
            <a:ext cx="752837" cy="705189"/>
          </a:xfrm>
          <a:prstGeom prst="rect">
            <a:avLst/>
          </a:prstGeom>
        </p:spPr>
      </p:pic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0550" y="470661"/>
            <a:ext cx="524825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Popular</a:t>
            </a:r>
            <a:r>
              <a:rPr spc="-180" dirty="0"/>
              <a:t> </a:t>
            </a:r>
            <a:r>
              <a:rPr spc="-10" dirty="0"/>
              <a:t>Algorithms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04850" y="1252855"/>
            <a:ext cx="7572350" cy="2494915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80"/>
              </a:spcBef>
              <a:tabLst>
                <a:tab pos="354965" algn="l"/>
              </a:tabLst>
            </a:pPr>
            <a:r>
              <a:rPr sz="1800" spc="-50" dirty="0">
                <a:solidFill>
                  <a:srgbClr val="434343"/>
                </a:solidFill>
                <a:latin typeface="Segoe UI Symbol"/>
                <a:cs typeface="Segoe UI Symbol"/>
              </a:rPr>
              <a:t>★</a:t>
            </a:r>
            <a:r>
              <a:rPr sz="1800" dirty="0">
                <a:solidFill>
                  <a:srgbClr val="434343"/>
                </a:solidFill>
                <a:latin typeface="Segoe UI Symbol"/>
                <a:cs typeface="Segoe UI Symbol"/>
              </a:rPr>
              <a:t>	</a:t>
            </a:r>
            <a:r>
              <a:rPr sz="1800" b="1" spc="-165" dirty="0">
                <a:solidFill>
                  <a:srgbClr val="434343"/>
                </a:solidFill>
                <a:latin typeface="Roboto Bk"/>
                <a:cs typeface="Roboto Bk"/>
              </a:rPr>
              <a:t>K-</a:t>
            </a:r>
            <a:r>
              <a:rPr sz="1800" b="1" dirty="0">
                <a:solidFill>
                  <a:srgbClr val="434343"/>
                </a:solidFill>
                <a:latin typeface="Roboto Bk"/>
                <a:cs typeface="Roboto Bk"/>
              </a:rPr>
              <a:t>means</a:t>
            </a:r>
            <a:r>
              <a:rPr sz="1800" b="1" spc="-25" dirty="0">
                <a:solidFill>
                  <a:srgbClr val="434343"/>
                </a:solidFill>
                <a:latin typeface="Roboto Bk"/>
                <a:cs typeface="Roboto Bk"/>
              </a:rPr>
              <a:t> </a:t>
            </a:r>
            <a:r>
              <a:rPr sz="1800" b="1" spc="-30" dirty="0">
                <a:solidFill>
                  <a:srgbClr val="434343"/>
                </a:solidFill>
                <a:latin typeface="Roboto Bk"/>
                <a:cs typeface="Roboto Bk"/>
              </a:rPr>
              <a:t>Clustering:</a:t>
            </a:r>
            <a:r>
              <a:rPr sz="1800" b="1" spc="-5" dirty="0">
                <a:solidFill>
                  <a:srgbClr val="434343"/>
                </a:solidFill>
                <a:latin typeface="Roboto Bk"/>
                <a:cs typeface="Roboto Bk"/>
              </a:rPr>
              <a:t> </a:t>
            </a:r>
            <a:r>
              <a:rPr sz="1400" b="1" i="1" dirty="0">
                <a:solidFill>
                  <a:srgbClr val="434343"/>
                </a:solidFill>
                <a:latin typeface="Roboto Bk"/>
                <a:cs typeface="Roboto Bk"/>
              </a:rPr>
              <a:t>K</a:t>
            </a:r>
            <a:r>
              <a:rPr sz="1400" b="1" i="1" spc="-20" dirty="0">
                <a:solidFill>
                  <a:srgbClr val="434343"/>
                </a:solidFill>
                <a:latin typeface="Roboto Bk"/>
                <a:cs typeface="Roboto Bk"/>
              </a:rPr>
              <a:t> clusters</a:t>
            </a:r>
            <a:r>
              <a:rPr sz="1400" b="1" i="1" spc="-45" dirty="0">
                <a:solidFill>
                  <a:srgbClr val="434343"/>
                </a:solidFill>
                <a:latin typeface="Roboto Bk"/>
                <a:cs typeface="Roboto Bk"/>
              </a:rPr>
              <a:t> </a:t>
            </a:r>
            <a:r>
              <a:rPr sz="1400" b="1" i="1" dirty="0">
                <a:solidFill>
                  <a:srgbClr val="434343"/>
                </a:solidFill>
                <a:latin typeface="Roboto Bk"/>
                <a:cs typeface="Roboto Bk"/>
              </a:rPr>
              <a:t>and</a:t>
            </a:r>
            <a:r>
              <a:rPr sz="1400" b="1" i="1" spc="-20" dirty="0">
                <a:solidFill>
                  <a:srgbClr val="434343"/>
                </a:solidFill>
                <a:latin typeface="Roboto Bk"/>
                <a:cs typeface="Roboto Bk"/>
              </a:rPr>
              <a:t> </a:t>
            </a:r>
            <a:r>
              <a:rPr sz="1400" b="1" i="1" spc="-10" dirty="0">
                <a:solidFill>
                  <a:srgbClr val="434343"/>
                </a:solidFill>
                <a:latin typeface="Roboto Bk"/>
                <a:cs typeface="Roboto Bk"/>
              </a:rPr>
              <a:t>centroids</a:t>
            </a:r>
            <a:endParaRPr sz="1400" dirty="0">
              <a:latin typeface="Roboto Bk"/>
              <a:cs typeface="Roboto Bk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  <a:tabLst>
                <a:tab pos="354965" algn="l"/>
              </a:tabLst>
            </a:pPr>
            <a:r>
              <a:rPr sz="1800" spc="-50" dirty="0">
                <a:solidFill>
                  <a:srgbClr val="434343"/>
                </a:solidFill>
                <a:latin typeface="Segoe UI Symbol"/>
                <a:cs typeface="Segoe UI Symbol"/>
              </a:rPr>
              <a:t>★</a:t>
            </a:r>
            <a:r>
              <a:rPr sz="1800" dirty="0">
                <a:solidFill>
                  <a:srgbClr val="434343"/>
                </a:solidFill>
                <a:latin typeface="Segoe UI Symbol"/>
                <a:cs typeface="Segoe UI Symbol"/>
              </a:rPr>
              <a:t>	</a:t>
            </a:r>
            <a:r>
              <a:rPr sz="1800" b="1" spc="-10" dirty="0">
                <a:solidFill>
                  <a:srgbClr val="434343"/>
                </a:solidFill>
                <a:latin typeface="Roboto Bk"/>
                <a:cs typeface="Roboto Bk"/>
              </a:rPr>
              <a:t>Hierarchical</a:t>
            </a:r>
            <a:r>
              <a:rPr sz="1800" b="1" spc="-70" dirty="0">
                <a:solidFill>
                  <a:srgbClr val="434343"/>
                </a:solidFill>
                <a:latin typeface="Roboto Bk"/>
                <a:cs typeface="Roboto Bk"/>
              </a:rPr>
              <a:t> </a:t>
            </a:r>
            <a:r>
              <a:rPr sz="1800" b="1" spc="-30" dirty="0">
                <a:solidFill>
                  <a:srgbClr val="434343"/>
                </a:solidFill>
                <a:latin typeface="Roboto Bk"/>
                <a:cs typeface="Roboto Bk"/>
              </a:rPr>
              <a:t>Clustering:</a:t>
            </a:r>
            <a:r>
              <a:rPr sz="1800" b="1" spc="-20" dirty="0">
                <a:solidFill>
                  <a:srgbClr val="434343"/>
                </a:solidFill>
                <a:latin typeface="Roboto Bk"/>
                <a:cs typeface="Roboto Bk"/>
              </a:rPr>
              <a:t> </a:t>
            </a:r>
            <a:r>
              <a:rPr sz="1400" b="1" i="1" spc="-10" dirty="0">
                <a:solidFill>
                  <a:srgbClr val="434343"/>
                </a:solidFill>
                <a:latin typeface="Roboto Bk"/>
                <a:cs typeface="Roboto Bk"/>
              </a:rPr>
              <a:t>Dendrogram</a:t>
            </a:r>
            <a:r>
              <a:rPr sz="1400" b="1" i="1" spc="-45" dirty="0">
                <a:solidFill>
                  <a:srgbClr val="434343"/>
                </a:solidFill>
                <a:latin typeface="Roboto Bk"/>
                <a:cs typeface="Roboto Bk"/>
              </a:rPr>
              <a:t> </a:t>
            </a:r>
            <a:r>
              <a:rPr sz="1400" b="1" i="1" spc="-10" dirty="0">
                <a:solidFill>
                  <a:srgbClr val="434343"/>
                </a:solidFill>
                <a:latin typeface="Roboto Bk"/>
                <a:cs typeface="Roboto Bk"/>
              </a:rPr>
              <a:t>shaped</a:t>
            </a:r>
            <a:endParaRPr sz="1400" dirty="0">
              <a:latin typeface="Roboto Bk"/>
              <a:cs typeface="Roboto Bk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  <a:tabLst>
                <a:tab pos="354965" algn="l"/>
              </a:tabLst>
            </a:pPr>
            <a:r>
              <a:rPr sz="1800" spc="-50" dirty="0">
                <a:solidFill>
                  <a:srgbClr val="434343"/>
                </a:solidFill>
                <a:latin typeface="Segoe UI Symbol"/>
                <a:cs typeface="Segoe UI Symbol"/>
              </a:rPr>
              <a:t>★</a:t>
            </a:r>
            <a:r>
              <a:rPr sz="1800" dirty="0">
                <a:solidFill>
                  <a:srgbClr val="434343"/>
                </a:solidFill>
                <a:latin typeface="Segoe UI Symbol"/>
                <a:cs typeface="Segoe UI Symbol"/>
              </a:rPr>
              <a:t>	</a:t>
            </a:r>
            <a:r>
              <a:rPr sz="1800" b="1" spc="-10" dirty="0">
                <a:solidFill>
                  <a:srgbClr val="434343"/>
                </a:solidFill>
                <a:latin typeface="Roboto Bk"/>
                <a:cs typeface="Roboto Bk"/>
              </a:rPr>
              <a:t>Apriori</a:t>
            </a:r>
            <a:r>
              <a:rPr sz="1800" b="1" spc="-50" dirty="0">
                <a:solidFill>
                  <a:srgbClr val="434343"/>
                </a:solidFill>
                <a:latin typeface="Roboto Bk"/>
                <a:cs typeface="Roboto Bk"/>
              </a:rPr>
              <a:t> </a:t>
            </a:r>
            <a:r>
              <a:rPr sz="1800" b="1" spc="-10" dirty="0">
                <a:solidFill>
                  <a:srgbClr val="434343"/>
                </a:solidFill>
                <a:latin typeface="Roboto Bk"/>
                <a:cs typeface="Roboto Bk"/>
              </a:rPr>
              <a:t>Association</a:t>
            </a:r>
            <a:r>
              <a:rPr sz="1800" b="1" spc="-70" dirty="0">
                <a:solidFill>
                  <a:srgbClr val="434343"/>
                </a:solidFill>
                <a:latin typeface="Roboto Bk"/>
                <a:cs typeface="Roboto Bk"/>
              </a:rPr>
              <a:t> </a:t>
            </a:r>
            <a:r>
              <a:rPr sz="1800" b="1" spc="-10" dirty="0">
                <a:solidFill>
                  <a:srgbClr val="434343"/>
                </a:solidFill>
                <a:latin typeface="Roboto Bk"/>
                <a:cs typeface="Roboto Bk"/>
              </a:rPr>
              <a:t>Algorithm</a:t>
            </a:r>
            <a:endParaRPr sz="1800" dirty="0">
              <a:latin typeface="Roboto Bk"/>
              <a:cs typeface="Roboto Bk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  <a:tabLst>
                <a:tab pos="354965" algn="l"/>
              </a:tabLst>
            </a:pPr>
            <a:r>
              <a:rPr sz="1800" spc="-50" dirty="0">
                <a:solidFill>
                  <a:srgbClr val="434343"/>
                </a:solidFill>
                <a:latin typeface="Segoe UI Symbol"/>
                <a:cs typeface="Segoe UI Symbol"/>
              </a:rPr>
              <a:t>★</a:t>
            </a:r>
            <a:r>
              <a:rPr sz="1800" dirty="0">
                <a:solidFill>
                  <a:srgbClr val="434343"/>
                </a:solidFill>
                <a:latin typeface="Segoe UI Symbol"/>
                <a:cs typeface="Segoe UI Symbol"/>
              </a:rPr>
              <a:t>	</a:t>
            </a:r>
            <a:r>
              <a:rPr sz="1800" b="1" dirty="0">
                <a:solidFill>
                  <a:srgbClr val="434343"/>
                </a:solidFill>
                <a:latin typeface="Roboto Bk"/>
                <a:cs typeface="Roboto Bk"/>
              </a:rPr>
              <a:t>Eclat</a:t>
            </a:r>
            <a:r>
              <a:rPr sz="1800" b="1" spc="-45" dirty="0">
                <a:solidFill>
                  <a:srgbClr val="434343"/>
                </a:solidFill>
                <a:latin typeface="Roboto Bk"/>
                <a:cs typeface="Roboto Bk"/>
              </a:rPr>
              <a:t> </a:t>
            </a:r>
            <a:r>
              <a:rPr sz="1800" b="1" spc="-10" dirty="0">
                <a:solidFill>
                  <a:srgbClr val="434343"/>
                </a:solidFill>
                <a:latin typeface="Roboto Bk"/>
                <a:cs typeface="Roboto Bk"/>
              </a:rPr>
              <a:t>Algorithm</a:t>
            </a:r>
            <a:endParaRPr sz="1800" dirty="0">
              <a:latin typeface="Roboto Bk"/>
              <a:cs typeface="Roboto Bk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  <a:tabLst>
                <a:tab pos="354965" algn="l"/>
              </a:tabLst>
            </a:pPr>
            <a:r>
              <a:rPr sz="1800" spc="-50" dirty="0">
                <a:solidFill>
                  <a:srgbClr val="434343"/>
                </a:solidFill>
                <a:latin typeface="Segoe UI Symbol"/>
                <a:cs typeface="Segoe UI Symbol"/>
              </a:rPr>
              <a:t>★</a:t>
            </a:r>
            <a:r>
              <a:rPr sz="1800" dirty="0">
                <a:solidFill>
                  <a:srgbClr val="434343"/>
                </a:solidFill>
                <a:latin typeface="Segoe UI Symbol"/>
                <a:cs typeface="Segoe UI Symbol"/>
              </a:rPr>
              <a:t>	</a:t>
            </a:r>
            <a:r>
              <a:rPr sz="1800" b="1" spc="-155" dirty="0">
                <a:solidFill>
                  <a:srgbClr val="434343"/>
                </a:solidFill>
                <a:latin typeface="Roboto Bk"/>
                <a:cs typeface="Roboto Bk"/>
              </a:rPr>
              <a:t>F-</a:t>
            </a:r>
            <a:r>
              <a:rPr sz="1800" b="1" dirty="0">
                <a:solidFill>
                  <a:srgbClr val="434343"/>
                </a:solidFill>
                <a:latin typeface="Roboto Bk"/>
                <a:cs typeface="Roboto Bk"/>
              </a:rPr>
              <a:t>P</a:t>
            </a:r>
            <a:r>
              <a:rPr sz="1800" b="1" spc="-15" dirty="0">
                <a:solidFill>
                  <a:srgbClr val="434343"/>
                </a:solidFill>
                <a:latin typeface="Roboto Bk"/>
                <a:cs typeface="Roboto Bk"/>
              </a:rPr>
              <a:t> </a:t>
            </a:r>
            <a:r>
              <a:rPr sz="1800" b="1" dirty="0">
                <a:solidFill>
                  <a:srgbClr val="434343"/>
                </a:solidFill>
                <a:latin typeface="Roboto Bk"/>
                <a:cs typeface="Roboto Bk"/>
              </a:rPr>
              <a:t>Growth</a:t>
            </a:r>
            <a:r>
              <a:rPr sz="1800" b="1" spc="-40" dirty="0">
                <a:solidFill>
                  <a:srgbClr val="434343"/>
                </a:solidFill>
                <a:latin typeface="Roboto Bk"/>
                <a:cs typeface="Roboto Bk"/>
              </a:rPr>
              <a:t> </a:t>
            </a:r>
            <a:r>
              <a:rPr sz="1800" b="1" spc="-10" dirty="0">
                <a:solidFill>
                  <a:srgbClr val="434343"/>
                </a:solidFill>
                <a:latin typeface="Roboto Bk"/>
                <a:cs typeface="Roboto Bk"/>
              </a:rPr>
              <a:t>Algorithm</a:t>
            </a:r>
            <a:endParaRPr sz="1800" dirty="0">
              <a:latin typeface="Roboto Bk"/>
              <a:cs typeface="Roboto Bk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  <a:tabLst>
                <a:tab pos="354965" algn="l"/>
              </a:tabLst>
            </a:pPr>
            <a:r>
              <a:rPr sz="1800" spc="-50" dirty="0">
                <a:solidFill>
                  <a:srgbClr val="434343"/>
                </a:solidFill>
                <a:latin typeface="Segoe UI Symbol"/>
                <a:cs typeface="Segoe UI Symbol"/>
              </a:rPr>
              <a:t>★</a:t>
            </a:r>
            <a:r>
              <a:rPr sz="1800" dirty="0">
                <a:solidFill>
                  <a:srgbClr val="434343"/>
                </a:solidFill>
                <a:latin typeface="Segoe UI Symbol"/>
                <a:cs typeface="Segoe UI Symbol"/>
              </a:rPr>
              <a:t>	</a:t>
            </a:r>
            <a:r>
              <a:rPr sz="1800" b="1" spc="-10" dirty="0">
                <a:solidFill>
                  <a:srgbClr val="434343"/>
                </a:solidFill>
                <a:latin typeface="Roboto Bk"/>
                <a:cs typeface="Roboto Bk"/>
              </a:rPr>
              <a:t>Anomaly</a:t>
            </a:r>
            <a:r>
              <a:rPr sz="1800" b="1" spc="-85" dirty="0">
                <a:solidFill>
                  <a:srgbClr val="434343"/>
                </a:solidFill>
                <a:latin typeface="Roboto Bk"/>
                <a:cs typeface="Roboto Bk"/>
              </a:rPr>
              <a:t> </a:t>
            </a:r>
            <a:r>
              <a:rPr sz="1800" b="1" spc="-10" dirty="0">
                <a:solidFill>
                  <a:srgbClr val="434343"/>
                </a:solidFill>
                <a:latin typeface="Roboto Bk"/>
                <a:cs typeface="Roboto Bk"/>
              </a:rPr>
              <a:t>Detection</a:t>
            </a:r>
            <a:r>
              <a:rPr sz="1800" b="1" spc="-75" dirty="0">
                <a:solidFill>
                  <a:srgbClr val="434343"/>
                </a:solidFill>
                <a:latin typeface="Roboto Bk"/>
                <a:cs typeface="Roboto Bk"/>
              </a:rPr>
              <a:t> </a:t>
            </a:r>
            <a:r>
              <a:rPr sz="1800" b="1" spc="-10" dirty="0">
                <a:solidFill>
                  <a:srgbClr val="434343"/>
                </a:solidFill>
                <a:latin typeface="Roboto Bk"/>
                <a:cs typeface="Roboto Bk"/>
              </a:rPr>
              <a:t>Algorithm</a:t>
            </a:r>
            <a:endParaRPr sz="1800" dirty="0">
              <a:latin typeface="Roboto Bk"/>
              <a:cs typeface="Roboto Bk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341119"/>
            <a:ext cx="9144000" cy="3802379"/>
            <a:chOff x="0" y="1341119"/>
            <a:chExt cx="9144000" cy="3802379"/>
          </a:xfrm>
        </p:grpSpPr>
        <p:sp>
          <p:nvSpPr>
            <p:cNvPr id="3" name="object 3"/>
            <p:cNvSpPr/>
            <p:nvPr/>
          </p:nvSpPr>
          <p:spPr>
            <a:xfrm>
              <a:off x="2014727" y="1345691"/>
              <a:ext cx="4126229" cy="2699385"/>
            </a:xfrm>
            <a:custGeom>
              <a:avLst/>
              <a:gdLst/>
              <a:ahLst/>
              <a:cxnLst/>
              <a:rect l="l" t="t" r="r" b="b"/>
              <a:pathLst>
                <a:path w="4126229" h="2699385">
                  <a:moveTo>
                    <a:pt x="233172" y="0"/>
                  </a:moveTo>
                  <a:lnTo>
                    <a:pt x="244221" y="2699105"/>
                  </a:lnTo>
                </a:path>
                <a:path w="4126229" h="2699385">
                  <a:moveTo>
                    <a:pt x="0" y="2455164"/>
                  </a:moveTo>
                  <a:lnTo>
                    <a:pt x="4125849" y="2477389"/>
                  </a:lnTo>
                </a:path>
              </a:pathLst>
            </a:custGeom>
            <a:ln w="914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54223" y="1773936"/>
              <a:ext cx="3250691" cy="1859279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4455">
              <a:lnSpc>
                <a:spcPct val="100000"/>
              </a:lnSpc>
              <a:spcBef>
                <a:spcPts val="100"/>
              </a:spcBef>
            </a:pPr>
            <a:r>
              <a:rPr spc="-254" dirty="0"/>
              <a:t>K-</a:t>
            </a:r>
            <a:r>
              <a:rPr dirty="0"/>
              <a:t>Means</a:t>
            </a:r>
            <a:r>
              <a:rPr spc="-10" dirty="0"/>
              <a:t> </a:t>
            </a:r>
            <a:r>
              <a:rPr spc="-35" dirty="0"/>
              <a:t>Algorithm(K=3)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341119"/>
            <a:ext cx="9144000" cy="3802379"/>
            <a:chOff x="0" y="1341119"/>
            <a:chExt cx="9144000" cy="3802379"/>
          </a:xfrm>
        </p:grpSpPr>
        <p:sp>
          <p:nvSpPr>
            <p:cNvPr id="3" name="object 3"/>
            <p:cNvSpPr/>
            <p:nvPr/>
          </p:nvSpPr>
          <p:spPr>
            <a:xfrm>
              <a:off x="2014727" y="1345691"/>
              <a:ext cx="4126229" cy="2699385"/>
            </a:xfrm>
            <a:custGeom>
              <a:avLst/>
              <a:gdLst/>
              <a:ahLst/>
              <a:cxnLst/>
              <a:rect l="l" t="t" r="r" b="b"/>
              <a:pathLst>
                <a:path w="4126229" h="2699385">
                  <a:moveTo>
                    <a:pt x="233172" y="0"/>
                  </a:moveTo>
                  <a:lnTo>
                    <a:pt x="244221" y="2699105"/>
                  </a:lnTo>
                </a:path>
                <a:path w="4126229" h="2699385">
                  <a:moveTo>
                    <a:pt x="0" y="2455164"/>
                  </a:moveTo>
                  <a:lnTo>
                    <a:pt x="4125849" y="2477389"/>
                  </a:lnTo>
                </a:path>
              </a:pathLst>
            </a:custGeom>
            <a:ln w="914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54223" y="1773936"/>
              <a:ext cx="2987040" cy="1757172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4455">
              <a:lnSpc>
                <a:spcPct val="100000"/>
              </a:lnSpc>
              <a:spcBef>
                <a:spcPts val="100"/>
              </a:spcBef>
            </a:pPr>
            <a:r>
              <a:rPr spc="-254" dirty="0"/>
              <a:t>K-</a:t>
            </a:r>
            <a:r>
              <a:rPr dirty="0"/>
              <a:t>Means</a:t>
            </a:r>
            <a:r>
              <a:rPr spc="-10" dirty="0"/>
              <a:t> </a:t>
            </a:r>
            <a:r>
              <a:rPr spc="-35" dirty="0"/>
              <a:t>Algorithm(K=3)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4455">
              <a:lnSpc>
                <a:spcPct val="100000"/>
              </a:lnSpc>
              <a:spcBef>
                <a:spcPts val="100"/>
              </a:spcBef>
            </a:pPr>
            <a:r>
              <a:rPr dirty="0"/>
              <a:t>Pros</a:t>
            </a:r>
            <a:r>
              <a:rPr spc="-45" dirty="0"/>
              <a:t> </a:t>
            </a:r>
            <a:r>
              <a:rPr dirty="0"/>
              <a:t>and</a:t>
            </a:r>
            <a:r>
              <a:rPr spc="-35" dirty="0"/>
              <a:t> </a:t>
            </a:r>
            <a:r>
              <a:rPr dirty="0"/>
              <a:t>cons</a:t>
            </a:r>
            <a:r>
              <a:rPr spc="-35" dirty="0"/>
              <a:t> </a:t>
            </a:r>
            <a:r>
              <a:rPr dirty="0"/>
              <a:t>of</a:t>
            </a:r>
            <a:r>
              <a:rPr spc="-25" dirty="0"/>
              <a:t> </a:t>
            </a:r>
            <a:r>
              <a:rPr spc="-254" dirty="0"/>
              <a:t>K-</a:t>
            </a:r>
            <a:r>
              <a:rPr spc="-20" dirty="0"/>
              <a:t>mean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931875" y="1547317"/>
            <a:ext cx="3169285" cy="20389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3370" algn="ctr">
              <a:lnSpc>
                <a:spcPct val="100000"/>
              </a:lnSpc>
              <a:spcBef>
                <a:spcPts val="105"/>
              </a:spcBef>
            </a:pPr>
            <a:r>
              <a:rPr sz="1400" b="1" spc="-20" dirty="0">
                <a:latin typeface="Arial"/>
                <a:cs typeface="Arial"/>
              </a:rPr>
              <a:t>Pros</a:t>
            </a:r>
            <a:endParaRPr sz="14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1440"/>
              </a:spcBef>
            </a:pPr>
            <a:r>
              <a:rPr sz="1400" dirty="0">
                <a:latin typeface="Arial MT"/>
                <a:cs typeface="Arial MT"/>
              </a:rPr>
              <a:t>Various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Applications</a:t>
            </a:r>
            <a:r>
              <a:rPr sz="1400" spc="-4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like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Customer </a:t>
            </a:r>
            <a:r>
              <a:rPr sz="1400" dirty="0">
                <a:latin typeface="Arial MT"/>
                <a:cs typeface="Arial MT"/>
              </a:rPr>
              <a:t>segmentation,</a:t>
            </a:r>
            <a:r>
              <a:rPr sz="1400" spc="-9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image</a:t>
            </a:r>
            <a:r>
              <a:rPr sz="1400" spc="-5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segmentation,</a:t>
            </a:r>
            <a:r>
              <a:rPr sz="1400" spc="-75" dirty="0">
                <a:latin typeface="Arial MT"/>
                <a:cs typeface="Arial MT"/>
              </a:rPr>
              <a:t> </a:t>
            </a:r>
            <a:r>
              <a:rPr sz="1400" spc="-20" dirty="0">
                <a:latin typeface="Arial MT"/>
                <a:cs typeface="Arial MT"/>
              </a:rPr>
              <a:t>etc.</a:t>
            </a: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sz="1400" dirty="0">
                <a:latin typeface="Arial MT"/>
                <a:cs typeface="Arial MT"/>
              </a:rPr>
              <a:t>Scalable</a:t>
            </a:r>
            <a:r>
              <a:rPr sz="1400" spc="-5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(Suitable</a:t>
            </a:r>
            <a:r>
              <a:rPr sz="1400" spc="-5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for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large</a:t>
            </a:r>
            <a:r>
              <a:rPr sz="1400" spc="-4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datasets)</a:t>
            </a: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sz="1400" spc="-20" dirty="0">
                <a:latin typeface="Arial MT"/>
                <a:cs typeface="Arial MT"/>
              </a:rPr>
              <a:t>Fast</a:t>
            </a: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445"/>
              </a:spcBef>
            </a:pPr>
            <a:r>
              <a:rPr sz="1400" dirty="0">
                <a:latin typeface="Arial MT"/>
                <a:cs typeface="Arial MT"/>
              </a:rPr>
              <a:t>Simple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and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easy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to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understand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551934" y="1547317"/>
            <a:ext cx="3005455" cy="20389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55295" algn="ctr">
              <a:lnSpc>
                <a:spcPct val="100000"/>
              </a:lnSpc>
              <a:spcBef>
                <a:spcPts val="105"/>
              </a:spcBef>
            </a:pPr>
            <a:r>
              <a:rPr sz="1400" b="1" spc="-20" dirty="0">
                <a:latin typeface="Arial"/>
                <a:cs typeface="Arial"/>
              </a:rPr>
              <a:t>Cons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sz="1400" dirty="0">
                <a:latin typeface="Arial MT"/>
                <a:cs typeface="Arial MT"/>
              </a:rPr>
              <a:t>Sensitive</a:t>
            </a:r>
            <a:r>
              <a:rPr sz="1400" spc="-4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to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initial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choice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of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centroids</a:t>
            </a:r>
            <a:endParaRPr sz="1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400">
              <a:latin typeface="Arial MT"/>
              <a:cs typeface="Arial MT"/>
            </a:endParaRPr>
          </a:p>
          <a:p>
            <a:pPr marL="12700" marR="5080">
              <a:lnSpc>
                <a:spcPct val="185800"/>
              </a:lnSpc>
            </a:pPr>
            <a:r>
              <a:rPr sz="1400" dirty="0">
                <a:latin typeface="Arial MT"/>
                <a:cs typeface="Arial MT"/>
              </a:rPr>
              <a:t>Prior</a:t>
            </a:r>
            <a:r>
              <a:rPr sz="1400" spc="-4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knowledge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of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number</a:t>
            </a:r>
            <a:r>
              <a:rPr sz="1400" spc="-4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of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clusters </a:t>
            </a:r>
            <a:r>
              <a:rPr sz="1400" dirty="0">
                <a:latin typeface="Arial MT"/>
                <a:cs typeface="Arial MT"/>
              </a:rPr>
              <a:t>Limited</a:t>
            </a:r>
            <a:r>
              <a:rPr sz="1400" spc="-5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to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linearly</a:t>
            </a:r>
            <a:r>
              <a:rPr sz="1400" spc="-4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separable</a:t>
            </a:r>
            <a:r>
              <a:rPr sz="1400" spc="-55" dirty="0">
                <a:latin typeface="Arial MT"/>
                <a:cs typeface="Arial MT"/>
              </a:rPr>
              <a:t> </a:t>
            </a:r>
            <a:r>
              <a:rPr sz="1400" spc="-20" dirty="0">
                <a:latin typeface="Arial MT"/>
                <a:cs typeface="Arial MT"/>
              </a:rPr>
              <a:t>data </a:t>
            </a:r>
            <a:r>
              <a:rPr sz="1400" dirty="0">
                <a:latin typeface="Arial MT"/>
                <a:cs typeface="Arial MT"/>
              </a:rPr>
              <a:t>Prone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to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converge</a:t>
            </a:r>
            <a:r>
              <a:rPr sz="1400" spc="-5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into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local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optima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5788" y="1438157"/>
            <a:ext cx="3526212" cy="314034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445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Hierarchical</a:t>
            </a:r>
            <a:r>
              <a:rPr spc="-155" dirty="0"/>
              <a:t> </a:t>
            </a:r>
            <a:r>
              <a:rPr spc="-30" dirty="0"/>
              <a:t>Clustering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3535">
              <a:lnSpc>
                <a:spcPct val="150100"/>
              </a:lnSpc>
              <a:spcBef>
                <a:spcPts val="100"/>
              </a:spcBef>
              <a:buFont typeface="Segoe UI Symbol"/>
              <a:buChar char="❖"/>
              <a:tabLst>
                <a:tab pos="355600" algn="l"/>
              </a:tabLst>
            </a:pPr>
            <a:r>
              <a:rPr spc="-10" dirty="0"/>
              <a:t>Hierarchy</a:t>
            </a:r>
            <a:r>
              <a:rPr spc="-75" dirty="0"/>
              <a:t> </a:t>
            </a:r>
            <a:r>
              <a:rPr dirty="0"/>
              <a:t>of</a:t>
            </a:r>
            <a:r>
              <a:rPr spc="-60" dirty="0"/>
              <a:t> </a:t>
            </a:r>
            <a:r>
              <a:rPr spc="-10" dirty="0"/>
              <a:t>clusters</a:t>
            </a:r>
            <a:r>
              <a:rPr spc="-60" dirty="0"/>
              <a:t> </a:t>
            </a:r>
            <a:r>
              <a:rPr dirty="0"/>
              <a:t>in</a:t>
            </a:r>
            <a:r>
              <a:rPr spc="-60" dirty="0"/>
              <a:t> </a:t>
            </a:r>
            <a:r>
              <a:rPr spc="-10" dirty="0"/>
              <a:t>Dendrogram shaped</a:t>
            </a:r>
          </a:p>
          <a:p>
            <a:pPr marL="355600" indent="-342900">
              <a:lnSpc>
                <a:spcPct val="100000"/>
              </a:lnSpc>
              <a:spcBef>
                <a:spcPts val="1080"/>
              </a:spcBef>
              <a:buFont typeface="Segoe UI Symbol"/>
              <a:buChar char="❖"/>
              <a:tabLst>
                <a:tab pos="355600" algn="l"/>
              </a:tabLst>
            </a:pPr>
            <a:r>
              <a:rPr dirty="0">
                <a:latin typeface="Roboto"/>
                <a:cs typeface="Roboto"/>
              </a:rPr>
              <a:t>Agglomerative</a:t>
            </a:r>
            <a:r>
              <a:rPr spc="-10" dirty="0">
                <a:latin typeface="Roboto"/>
                <a:cs typeface="Roboto"/>
              </a:rPr>
              <a:t> </a:t>
            </a:r>
            <a:r>
              <a:rPr dirty="0">
                <a:latin typeface="Roboto"/>
                <a:cs typeface="Roboto"/>
              </a:rPr>
              <a:t>Approach</a:t>
            </a:r>
            <a:r>
              <a:rPr sz="1400" dirty="0"/>
              <a:t>:</a:t>
            </a:r>
            <a:r>
              <a:rPr sz="1400" spc="25" dirty="0"/>
              <a:t> </a:t>
            </a:r>
            <a:r>
              <a:rPr sz="1400" i="1" spc="60" dirty="0">
                <a:latin typeface="Roboto Cn"/>
                <a:cs typeface="Roboto Cn"/>
              </a:rPr>
              <a:t>Bottom-</a:t>
            </a:r>
            <a:r>
              <a:rPr sz="1400" i="1" spc="50" dirty="0">
                <a:latin typeface="Roboto Cn"/>
                <a:cs typeface="Roboto Cn"/>
              </a:rPr>
              <a:t>up</a:t>
            </a:r>
            <a:endParaRPr sz="1400">
              <a:latin typeface="Roboto Cn"/>
              <a:cs typeface="Roboto Cn"/>
            </a:endParaRPr>
          </a:p>
          <a:p>
            <a:pPr marL="355600">
              <a:lnSpc>
                <a:spcPct val="100000"/>
              </a:lnSpc>
              <a:spcBef>
                <a:spcPts val="940"/>
              </a:spcBef>
            </a:pPr>
            <a:r>
              <a:rPr sz="1400" spc="-45" dirty="0"/>
              <a:t>i.e.</a:t>
            </a:r>
            <a:r>
              <a:rPr sz="1400" spc="-35" dirty="0"/>
              <a:t> </a:t>
            </a:r>
            <a:r>
              <a:rPr sz="1400" dirty="0"/>
              <a:t>each</a:t>
            </a:r>
            <a:r>
              <a:rPr sz="1400" spc="-10" dirty="0"/>
              <a:t> </a:t>
            </a:r>
            <a:r>
              <a:rPr sz="1400" dirty="0"/>
              <a:t>data</a:t>
            </a:r>
            <a:r>
              <a:rPr sz="1400" spc="-15" dirty="0"/>
              <a:t> </a:t>
            </a:r>
            <a:r>
              <a:rPr sz="1400" dirty="0"/>
              <a:t>set</a:t>
            </a:r>
            <a:r>
              <a:rPr sz="1400" spc="-15" dirty="0"/>
              <a:t> </a:t>
            </a:r>
            <a:r>
              <a:rPr sz="1400" dirty="0"/>
              <a:t>is a</a:t>
            </a:r>
            <a:r>
              <a:rPr sz="1400" spc="-10" dirty="0"/>
              <a:t> cluster</a:t>
            </a:r>
            <a:endParaRPr sz="1400"/>
          </a:p>
          <a:p>
            <a:pPr marL="355600" indent="-342900">
              <a:lnSpc>
                <a:spcPct val="100000"/>
              </a:lnSpc>
              <a:spcBef>
                <a:spcPts val="980"/>
              </a:spcBef>
              <a:buFont typeface="Segoe UI Symbol"/>
              <a:buChar char="❖"/>
              <a:tabLst>
                <a:tab pos="355600" algn="l"/>
              </a:tabLst>
            </a:pPr>
            <a:r>
              <a:rPr dirty="0">
                <a:latin typeface="Roboto"/>
                <a:cs typeface="Roboto"/>
              </a:rPr>
              <a:t>Divisive</a:t>
            </a:r>
            <a:r>
              <a:rPr spc="-45" dirty="0">
                <a:latin typeface="Roboto"/>
                <a:cs typeface="Roboto"/>
              </a:rPr>
              <a:t> </a:t>
            </a:r>
            <a:r>
              <a:rPr dirty="0">
                <a:latin typeface="Roboto"/>
                <a:cs typeface="Roboto"/>
              </a:rPr>
              <a:t>Approach</a:t>
            </a:r>
            <a:r>
              <a:rPr sz="1400" dirty="0"/>
              <a:t>:</a:t>
            </a:r>
            <a:r>
              <a:rPr sz="1400" spc="-30" dirty="0"/>
              <a:t> </a:t>
            </a:r>
            <a:r>
              <a:rPr sz="1400" i="1" spc="75" dirty="0">
                <a:latin typeface="Roboto Cn"/>
                <a:cs typeface="Roboto Cn"/>
              </a:rPr>
              <a:t>Top-</a:t>
            </a:r>
            <a:r>
              <a:rPr sz="1400" i="1" spc="85" dirty="0">
                <a:latin typeface="Roboto Cn"/>
                <a:cs typeface="Roboto Cn"/>
              </a:rPr>
              <a:t>down</a:t>
            </a:r>
            <a:r>
              <a:rPr sz="1400" i="1" spc="-15" dirty="0">
                <a:latin typeface="Roboto Cn"/>
                <a:cs typeface="Roboto Cn"/>
              </a:rPr>
              <a:t> </a:t>
            </a:r>
            <a:r>
              <a:rPr sz="1400" spc="-10" dirty="0"/>
              <a:t>approach</a:t>
            </a:r>
            <a:endParaRPr sz="1400">
              <a:latin typeface="Roboto Cn"/>
              <a:cs typeface="Roboto Cn"/>
            </a:endParaRPr>
          </a:p>
          <a:p>
            <a:pPr marL="355600">
              <a:lnSpc>
                <a:spcPct val="100000"/>
              </a:lnSpc>
              <a:spcBef>
                <a:spcPts val="940"/>
              </a:spcBef>
            </a:pPr>
            <a:r>
              <a:rPr sz="1400" spc="-45" dirty="0"/>
              <a:t>i.e. </a:t>
            </a:r>
            <a:r>
              <a:rPr sz="1400" dirty="0"/>
              <a:t>whole</a:t>
            </a:r>
            <a:r>
              <a:rPr sz="1400" spc="-35" dirty="0"/>
              <a:t> </a:t>
            </a:r>
            <a:r>
              <a:rPr sz="1400" dirty="0"/>
              <a:t>data</a:t>
            </a:r>
            <a:r>
              <a:rPr sz="1400" spc="-35" dirty="0"/>
              <a:t> </a:t>
            </a:r>
            <a:r>
              <a:rPr sz="1400" dirty="0"/>
              <a:t>set</a:t>
            </a:r>
            <a:r>
              <a:rPr sz="1400" spc="-25" dirty="0"/>
              <a:t> </a:t>
            </a:r>
            <a:r>
              <a:rPr sz="1400" dirty="0"/>
              <a:t>is</a:t>
            </a:r>
            <a:r>
              <a:rPr sz="1400" spc="-30" dirty="0"/>
              <a:t> </a:t>
            </a:r>
            <a:r>
              <a:rPr sz="1400" dirty="0"/>
              <a:t>a</a:t>
            </a:r>
            <a:r>
              <a:rPr sz="1400" spc="-30" dirty="0"/>
              <a:t> </a:t>
            </a:r>
            <a:r>
              <a:rPr sz="1400" spc="-10" dirty="0"/>
              <a:t>single</a:t>
            </a:r>
            <a:r>
              <a:rPr sz="1400" spc="-30" dirty="0"/>
              <a:t> </a:t>
            </a:r>
            <a:r>
              <a:rPr sz="1400" spc="-10" dirty="0"/>
              <a:t>cluster.</a:t>
            </a:r>
            <a:endParaRPr sz="14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6740" y="1389534"/>
            <a:ext cx="3228975" cy="261970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445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Hierarchical</a:t>
            </a:r>
            <a:r>
              <a:rPr spc="-160" dirty="0"/>
              <a:t> </a:t>
            </a:r>
            <a:r>
              <a:rPr spc="-40" dirty="0"/>
              <a:t>Clustering</a:t>
            </a:r>
            <a:r>
              <a:rPr spc="-110" dirty="0"/>
              <a:t> </a:t>
            </a:r>
            <a:r>
              <a:rPr spc="-465" dirty="0"/>
              <a:t>-</a:t>
            </a:r>
            <a:r>
              <a:rPr spc="-5" dirty="0"/>
              <a:t> </a:t>
            </a:r>
            <a:r>
              <a:rPr spc="-25" dirty="0"/>
              <a:t>Linkage</a:t>
            </a:r>
            <a:r>
              <a:rPr spc="-95" dirty="0"/>
              <a:t> </a:t>
            </a:r>
            <a:r>
              <a:rPr spc="-10" dirty="0"/>
              <a:t>methods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  <p:sp>
        <p:nvSpPr>
          <p:cNvPr id="4" name="object 4"/>
          <p:cNvSpPr txBox="1"/>
          <p:nvPr/>
        </p:nvSpPr>
        <p:spPr>
          <a:xfrm>
            <a:off x="4653534" y="1274571"/>
            <a:ext cx="2004695" cy="1671955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180"/>
              </a:spcBef>
              <a:buFont typeface="Segoe UI Symbol"/>
              <a:buChar char="❖"/>
              <a:tabLst>
                <a:tab pos="355600" algn="l"/>
              </a:tabLst>
            </a:pPr>
            <a:r>
              <a:rPr sz="1800" b="1" spc="-30" dirty="0">
                <a:solidFill>
                  <a:srgbClr val="434343"/>
                </a:solidFill>
                <a:latin typeface="Roboto Bk"/>
                <a:cs typeface="Roboto Bk"/>
              </a:rPr>
              <a:t>Single(Shortest)</a:t>
            </a:r>
            <a:endParaRPr sz="1800">
              <a:latin typeface="Roboto Bk"/>
              <a:cs typeface="Roboto Bk"/>
            </a:endParaRPr>
          </a:p>
          <a:p>
            <a:pPr marL="355600" indent="-342900">
              <a:lnSpc>
                <a:spcPct val="100000"/>
              </a:lnSpc>
              <a:spcBef>
                <a:spcPts val="1085"/>
              </a:spcBef>
              <a:buFont typeface="Segoe UI Symbol"/>
              <a:buChar char="❖"/>
              <a:tabLst>
                <a:tab pos="355600" algn="l"/>
              </a:tabLst>
            </a:pPr>
            <a:r>
              <a:rPr sz="1800" b="1" spc="-10" dirty="0">
                <a:solidFill>
                  <a:srgbClr val="434343"/>
                </a:solidFill>
                <a:latin typeface="Roboto Bk"/>
                <a:cs typeface="Roboto Bk"/>
              </a:rPr>
              <a:t>Complete</a:t>
            </a:r>
            <a:endParaRPr sz="1800">
              <a:latin typeface="Roboto Bk"/>
              <a:cs typeface="Roboto Bk"/>
            </a:endParaRPr>
          </a:p>
          <a:p>
            <a:pPr marL="355600" indent="-342900">
              <a:lnSpc>
                <a:spcPct val="100000"/>
              </a:lnSpc>
              <a:spcBef>
                <a:spcPts val="1080"/>
              </a:spcBef>
              <a:buFont typeface="Segoe UI Symbol"/>
              <a:buChar char="❖"/>
              <a:tabLst>
                <a:tab pos="355600" algn="l"/>
              </a:tabLst>
            </a:pPr>
            <a:r>
              <a:rPr sz="1800" b="1" spc="-10" dirty="0">
                <a:solidFill>
                  <a:srgbClr val="434343"/>
                </a:solidFill>
                <a:latin typeface="Roboto Bk"/>
                <a:cs typeface="Roboto Bk"/>
              </a:rPr>
              <a:t>Average</a:t>
            </a:r>
            <a:endParaRPr sz="1800">
              <a:latin typeface="Roboto Bk"/>
              <a:cs typeface="Roboto Bk"/>
            </a:endParaRPr>
          </a:p>
          <a:p>
            <a:pPr marL="355600" indent="-342900">
              <a:lnSpc>
                <a:spcPct val="100000"/>
              </a:lnSpc>
              <a:spcBef>
                <a:spcPts val="1080"/>
              </a:spcBef>
              <a:buFont typeface="Segoe UI Symbol"/>
              <a:buChar char="❖"/>
              <a:tabLst>
                <a:tab pos="355600" algn="l"/>
              </a:tabLst>
            </a:pPr>
            <a:r>
              <a:rPr sz="1800" b="1" spc="-10" dirty="0">
                <a:solidFill>
                  <a:srgbClr val="434343"/>
                </a:solidFill>
                <a:latin typeface="Roboto Bk"/>
                <a:cs typeface="Roboto Bk"/>
              </a:rPr>
              <a:t>Centroid</a:t>
            </a:r>
            <a:endParaRPr sz="1800">
              <a:latin typeface="Roboto Bk"/>
              <a:cs typeface="Roboto Bk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76655" y="4123740"/>
            <a:ext cx="117284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25" dirty="0">
                <a:latin typeface="Roboto Bk"/>
                <a:cs typeface="Roboto Bk"/>
              </a:rPr>
              <a:t>Single</a:t>
            </a:r>
            <a:r>
              <a:rPr sz="1400" b="1" spc="-55" dirty="0">
                <a:latin typeface="Roboto Bk"/>
                <a:cs typeface="Roboto Bk"/>
              </a:rPr>
              <a:t> </a:t>
            </a:r>
            <a:r>
              <a:rPr sz="1400" b="1" spc="-10" dirty="0">
                <a:latin typeface="Roboto Bk"/>
                <a:cs typeface="Roboto Bk"/>
              </a:rPr>
              <a:t>Linkage</a:t>
            </a:r>
            <a:endParaRPr sz="1400">
              <a:latin typeface="Roboto Bk"/>
              <a:cs typeface="Roboto Bk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77203" y="555116"/>
            <a:ext cx="1275715" cy="21126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latin typeface="Roboto Bk"/>
                <a:cs typeface="Roboto Bk"/>
              </a:rPr>
              <a:t>N</a:t>
            </a:r>
            <a:r>
              <a:rPr sz="1400" b="1" spc="-5" dirty="0">
                <a:latin typeface="Roboto Bk"/>
                <a:cs typeface="Roboto Bk"/>
              </a:rPr>
              <a:t> </a:t>
            </a:r>
            <a:r>
              <a:rPr sz="1400" b="1" spc="-10" dirty="0">
                <a:latin typeface="Roboto Bk"/>
                <a:cs typeface="Roboto Bk"/>
              </a:rPr>
              <a:t>Clusters</a:t>
            </a:r>
            <a:endParaRPr sz="1400">
              <a:latin typeface="Roboto Bk"/>
              <a:cs typeface="Roboto Bk"/>
            </a:endParaRPr>
          </a:p>
          <a:p>
            <a:pPr>
              <a:lnSpc>
                <a:spcPct val="100000"/>
              </a:lnSpc>
              <a:spcBef>
                <a:spcPts val="430"/>
              </a:spcBef>
            </a:pPr>
            <a:endParaRPr sz="1400">
              <a:latin typeface="Roboto Bk"/>
              <a:cs typeface="Roboto Bk"/>
            </a:endParaRPr>
          </a:p>
          <a:p>
            <a:pPr marL="986155">
              <a:lnSpc>
                <a:spcPct val="100000"/>
              </a:lnSpc>
            </a:pPr>
            <a:r>
              <a:rPr sz="1400" b="1" spc="-114" dirty="0">
                <a:latin typeface="Roboto Bk"/>
                <a:cs typeface="Roboto Bk"/>
              </a:rPr>
              <a:t>N-</a:t>
            </a:r>
            <a:r>
              <a:rPr sz="1400" b="1" spc="-50" dirty="0">
                <a:latin typeface="Roboto Bk"/>
                <a:cs typeface="Roboto Bk"/>
              </a:rPr>
              <a:t>1</a:t>
            </a:r>
            <a:endParaRPr sz="1400">
              <a:latin typeface="Roboto Bk"/>
              <a:cs typeface="Roboto Bk"/>
            </a:endParaRPr>
          </a:p>
          <a:p>
            <a:pPr marL="986155">
              <a:lnSpc>
                <a:spcPct val="100000"/>
              </a:lnSpc>
              <a:spcBef>
                <a:spcPts val="1200"/>
              </a:spcBef>
            </a:pPr>
            <a:r>
              <a:rPr sz="1400" b="1" spc="-120" dirty="0">
                <a:latin typeface="Roboto Bk"/>
                <a:cs typeface="Roboto Bk"/>
              </a:rPr>
              <a:t>N-</a:t>
            </a:r>
            <a:r>
              <a:rPr sz="1400" b="1" spc="-50" dirty="0">
                <a:latin typeface="Roboto Bk"/>
                <a:cs typeface="Roboto Bk"/>
              </a:rPr>
              <a:t>2</a:t>
            </a:r>
            <a:endParaRPr sz="1400">
              <a:latin typeface="Roboto Bk"/>
              <a:cs typeface="Roboto Bk"/>
            </a:endParaRPr>
          </a:p>
          <a:p>
            <a:pPr marL="986790">
              <a:lnSpc>
                <a:spcPct val="100000"/>
              </a:lnSpc>
              <a:spcBef>
                <a:spcPts val="1295"/>
              </a:spcBef>
            </a:pPr>
            <a:r>
              <a:rPr sz="1400" b="1" spc="-114" dirty="0">
                <a:latin typeface="Roboto Bk"/>
                <a:cs typeface="Roboto Bk"/>
              </a:rPr>
              <a:t>N-</a:t>
            </a:r>
            <a:r>
              <a:rPr sz="1400" b="1" spc="-50" dirty="0">
                <a:latin typeface="Roboto Bk"/>
                <a:cs typeface="Roboto Bk"/>
              </a:rPr>
              <a:t>3</a:t>
            </a:r>
            <a:endParaRPr sz="1400">
              <a:latin typeface="Roboto Bk"/>
              <a:cs typeface="Roboto Bk"/>
            </a:endParaRPr>
          </a:p>
          <a:p>
            <a:pPr marL="986790">
              <a:lnSpc>
                <a:spcPct val="100000"/>
              </a:lnSpc>
              <a:spcBef>
                <a:spcPts val="925"/>
              </a:spcBef>
            </a:pPr>
            <a:r>
              <a:rPr sz="1400" b="1" spc="-114" dirty="0">
                <a:latin typeface="Roboto Bk"/>
                <a:cs typeface="Roboto Bk"/>
              </a:rPr>
              <a:t>N-</a:t>
            </a:r>
            <a:r>
              <a:rPr sz="1400" b="1" spc="-50" dirty="0">
                <a:latin typeface="Roboto Bk"/>
                <a:cs typeface="Roboto Bk"/>
              </a:rPr>
              <a:t>4</a:t>
            </a:r>
            <a:endParaRPr sz="1400">
              <a:latin typeface="Roboto Bk"/>
              <a:cs typeface="Roboto Bk"/>
            </a:endParaRPr>
          </a:p>
          <a:p>
            <a:pPr marL="969010">
              <a:lnSpc>
                <a:spcPct val="100000"/>
              </a:lnSpc>
              <a:spcBef>
                <a:spcPts val="815"/>
              </a:spcBef>
            </a:pPr>
            <a:r>
              <a:rPr sz="1400" b="1" spc="-114" dirty="0">
                <a:latin typeface="Roboto Bk"/>
                <a:cs typeface="Roboto Bk"/>
              </a:rPr>
              <a:t>N-</a:t>
            </a:r>
            <a:r>
              <a:rPr sz="1400" b="1" spc="-50" dirty="0">
                <a:latin typeface="Roboto Bk"/>
                <a:cs typeface="Roboto Bk"/>
              </a:rPr>
              <a:t>5</a:t>
            </a:r>
            <a:endParaRPr sz="1400">
              <a:latin typeface="Roboto Bk"/>
              <a:cs typeface="Roboto Bk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4455">
              <a:lnSpc>
                <a:spcPct val="100000"/>
              </a:lnSpc>
              <a:spcBef>
                <a:spcPts val="100"/>
              </a:spcBef>
            </a:pPr>
            <a:r>
              <a:rPr dirty="0"/>
              <a:t>Pros</a:t>
            </a:r>
            <a:r>
              <a:rPr spc="-60" dirty="0"/>
              <a:t> </a:t>
            </a:r>
            <a:r>
              <a:rPr dirty="0"/>
              <a:t>and</a:t>
            </a:r>
            <a:r>
              <a:rPr spc="-50" dirty="0"/>
              <a:t> </a:t>
            </a:r>
            <a:r>
              <a:rPr dirty="0"/>
              <a:t>cons</a:t>
            </a:r>
            <a:r>
              <a:rPr spc="-50" dirty="0"/>
              <a:t> </a:t>
            </a:r>
            <a:r>
              <a:rPr dirty="0"/>
              <a:t>of</a:t>
            </a:r>
            <a:r>
              <a:rPr spc="-45" dirty="0"/>
              <a:t> </a:t>
            </a:r>
            <a:r>
              <a:rPr spc="-20" dirty="0"/>
              <a:t>Hierarchical</a:t>
            </a:r>
            <a:r>
              <a:rPr spc="-60" dirty="0"/>
              <a:t> </a:t>
            </a:r>
            <a:r>
              <a:rPr spc="-10" dirty="0"/>
              <a:t>Clustering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22528" y="1547317"/>
            <a:ext cx="2750185" cy="22523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532890">
              <a:lnSpc>
                <a:spcPct val="100000"/>
              </a:lnSpc>
              <a:spcBef>
                <a:spcPts val="105"/>
              </a:spcBef>
            </a:pPr>
            <a:r>
              <a:rPr sz="1400" b="1" spc="-20" dirty="0">
                <a:latin typeface="Arial"/>
                <a:cs typeface="Arial"/>
              </a:rPr>
              <a:t>Pros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sz="1400" dirty="0">
                <a:latin typeface="Arial MT"/>
                <a:cs typeface="Arial MT"/>
              </a:rPr>
              <a:t>Easy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to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understand</a:t>
            </a:r>
            <a:endParaRPr sz="1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510"/>
              </a:spcBef>
            </a:pP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latin typeface="Arial MT"/>
                <a:cs typeface="Arial MT"/>
              </a:rPr>
              <a:t>Suitable</a:t>
            </a:r>
            <a:r>
              <a:rPr sz="1400" spc="-5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for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small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datasets</a:t>
            </a: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sz="1400" i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Detection</a:t>
            </a:r>
            <a:r>
              <a:rPr sz="1400" i="1" u="sng" spc="-4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400" i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of</a:t>
            </a:r>
            <a:r>
              <a:rPr sz="1400" i="1" u="sng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400" i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overlapping</a:t>
            </a:r>
            <a:r>
              <a:rPr sz="1400" i="1" u="sng" spc="-4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400" i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clusters</a:t>
            </a:r>
            <a:endParaRPr sz="14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1445"/>
              </a:spcBef>
            </a:pPr>
            <a:r>
              <a:rPr sz="1400" dirty="0">
                <a:latin typeface="Arial MT"/>
                <a:cs typeface="Arial MT"/>
              </a:rPr>
              <a:t>Handles</a:t>
            </a:r>
            <a:r>
              <a:rPr sz="1400" spc="-5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different</a:t>
            </a:r>
            <a:r>
              <a:rPr sz="1400" spc="-5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types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of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distance </a:t>
            </a:r>
            <a:r>
              <a:rPr sz="1400" dirty="0">
                <a:latin typeface="Arial MT"/>
                <a:cs typeface="Arial MT"/>
              </a:rPr>
              <a:t>measure</a:t>
            </a:r>
            <a:r>
              <a:rPr sz="1400" spc="-7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and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linkage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638546" y="1547317"/>
            <a:ext cx="46863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20" dirty="0">
                <a:latin typeface="Arial"/>
                <a:cs typeface="Arial"/>
              </a:rPr>
              <a:t>Cons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142613" y="1944116"/>
            <a:ext cx="3427729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 MT"/>
                <a:cs typeface="Arial MT"/>
              </a:rPr>
              <a:t>Computationally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expensive(time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complexity </a:t>
            </a:r>
            <a:r>
              <a:rPr sz="1400" dirty="0">
                <a:latin typeface="Arial MT"/>
                <a:cs typeface="Arial MT"/>
              </a:rPr>
              <a:t>is</a:t>
            </a:r>
            <a:r>
              <a:rPr sz="1400" spc="-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O(n^3))</a:t>
            </a: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sz="1400" dirty="0">
                <a:latin typeface="Arial MT"/>
                <a:cs typeface="Arial MT"/>
              </a:rPr>
              <a:t>Different</a:t>
            </a:r>
            <a:r>
              <a:rPr sz="1400" spc="-6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methods</a:t>
            </a:r>
            <a:r>
              <a:rPr sz="1400" spc="-5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gives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different</a:t>
            </a:r>
            <a:r>
              <a:rPr sz="1400" spc="-5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results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142613" y="2949651"/>
            <a:ext cx="141033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Arial MT"/>
                <a:cs typeface="Arial MT"/>
              </a:rPr>
              <a:t>Greedy</a:t>
            </a:r>
            <a:r>
              <a:rPr sz="1400" spc="-5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Algorithm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42613" y="3346450"/>
            <a:ext cx="310832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 MT"/>
                <a:cs typeface="Arial MT"/>
              </a:rPr>
              <a:t>Not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suitable</a:t>
            </a:r>
            <a:r>
              <a:rPr sz="1400" spc="-5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for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large</a:t>
            </a:r>
            <a:r>
              <a:rPr sz="1400" spc="-4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dataset</a:t>
            </a:r>
            <a:r>
              <a:rPr sz="1400" spc="-5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and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spc="-20" dirty="0">
                <a:latin typeface="Arial MT"/>
                <a:cs typeface="Arial MT"/>
              </a:rPr>
              <a:t>when </a:t>
            </a:r>
            <a:r>
              <a:rPr sz="1400" dirty="0">
                <a:latin typeface="Arial MT"/>
                <a:cs typeface="Arial MT"/>
              </a:rPr>
              <a:t>clusters</a:t>
            </a:r>
            <a:r>
              <a:rPr sz="1400" spc="-7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are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not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well</a:t>
            </a:r>
            <a:r>
              <a:rPr sz="1400" spc="-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separated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4455">
              <a:lnSpc>
                <a:spcPct val="100000"/>
              </a:lnSpc>
              <a:spcBef>
                <a:spcPts val="100"/>
              </a:spcBef>
            </a:pPr>
            <a:r>
              <a:rPr spc="-30" dirty="0"/>
              <a:t>Apriori</a:t>
            </a:r>
            <a:r>
              <a:rPr spc="-135" dirty="0"/>
              <a:t> </a:t>
            </a:r>
            <a:r>
              <a:rPr spc="-10" dirty="0"/>
              <a:t>Association</a:t>
            </a:r>
            <a:r>
              <a:rPr spc="-135" dirty="0"/>
              <a:t> </a:t>
            </a:r>
            <a:r>
              <a:rPr spc="-10" dirty="0"/>
              <a:t>Algorithm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626770" y="1274571"/>
            <a:ext cx="7888605" cy="2495550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180"/>
              </a:spcBef>
              <a:buFont typeface="Segoe UI Symbol"/>
              <a:buChar char="❖"/>
              <a:tabLst>
                <a:tab pos="354965" algn="l"/>
              </a:tabLst>
            </a:pPr>
            <a:r>
              <a:rPr sz="1800" b="1" dirty="0">
                <a:solidFill>
                  <a:srgbClr val="434343"/>
                </a:solidFill>
                <a:latin typeface="Roboto Bk"/>
                <a:cs typeface="Roboto Bk"/>
              </a:rPr>
              <a:t>Uses</a:t>
            </a:r>
            <a:r>
              <a:rPr sz="1800" b="1" spc="-65" dirty="0">
                <a:solidFill>
                  <a:srgbClr val="434343"/>
                </a:solidFill>
                <a:latin typeface="Roboto Bk"/>
                <a:cs typeface="Roboto Bk"/>
              </a:rPr>
              <a:t> </a:t>
            </a:r>
            <a:r>
              <a:rPr sz="1800" b="1" spc="-10" dirty="0">
                <a:solidFill>
                  <a:srgbClr val="434343"/>
                </a:solidFill>
                <a:latin typeface="Roboto Bk"/>
                <a:cs typeface="Roboto Bk"/>
              </a:rPr>
              <a:t>Frequent</a:t>
            </a:r>
            <a:r>
              <a:rPr sz="1800" b="1" spc="-65" dirty="0">
                <a:solidFill>
                  <a:srgbClr val="434343"/>
                </a:solidFill>
                <a:latin typeface="Roboto Bk"/>
                <a:cs typeface="Roboto Bk"/>
              </a:rPr>
              <a:t> </a:t>
            </a:r>
            <a:r>
              <a:rPr sz="1800" b="1" dirty="0">
                <a:solidFill>
                  <a:srgbClr val="434343"/>
                </a:solidFill>
                <a:latin typeface="Roboto Bk"/>
                <a:cs typeface="Roboto Bk"/>
              </a:rPr>
              <a:t>item</a:t>
            </a:r>
            <a:r>
              <a:rPr sz="1800" b="1" spc="-65" dirty="0">
                <a:solidFill>
                  <a:srgbClr val="434343"/>
                </a:solidFill>
                <a:latin typeface="Roboto Bk"/>
                <a:cs typeface="Roboto Bk"/>
              </a:rPr>
              <a:t> </a:t>
            </a:r>
            <a:r>
              <a:rPr sz="1800" b="1" dirty="0">
                <a:solidFill>
                  <a:srgbClr val="434343"/>
                </a:solidFill>
                <a:latin typeface="Roboto Bk"/>
                <a:cs typeface="Roboto Bk"/>
              </a:rPr>
              <a:t>sets</a:t>
            </a:r>
            <a:r>
              <a:rPr sz="1800" b="1" spc="-60" dirty="0">
                <a:solidFill>
                  <a:srgbClr val="434343"/>
                </a:solidFill>
                <a:latin typeface="Roboto Bk"/>
                <a:cs typeface="Roboto Bk"/>
              </a:rPr>
              <a:t> </a:t>
            </a:r>
            <a:r>
              <a:rPr sz="1800" b="1" dirty="0">
                <a:solidFill>
                  <a:srgbClr val="434343"/>
                </a:solidFill>
                <a:latin typeface="Roboto Bk"/>
                <a:cs typeface="Roboto Bk"/>
              </a:rPr>
              <a:t>to</a:t>
            </a:r>
            <a:r>
              <a:rPr sz="1800" b="1" spc="-60" dirty="0">
                <a:solidFill>
                  <a:srgbClr val="434343"/>
                </a:solidFill>
                <a:latin typeface="Roboto Bk"/>
                <a:cs typeface="Roboto Bk"/>
              </a:rPr>
              <a:t> </a:t>
            </a:r>
            <a:r>
              <a:rPr sz="1800" b="1" dirty="0">
                <a:solidFill>
                  <a:srgbClr val="434343"/>
                </a:solidFill>
                <a:latin typeface="Roboto Bk"/>
                <a:cs typeface="Roboto Bk"/>
              </a:rPr>
              <a:t>generate</a:t>
            </a:r>
            <a:r>
              <a:rPr sz="1800" b="1" spc="-65" dirty="0">
                <a:solidFill>
                  <a:srgbClr val="434343"/>
                </a:solidFill>
                <a:latin typeface="Roboto Bk"/>
                <a:cs typeface="Roboto Bk"/>
              </a:rPr>
              <a:t> </a:t>
            </a:r>
            <a:r>
              <a:rPr sz="1800" b="1" spc="-10" dirty="0">
                <a:solidFill>
                  <a:srgbClr val="434343"/>
                </a:solidFill>
                <a:latin typeface="Roboto Bk"/>
                <a:cs typeface="Roboto Bk"/>
              </a:rPr>
              <a:t>association</a:t>
            </a:r>
            <a:r>
              <a:rPr sz="1800" b="1" spc="-90" dirty="0">
                <a:solidFill>
                  <a:srgbClr val="434343"/>
                </a:solidFill>
                <a:latin typeface="Roboto Bk"/>
                <a:cs typeface="Roboto Bk"/>
              </a:rPr>
              <a:t> </a:t>
            </a:r>
            <a:r>
              <a:rPr sz="1800" b="1" spc="-10" dirty="0">
                <a:solidFill>
                  <a:srgbClr val="434343"/>
                </a:solidFill>
                <a:latin typeface="Roboto Bk"/>
                <a:cs typeface="Roboto Bk"/>
              </a:rPr>
              <a:t>rules.</a:t>
            </a:r>
            <a:endParaRPr sz="1800">
              <a:latin typeface="Roboto Bk"/>
              <a:cs typeface="Roboto Bk"/>
            </a:endParaRPr>
          </a:p>
          <a:p>
            <a:pPr marL="354965" indent="-342265">
              <a:lnSpc>
                <a:spcPct val="100000"/>
              </a:lnSpc>
              <a:spcBef>
                <a:spcPts val="1085"/>
              </a:spcBef>
              <a:buFont typeface="Segoe UI Symbol"/>
              <a:buChar char="❖"/>
              <a:tabLst>
                <a:tab pos="354965" algn="l"/>
              </a:tabLst>
            </a:pPr>
            <a:r>
              <a:rPr sz="1800" b="1" dirty="0">
                <a:solidFill>
                  <a:srgbClr val="434343"/>
                </a:solidFill>
                <a:latin typeface="Roboto Bk"/>
                <a:cs typeface="Roboto Bk"/>
              </a:rPr>
              <a:t>Designed</a:t>
            </a:r>
            <a:r>
              <a:rPr sz="1800" b="1" spc="-50" dirty="0">
                <a:solidFill>
                  <a:srgbClr val="434343"/>
                </a:solidFill>
                <a:latin typeface="Roboto Bk"/>
                <a:cs typeface="Roboto Bk"/>
              </a:rPr>
              <a:t> </a:t>
            </a:r>
            <a:r>
              <a:rPr sz="1800" b="1" dirty="0">
                <a:solidFill>
                  <a:srgbClr val="434343"/>
                </a:solidFill>
                <a:latin typeface="Roboto Bk"/>
                <a:cs typeface="Roboto Bk"/>
              </a:rPr>
              <a:t>to</a:t>
            </a:r>
            <a:r>
              <a:rPr sz="1800" b="1" spc="-45" dirty="0">
                <a:solidFill>
                  <a:srgbClr val="434343"/>
                </a:solidFill>
                <a:latin typeface="Roboto Bk"/>
                <a:cs typeface="Roboto Bk"/>
              </a:rPr>
              <a:t> </a:t>
            </a:r>
            <a:r>
              <a:rPr sz="1800" b="1" dirty="0">
                <a:solidFill>
                  <a:srgbClr val="434343"/>
                </a:solidFill>
                <a:latin typeface="Roboto Bk"/>
                <a:cs typeface="Roboto Bk"/>
              </a:rPr>
              <a:t>work</a:t>
            </a:r>
            <a:r>
              <a:rPr sz="1800" b="1" spc="-45" dirty="0">
                <a:solidFill>
                  <a:srgbClr val="434343"/>
                </a:solidFill>
                <a:latin typeface="Roboto Bk"/>
                <a:cs typeface="Roboto Bk"/>
              </a:rPr>
              <a:t> </a:t>
            </a:r>
            <a:r>
              <a:rPr sz="1800" b="1" dirty="0">
                <a:solidFill>
                  <a:srgbClr val="434343"/>
                </a:solidFill>
                <a:latin typeface="Roboto Bk"/>
                <a:cs typeface="Roboto Bk"/>
              </a:rPr>
              <a:t>on</a:t>
            </a:r>
            <a:r>
              <a:rPr sz="1800" b="1" spc="-55" dirty="0">
                <a:solidFill>
                  <a:srgbClr val="434343"/>
                </a:solidFill>
                <a:latin typeface="Roboto Bk"/>
                <a:cs typeface="Roboto Bk"/>
              </a:rPr>
              <a:t> </a:t>
            </a:r>
            <a:r>
              <a:rPr sz="1800" b="1" dirty="0">
                <a:solidFill>
                  <a:srgbClr val="434343"/>
                </a:solidFill>
                <a:latin typeface="Roboto Bk"/>
                <a:cs typeface="Roboto Bk"/>
              </a:rPr>
              <a:t>Databases</a:t>
            </a:r>
            <a:r>
              <a:rPr sz="1800" b="1" spc="-65" dirty="0">
                <a:solidFill>
                  <a:srgbClr val="434343"/>
                </a:solidFill>
                <a:latin typeface="Roboto Bk"/>
                <a:cs typeface="Roboto Bk"/>
              </a:rPr>
              <a:t> </a:t>
            </a:r>
            <a:r>
              <a:rPr sz="1800" b="1" spc="-20" dirty="0">
                <a:solidFill>
                  <a:srgbClr val="434343"/>
                </a:solidFill>
                <a:latin typeface="Roboto Bk"/>
                <a:cs typeface="Roboto Bk"/>
              </a:rPr>
              <a:t>containing</a:t>
            </a:r>
            <a:r>
              <a:rPr sz="1800" b="1" spc="-75" dirty="0">
                <a:solidFill>
                  <a:srgbClr val="434343"/>
                </a:solidFill>
                <a:latin typeface="Roboto Bk"/>
                <a:cs typeface="Roboto Bk"/>
              </a:rPr>
              <a:t> </a:t>
            </a:r>
            <a:r>
              <a:rPr sz="1800" b="1" spc="-10" dirty="0">
                <a:solidFill>
                  <a:srgbClr val="434343"/>
                </a:solidFill>
                <a:latin typeface="Roboto Bk"/>
                <a:cs typeface="Roboto Bk"/>
              </a:rPr>
              <a:t>transactions.</a:t>
            </a:r>
            <a:endParaRPr sz="1800">
              <a:latin typeface="Roboto Bk"/>
              <a:cs typeface="Roboto Bk"/>
            </a:endParaRPr>
          </a:p>
          <a:p>
            <a:pPr marL="354965" indent="-342265">
              <a:lnSpc>
                <a:spcPct val="100000"/>
              </a:lnSpc>
              <a:spcBef>
                <a:spcPts val="1080"/>
              </a:spcBef>
              <a:buFont typeface="Segoe UI Symbol"/>
              <a:buChar char="❖"/>
              <a:tabLst>
                <a:tab pos="354965" algn="l"/>
              </a:tabLst>
            </a:pPr>
            <a:r>
              <a:rPr sz="1800" b="1" spc="-10" dirty="0">
                <a:solidFill>
                  <a:srgbClr val="434343"/>
                </a:solidFill>
                <a:latin typeface="Roboto Bk"/>
                <a:cs typeface="Roboto Bk"/>
              </a:rPr>
              <a:t>Determines</a:t>
            </a:r>
            <a:r>
              <a:rPr sz="1800" b="1" spc="-40" dirty="0">
                <a:solidFill>
                  <a:srgbClr val="434343"/>
                </a:solidFill>
                <a:latin typeface="Roboto Bk"/>
                <a:cs typeface="Roboto Bk"/>
              </a:rPr>
              <a:t> </a:t>
            </a:r>
            <a:r>
              <a:rPr sz="1800" b="1" dirty="0">
                <a:solidFill>
                  <a:srgbClr val="434343"/>
                </a:solidFill>
                <a:latin typeface="Roboto Bk"/>
                <a:cs typeface="Roboto Bk"/>
              </a:rPr>
              <a:t>the</a:t>
            </a:r>
            <a:r>
              <a:rPr sz="1800" b="1" spc="-40" dirty="0">
                <a:solidFill>
                  <a:srgbClr val="434343"/>
                </a:solidFill>
                <a:latin typeface="Roboto Bk"/>
                <a:cs typeface="Roboto Bk"/>
              </a:rPr>
              <a:t> </a:t>
            </a:r>
            <a:r>
              <a:rPr sz="1800" b="1" spc="-30" dirty="0">
                <a:solidFill>
                  <a:srgbClr val="434343"/>
                </a:solidFill>
                <a:latin typeface="Roboto Bk"/>
                <a:cs typeface="Roboto Bk"/>
              </a:rPr>
              <a:t>strength(Strong</a:t>
            </a:r>
            <a:r>
              <a:rPr sz="1800" b="1" spc="-55" dirty="0">
                <a:solidFill>
                  <a:srgbClr val="434343"/>
                </a:solidFill>
                <a:latin typeface="Roboto Bk"/>
                <a:cs typeface="Roboto Bk"/>
              </a:rPr>
              <a:t> </a:t>
            </a:r>
            <a:r>
              <a:rPr sz="1800" b="1" dirty="0">
                <a:solidFill>
                  <a:srgbClr val="434343"/>
                </a:solidFill>
                <a:latin typeface="Roboto Bk"/>
                <a:cs typeface="Roboto Bk"/>
              </a:rPr>
              <a:t>or</a:t>
            </a:r>
            <a:r>
              <a:rPr sz="1800" b="1" spc="-35" dirty="0">
                <a:solidFill>
                  <a:srgbClr val="434343"/>
                </a:solidFill>
                <a:latin typeface="Roboto Bk"/>
                <a:cs typeface="Roboto Bk"/>
              </a:rPr>
              <a:t> </a:t>
            </a:r>
            <a:r>
              <a:rPr sz="1800" b="1" dirty="0">
                <a:solidFill>
                  <a:srgbClr val="434343"/>
                </a:solidFill>
                <a:latin typeface="Roboto Bk"/>
                <a:cs typeface="Roboto Bk"/>
              </a:rPr>
              <a:t>weak)</a:t>
            </a:r>
            <a:r>
              <a:rPr sz="1800" b="1" spc="-35" dirty="0">
                <a:solidFill>
                  <a:srgbClr val="434343"/>
                </a:solidFill>
                <a:latin typeface="Roboto Bk"/>
                <a:cs typeface="Roboto Bk"/>
              </a:rPr>
              <a:t> </a:t>
            </a:r>
            <a:r>
              <a:rPr sz="1800" b="1" spc="-10" dirty="0">
                <a:solidFill>
                  <a:srgbClr val="434343"/>
                </a:solidFill>
                <a:latin typeface="Roboto Bk"/>
                <a:cs typeface="Roboto Bk"/>
              </a:rPr>
              <a:t>connection</a:t>
            </a:r>
            <a:r>
              <a:rPr sz="1800" b="1" spc="-45" dirty="0">
                <a:solidFill>
                  <a:srgbClr val="434343"/>
                </a:solidFill>
                <a:latin typeface="Roboto Bk"/>
                <a:cs typeface="Roboto Bk"/>
              </a:rPr>
              <a:t> </a:t>
            </a:r>
            <a:r>
              <a:rPr sz="1800" b="1" dirty="0">
                <a:solidFill>
                  <a:srgbClr val="434343"/>
                </a:solidFill>
                <a:latin typeface="Roboto Bk"/>
                <a:cs typeface="Roboto Bk"/>
              </a:rPr>
              <a:t>between</a:t>
            </a:r>
            <a:r>
              <a:rPr sz="1800" b="1" spc="-55" dirty="0">
                <a:solidFill>
                  <a:srgbClr val="434343"/>
                </a:solidFill>
                <a:latin typeface="Roboto Bk"/>
                <a:cs typeface="Roboto Bk"/>
              </a:rPr>
              <a:t> </a:t>
            </a:r>
            <a:r>
              <a:rPr sz="1800" b="1" dirty="0">
                <a:solidFill>
                  <a:srgbClr val="434343"/>
                </a:solidFill>
                <a:latin typeface="Roboto Bk"/>
                <a:cs typeface="Roboto Bk"/>
              </a:rPr>
              <a:t>two</a:t>
            </a:r>
            <a:r>
              <a:rPr sz="1800" b="1" spc="-40" dirty="0">
                <a:solidFill>
                  <a:srgbClr val="434343"/>
                </a:solidFill>
                <a:latin typeface="Roboto Bk"/>
                <a:cs typeface="Roboto Bk"/>
              </a:rPr>
              <a:t> </a:t>
            </a:r>
            <a:r>
              <a:rPr sz="1800" b="1" spc="-10" dirty="0">
                <a:solidFill>
                  <a:srgbClr val="434343"/>
                </a:solidFill>
                <a:latin typeface="Roboto Bk"/>
                <a:cs typeface="Roboto Bk"/>
              </a:rPr>
              <a:t>objects.</a:t>
            </a:r>
            <a:endParaRPr sz="1800">
              <a:latin typeface="Roboto Bk"/>
              <a:cs typeface="Roboto Bk"/>
            </a:endParaRPr>
          </a:p>
          <a:p>
            <a:pPr marL="354965" indent="-342265">
              <a:lnSpc>
                <a:spcPct val="100000"/>
              </a:lnSpc>
              <a:spcBef>
                <a:spcPts val="1080"/>
              </a:spcBef>
              <a:buFont typeface="Segoe UI Symbol"/>
              <a:buChar char="❖"/>
              <a:tabLst>
                <a:tab pos="354965" algn="l"/>
              </a:tabLst>
            </a:pPr>
            <a:r>
              <a:rPr sz="1800" b="1" spc="-25" dirty="0">
                <a:solidFill>
                  <a:srgbClr val="434343"/>
                </a:solidFill>
                <a:latin typeface="Roboto Bk"/>
                <a:cs typeface="Roboto Bk"/>
              </a:rPr>
              <a:t>Iterative</a:t>
            </a:r>
            <a:r>
              <a:rPr sz="1800" b="1" spc="-75" dirty="0">
                <a:solidFill>
                  <a:srgbClr val="434343"/>
                </a:solidFill>
                <a:latin typeface="Roboto Bk"/>
                <a:cs typeface="Roboto Bk"/>
              </a:rPr>
              <a:t> </a:t>
            </a:r>
            <a:r>
              <a:rPr sz="1800" b="1" dirty="0">
                <a:solidFill>
                  <a:srgbClr val="434343"/>
                </a:solidFill>
                <a:latin typeface="Roboto Bk"/>
                <a:cs typeface="Roboto Bk"/>
              </a:rPr>
              <a:t>in</a:t>
            </a:r>
            <a:r>
              <a:rPr sz="1800" b="1" spc="-65" dirty="0">
                <a:solidFill>
                  <a:srgbClr val="434343"/>
                </a:solidFill>
                <a:latin typeface="Roboto Bk"/>
                <a:cs typeface="Roboto Bk"/>
              </a:rPr>
              <a:t> </a:t>
            </a:r>
            <a:r>
              <a:rPr sz="1800" b="1" spc="-10" dirty="0">
                <a:solidFill>
                  <a:srgbClr val="434343"/>
                </a:solidFill>
                <a:latin typeface="Roboto Bk"/>
                <a:cs typeface="Roboto Bk"/>
              </a:rPr>
              <a:t>nature.</a:t>
            </a:r>
            <a:endParaRPr sz="1800">
              <a:latin typeface="Roboto Bk"/>
              <a:cs typeface="Roboto Bk"/>
            </a:endParaRPr>
          </a:p>
          <a:p>
            <a:pPr marL="355600" marR="518795" indent="-342900">
              <a:lnSpc>
                <a:spcPct val="150000"/>
              </a:lnSpc>
              <a:buFont typeface="Segoe UI Symbol"/>
              <a:buChar char="❖"/>
              <a:tabLst>
                <a:tab pos="355600" algn="l"/>
              </a:tabLst>
            </a:pPr>
            <a:r>
              <a:rPr sz="1800" b="1" spc="-20" dirty="0">
                <a:solidFill>
                  <a:srgbClr val="434343"/>
                </a:solidFill>
                <a:latin typeface="Roboto Bk"/>
                <a:cs typeface="Roboto Bk"/>
              </a:rPr>
              <a:t>Mainly</a:t>
            </a:r>
            <a:r>
              <a:rPr sz="1800" b="1" spc="-30" dirty="0">
                <a:solidFill>
                  <a:srgbClr val="434343"/>
                </a:solidFill>
                <a:latin typeface="Roboto Bk"/>
                <a:cs typeface="Roboto Bk"/>
              </a:rPr>
              <a:t> </a:t>
            </a:r>
            <a:r>
              <a:rPr sz="1800" b="1" dirty="0">
                <a:solidFill>
                  <a:srgbClr val="434343"/>
                </a:solidFill>
                <a:latin typeface="Roboto Bk"/>
                <a:cs typeface="Roboto Bk"/>
              </a:rPr>
              <a:t>used</a:t>
            </a:r>
            <a:r>
              <a:rPr sz="1800" b="1" spc="-40" dirty="0">
                <a:solidFill>
                  <a:srgbClr val="434343"/>
                </a:solidFill>
                <a:latin typeface="Roboto Bk"/>
                <a:cs typeface="Roboto Bk"/>
              </a:rPr>
              <a:t> </a:t>
            </a:r>
            <a:r>
              <a:rPr sz="1800" b="1" dirty="0">
                <a:solidFill>
                  <a:srgbClr val="434343"/>
                </a:solidFill>
                <a:latin typeface="Roboto Bk"/>
                <a:cs typeface="Roboto Bk"/>
              </a:rPr>
              <a:t>for</a:t>
            </a:r>
            <a:r>
              <a:rPr sz="1800" b="1" spc="-15" dirty="0">
                <a:solidFill>
                  <a:srgbClr val="434343"/>
                </a:solidFill>
                <a:latin typeface="Roboto Bk"/>
                <a:cs typeface="Roboto Bk"/>
              </a:rPr>
              <a:t> </a:t>
            </a:r>
            <a:r>
              <a:rPr sz="1800" b="1" spc="-65" dirty="0">
                <a:solidFill>
                  <a:srgbClr val="434343"/>
                </a:solidFill>
                <a:latin typeface="Roboto Bk"/>
                <a:cs typeface="Roboto Bk"/>
              </a:rPr>
              <a:t>market-</a:t>
            </a:r>
            <a:r>
              <a:rPr sz="1800" b="1" spc="-10" dirty="0">
                <a:solidFill>
                  <a:srgbClr val="434343"/>
                </a:solidFill>
                <a:latin typeface="Roboto Bk"/>
                <a:cs typeface="Roboto Bk"/>
              </a:rPr>
              <a:t>basket</a:t>
            </a:r>
            <a:r>
              <a:rPr sz="1800" b="1" spc="-30" dirty="0">
                <a:solidFill>
                  <a:srgbClr val="434343"/>
                </a:solidFill>
                <a:latin typeface="Roboto Bk"/>
                <a:cs typeface="Roboto Bk"/>
              </a:rPr>
              <a:t> </a:t>
            </a:r>
            <a:r>
              <a:rPr sz="1800" b="1" spc="-20" dirty="0">
                <a:solidFill>
                  <a:srgbClr val="434343"/>
                </a:solidFill>
                <a:latin typeface="Roboto Bk"/>
                <a:cs typeface="Roboto Bk"/>
              </a:rPr>
              <a:t>analysis</a:t>
            </a:r>
            <a:r>
              <a:rPr sz="1800" b="1" spc="-50" dirty="0">
                <a:solidFill>
                  <a:srgbClr val="434343"/>
                </a:solidFill>
                <a:latin typeface="Roboto Bk"/>
                <a:cs typeface="Roboto Bk"/>
              </a:rPr>
              <a:t> </a:t>
            </a:r>
            <a:r>
              <a:rPr sz="1800" b="1" dirty="0">
                <a:solidFill>
                  <a:srgbClr val="434343"/>
                </a:solidFill>
                <a:latin typeface="Roboto Bk"/>
                <a:cs typeface="Roboto Bk"/>
              </a:rPr>
              <a:t>and</a:t>
            </a:r>
            <a:r>
              <a:rPr sz="1800" b="1" spc="-35" dirty="0">
                <a:solidFill>
                  <a:srgbClr val="434343"/>
                </a:solidFill>
                <a:latin typeface="Roboto Bk"/>
                <a:cs typeface="Roboto Bk"/>
              </a:rPr>
              <a:t> </a:t>
            </a:r>
            <a:r>
              <a:rPr sz="1800" b="1" spc="-80" dirty="0">
                <a:solidFill>
                  <a:srgbClr val="434343"/>
                </a:solidFill>
                <a:latin typeface="Roboto Bk"/>
                <a:cs typeface="Roboto Bk"/>
              </a:rPr>
              <a:t>drug-</a:t>
            </a:r>
            <a:r>
              <a:rPr sz="1800" b="1" spc="-10" dirty="0">
                <a:solidFill>
                  <a:srgbClr val="434343"/>
                </a:solidFill>
                <a:latin typeface="Roboto Bk"/>
                <a:cs typeface="Roboto Bk"/>
              </a:rPr>
              <a:t>reaction</a:t>
            </a:r>
            <a:r>
              <a:rPr sz="1800" b="1" spc="-50" dirty="0">
                <a:solidFill>
                  <a:srgbClr val="434343"/>
                </a:solidFill>
                <a:latin typeface="Roboto Bk"/>
                <a:cs typeface="Roboto Bk"/>
              </a:rPr>
              <a:t> </a:t>
            </a:r>
            <a:r>
              <a:rPr sz="1800" b="1" spc="-10" dirty="0">
                <a:solidFill>
                  <a:srgbClr val="434343"/>
                </a:solidFill>
                <a:latin typeface="Roboto Bk"/>
                <a:cs typeface="Roboto Bk"/>
              </a:rPr>
              <a:t>analysis</a:t>
            </a:r>
            <a:r>
              <a:rPr sz="1800" b="1" spc="-50" dirty="0">
                <a:solidFill>
                  <a:srgbClr val="434343"/>
                </a:solidFill>
                <a:latin typeface="Roboto Bk"/>
                <a:cs typeface="Roboto Bk"/>
              </a:rPr>
              <a:t> </a:t>
            </a:r>
            <a:r>
              <a:rPr sz="1800" b="1" spc="-25" dirty="0">
                <a:solidFill>
                  <a:srgbClr val="434343"/>
                </a:solidFill>
                <a:latin typeface="Roboto Bk"/>
                <a:cs typeface="Roboto Bk"/>
              </a:rPr>
              <a:t>on </a:t>
            </a:r>
            <a:r>
              <a:rPr sz="1800" b="1" spc="-10" dirty="0">
                <a:solidFill>
                  <a:srgbClr val="434343"/>
                </a:solidFill>
                <a:latin typeface="Roboto Bk"/>
                <a:cs typeface="Roboto Bk"/>
              </a:rPr>
              <a:t>patients.</a:t>
            </a:r>
            <a:endParaRPr sz="1800">
              <a:latin typeface="Roboto Bk"/>
              <a:cs typeface="Roboto Bk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3517391"/>
            <a:ext cx="9144000" cy="1626235"/>
            <a:chOff x="0" y="3517391"/>
            <a:chExt cx="9144000" cy="1626235"/>
          </a:xfrm>
        </p:grpSpPr>
        <p:sp>
          <p:nvSpPr>
            <p:cNvPr id="3" name="object 3"/>
            <p:cNvSpPr/>
            <p:nvPr/>
          </p:nvSpPr>
          <p:spPr>
            <a:xfrm>
              <a:off x="312420" y="3521963"/>
              <a:ext cx="6370320" cy="744220"/>
            </a:xfrm>
            <a:custGeom>
              <a:avLst/>
              <a:gdLst/>
              <a:ahLst/>
              <a:cxnLst/>
              <a:rect l="l" t="t" r="r" b="b"/>
              <a:pathLst>
                <a:path w="6370320" h="744220">
                  <a:moveTo>
                    <a:pt x="6370320" y="0"/>
                  </a:moveTo>
                  <a:lnTo>
                    <a:pt x="0" y="0"/>
                  </a:lnTo>
                  <a:lnTo>
                    <a:pt x="0" y="743712"/>
                  </a:lnTo>
                  <a:lnTo>
                    <a:pt x="6370320" y="743712"/>
                  </a:lnTo>
                  <a:lnTo>
                    <a:pt x="63703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12420" y="3521963"/>
              <a:ext cx="6370320" cy="744220"/>
            </a:xfrm>
            <a:custGeom>
              <a:avLst/>
              <a:gdLst/>
              <a:ahLst/>
              <a:cxnLst/>
              <a:rect l="l" t="t" r="r" b="b"/>
              <a:pathLst>
                <a:path w="6370320" h="744220">
                  <a:moveTo>
                    <a:pt x="0" y="743712"/>
                  </a:moveTo>
                  <a:lnTo>
                    <a:pt x="6370320" y="743712"/>
                  </a:lnTo>
                  <a:lnTo>
                    <a:pt x="6370320" y="0"/>
                  </a:lnTo>
                  <a:lnTo>
                    <a:pt x="0" y="0"/>
                  </a:lnTo>
                  <a:lnTo>
                    <a:pt x="0" y="743712"/>
                  </a:lnTo>
                  <a:close/>
                </a:path>
              </a:pathLst>
            </a:custGeom>
            <a:ln w="914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4455">
              <a:lnSpc>
                <a:spcPct val="100000"/>
              </a:lnSpc>
              <a:spcBef>
                <a:spcPts val="100"/>
              </a:spcBef>
            </a:pPr>
            <a:r>
              <a:rPr spc="-30" dirty="0"/>
              <a:t>Apriori</a:t>
            </a:r>
            <a:r>
              <a:rPr spc="-135" dirty="0"/>
              <a:t> </a:t>
            </a:r>
            <a:r>
              <a:rPr spc="-10" dirty="0"/>
              <a:t>Association</a:t>
            </a:r>
            <a:r>
              <a:rPr spc="-135" dirty="0"/>
              <a:t> </a:t>
            </a:r>
            <a:r>
              <a:rPr spc="-10" dirty="0"/>
              <a:t>Algorithm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25" dirty="0"/>
              <a:t>19</a:t>
            </a:fld>
            <a:endParaRPr spc="-25" dirty="0"/>
          </a:p>
        </p:txBody>
      </p:sp>
      <p:sp>
        <p:nvSpPr>
          <p:cNvPr id="6" name="object 6"/>
          <p:cNvSpPr txBox="1"/>
          <p:nvPr/>
        </p:nvSpPr>
        <p:spPr>
          <a:xfrm>
            <a:off x="534416" y="1445339"/>
            <a:ext cx="5854700" cy="1625600"/>
          </a:xfrm>
          <a:prstGeom prst="rect">
            <a:avLst/>
          </a:prstGeom>
        </p:spPr>
        <p:txBody>
          <a:bodyPr vert="horz" wrap="square" lIns="0" tIns="1187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35"/>
              </a:spcBef>
            </a:pPr>
            <a:r>
              <a:rPr sz="1400" b="1" spc="-10" dirty="0">
                <a:latin typeface="Roboto Bk"/>
                <a:cs typeface="Roboto Bk"/>
              </a:rPr>
              <a:t>Terminologies:</a:t>
            </a:r>
            <a:endParaRPr sz="1400">
              <a:latin typeface="Roboto Bk"/>
              <a:cs typeface="Roboto Bk"/>
            </a:endParaRPr>
          </a:p>
          <a:p>
            <a:pPr marL="469900" indent="-317500">
              <a:lnSpc>
                <a:spcPct val="100000"/>
              </a:lnSpc>
              <a:spcBef>
                <a:spcPts val="840"/>
              </a:spcBef>
              <a:buFont typeface="Segoe UI Symbol"/>
              <a:buChar char="➔"/>
              <a:tabLst>
                <a:tab pos="469900" algn="l"/>
              </a:tabLst>
            </a:pPr>
            <a:r>
              <a:rPr sz="1400" b="1" dirty="0">
                <a:latin typeface="Roboto Bk"/>
                <a:cs typeface="Roboto Bk"/>
              </a:rPr>
              <a:t>Antecedent</a:t>
            </a:r>
            <a:r>
              <a:rPr sz="1400" b="1" spc="-90" dirty="0">
                <a:latin typeface="Roboto Bk"/>
                <a:cs typeface="Roboto Bk"/>
              </a:rPr>
              <a:t> </a:t>
            </a:r>
            <a:r>
              <a:rPr sz="1400" b="1" i="1" spc="95" dirty="0">
                <a:latin typeface="Roboto Cn"/>
                <a:cs typeface="Roboto Cn"/>
              </a:rPr>
              <a:t>A</a:t>
            </a:r>
            <a:endParaRPr sz="1400">
              <a:latin typeface="Roboto Cn"/>
              <a:cs typeface="Roboto Cn"/>
            </a:endParaRPr>
          </a:p>
          <a:p>
            <a:pPr marL="469900" indent="-317500">
              <a:lnSpc>
                <a:spcPct val="100000"/>
              </a:lnSpc>
              <a:spcBef>
                <a:spcPts val="840"/>
              </a:spcBef>
              <a:buFont typeface="Segoe UI Symbol"/>
              <a:buChar char="➔"/>
              <a:tabLst>
                <a:tab pos="469900" algn="l"/>
              </a:tabLst>
            </a:pPr>
            <a:r>
              <a:rPr sz="1400" b="1" dirty="0">
                <a:latin typeface="Roboto Bk"/>
                <a:cs typeface="Roboto Bk"/>
              </a:rPr>
              <a:t>Consequent</a:t>
            </a:r>
            <a:r>
              <a:rPr sz="1400" b="1" spc="-50" dirty="0">
                <a:latin typeface="Roboto Bk"/>
                <a:cs typeface="Roboto Bk"/>
              </a:rPr>
              <a:t> </a:t>
            </a:r>
            <a:r>
              <a:rPr sz="1400" b="1" i="1" spc="50" dirty="0">
                <a:latin typeface="Roboto Cn"/>
                <a:cs typeface="Roboto Cn"/>
              </a:rPr>
              <a:t>B</a:t>
            </a:r>
            <a:endParaRPr sz="1400">
              <a:latin typeface="Roboto Cn"/>
              <a:cs typeface="Roboto Cn"/>
            </a:endParaRPr>
          </a:p>
          <a:p>
            <a:pPr marL="469900" marR="5080" indent="-317500">
              <a:lnSpc>
                <a:spcPct val="150000"/>
              </a:lnSpc>
              <a:buFont typeface="Segoe UI Symbol"/>
              <a:buChar char="➔"/>
              <a:tabLst>
                <a:tab pos="469900" algn="l"/>
              </a:tabLst>
            </a:pPr>
            <a:r>
              <a:rPr sz="1400" b="1" spc="-10" dirty="0">
                <a:latin typeface="Roboto Bk"/>
                <a:cs typeface="Roboto Bk"/>
              </a:rPr>
              <a:t>Confidence:</a:t>
            </a:r>
            <a:r>
              <a:rPr sz="1400" b="1" spc="-60" dirty="0">
                <a:latin typeface="Roboto Bk"/>
                <a:cs typeface="Roboto Bk"/>
              </a:rPr>
              <a:t> </a:t>
            </a:r>
            <a:r>
              <a:rPr sz="1400" b="1" i="1" spc="-10" dirty="0">
                <a:latin typeface="Roboto Bk"/>
                <a:cs typeface="Roboto Bk"/>
              </a:rPr>
              <a:t>measure</a:t>
            </a:r>
            <a:r>
              <a:rPr sz="1400" b="1" i="1" spc="-50" dirty="0">
                <a:latin typeface="Roboto Bk"/>
                <a:cs typeface="Roboto Bk"/>
              </a:rPr>
              <a:t> </a:t>
            </a:r>
            <a:r>
              <a:rPr sz="1400" b="1" i="1" dirty="0">
                <a:latin typeface="Roboto Bk"/>
                <a:cs typeface="Roboto Bk"/>
              </a:rPr>
              <a:t>of</a:t>
            </a:r>
            <a:r>
              <a:rPr sz="1400" b="1" i="1" spc="-45" dirty="0">
                <a:latin typeface="Roboto Bk"/>
                <a:cs typeface="Roboto Bk"/>
              </a:rPr>
              <a:t> </a:t>
            </a:r>
            <a:r>
              <a:rPr sz="1400" b="1" i="1" dirty="0">
                <a:latin typeface="Roboto Bk"/>
                <a:cs typeface="Roboto Bk"/>
              </a:rPr>
              <a:t>how</a:t>
            </a:r>
            <a:r>
              <a:rPr sz="1400" b="1" i="1" spc="-50" dirty="0">
                <a:latin typeface="Roboto Bk"/>
                <a:cs typeface="Roboto Bk"/>
              </a:rPr>
              <a:t> </a:t>
            </a:r>
            <a:r>
              <a:rPr sz="1400" b="1" i="1" spc="-25" dirty="0">
                <a:latin typeface="Roboto Bk"/>
                <a:cs typeface="Roboto Bk"/>
              </a:rPr>
              <a:t>often</a:t>
            </a:r>
            <a:r>
              <a:rPr sz="1400" b="1" i="1" spc="-50" dirty="0">
                <a:latin typeface="Roboto Bk"/>
                <a:cs typeface="Roboto Bk"/>
              </a:rPr>
              <a:t> </a:t>
            </a:r>
            <a:r>
              <a:rPr sz="1400" b="1" i="1" dirty="0">
                <a:latin typeface="Roboto Bk"/>
                <a:cs typeface="Roboto Bk"/>
              </a:rPr>
              <a:t>B</a:t>
            </a:r>
            <a:r>
              <a:rPr sz="1400" b="1" i="1" spc="-45" dirty="0">
                <a:latin typeface="Roboto Bk"/>
                <a:cs typeface="Roboto Bk"/>
              </a:rPr>
              <a:t> </a:t>
            </a:r>
            <a:r>
              <a:rPr sz="1400" b="1" i="1" dirty="0">
                <a:latin typeface="Roboto Bk"/>
                <a:cs typeface="Roboto Bk"/>
              </a:rPr>
              <a:t>appear</a:t>
            </a:r>
            <a:r>
              <a:rPr sz="1400" b="1" i="1" spc="-35" dirty="0">
                <a:latin typeface="Roboto Bk"/>
                <a:cs typeface="Roboto Bk"/>
              </a:rPr>
              <a:t> </a:t>
            </a:r>
            <a:r>
              <a:rPr sz="1400" b="1" i="1" spc="-20" dirty="0">
                <a:latin typeface="Roboto Bk"/>
                <a:cs typeface="Roboto Bk"/>
              </a:rPr>
              <a:t>in</a:t>
            </a:r>
            <a:r>
              <a:rPr sz="1400" b="1" i="1" spc="-40" dirty="0">
                <a:latin typeface="Roboto Bk"/>
                <a:cs typeface="Roboto Bk"/>
              </a:rPr>
              <a:t> </a:t>
            </a:r>
            <a:r>
              <a:rPr sz="1400" b="1" i="1" dirty="0">
                <a:latin typeface="Roboto Bk"/>
                <a:cs typeface="Roboto Bk"/>
              </a:rPr>
              <a:t>a</a:t>
            </a:r>
            <a:r>
              <a:rPr sz="1400" b="1" i="1" spc="-50" dirty="0">
                <a:latin typeface="Roboto Bk"/>
                <a:cs typeface="Roboto Bk"/>
              </a:rPr>
              <a:t> </a:t>
            </a:r>
            <a:r>
              <a:rPr sz="1400" b="1" i="1" spc="-25" dirty="0">
                <a:latin typeface="Roboto Bk"/>
                <a:cs typeface="Roboto Bk"/>
              </a:rPr>
              <a:t>transaction</a:t>
            </a:r>
            <a:r>
              <a:rPr sz="1400" b="1" i="1" spc="-55" dirty="0">
                <a:latin typeface="Roboto Bk"/>
                <a:cs typeface="Roboto Bk"/>
              </a:rPr>
              <a:t> </a:t>
            </a:r>
            <a:r>
              <a:rPr sz="1400" b="1" i="1" spc="-25" dirty="0">
                <a:latin typeface="Roboto Bk"/>
                <a:cs typeface="Roboto Bk"/>
              </a:rPr>
              <a:t>that</a:t>
            </a:r>
            <a:r>
              <a:rPr sz="1400" b="1" i="1" spc="-50" dirty="0">
                <a:latin typeface="Roboto Bk"/>
                <a:cs typeface="Roboto Bk"/>
              </a:rPr>
              <a:t> </a:t>
            </a:r>
            <a:r>
              <a:rPr sz="1400" b="1" i="1" spc="-20" dirty="0">
                <a:latin typeface="Roboto Bk"/>
                <a:cs typeface="Roboto Bk"/>
              </a:rPr>
              <a:t>also </a:t>
            </a:r>
            <a:r>
              <a:rPr sz="1400" b="1" i="1" spc="-25" dirty="0">
                <a:latin typeface="Roboto Bk"/>
                <a:cs typeface="Roboto Bk"/>
              </a:rPr>
              <a:t>contains</a:t>
            </a:r>
            <a:r>
              <a:rPr sz="1400" b="1" i="1" spc="-30" dirty="0">
                <a:latin typeface="Roboto Bk"/>
                <a:cs typeface="Roboto Bk"/>
              </a:rPr>
              <a:t> </a:t>
            </a:r>
            <a:r>
              <a:rPr sz="1400" b="1" i="1" spc="-25" dirty="0">
                <a:latin typeface="Roboto Bk"/>
                <a:cs typeface="Roboto Bk"/>
              </a:rPr>
              <a:t>the</a:t>
            </a:r>
            <a:r>
              <a:rPr sz="1400" b="1" i="1" spc="-45" dirty="0">
                <a:latin typeface="Roboto Bk"/>
                <a:cs typeface="Roboto Bk"/>
              </a:rPr>
              <a:t> </a:t>
            </a:r>
            <a:r>
              <a:rPr sz="1400" b="1" i="1" spc="-50" dirty="0">
                <a:latin typeface="Roboto Bk"/>
                <a:cs typeface="Roboto Bk"/>
              </a:rPr>
              <a:t>A</a:t>
            </a:r>
            <a:endParaRPr sz="1400">
              <a:latin typeface="Roboto Bk"/>
              <a:cs typeface="Roboto Bk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03123" y="3614928"/>
            <a:ext cx="4676140" cy="242570"/>
          </a:xfrm>
          <a:prstGeom prst="rect">
            <a:avLst/>
          </a:prstGeom>
          <a:solidFill>
            <a:srgbClr val="F7F7F8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839"/>
              </a:lnSpc>
            </a:pPr>
            <a:r>
              <a:rPr sz="1600" b="1" dirty="0">
                <a:solidFill>
                  <a:srgbClr val="404040"/>
                </a:solidFill>
                <a:latin typeface="Roboto"/>
                <a:cs typeface="Roboto"/>
              </a:rPr>
              <a:t>Confidence</a:t>
            </a:r>
            <a:r>
              <a:rPr sz="1600" b="1" spc="35" dirty="0">
                <a:solidFill>
                  <a:srgbClr val="404040"/>
                </a:solidFill>
                <a:latin typeface="Roboto"/>
                <a:cs typeface="Roboto"/>
              </a:rPr>
              <a:t> </a:t>
            </a:r>
            <a:r>
              <a:rPr sz="1600" b="1" dirty="0">
                <a:solidFill>
                  <a:srgbClr val="404040"/>
                </a:solidFill>
                <a:latin typeface="Roboto"/>
                <a:cs typeface="Roboto"/>
              </a:rPr>
              <a:t>(A</a:t>
            </a:r>
            <a:r>
              <a:rPr sz="1600" b="1" spc="-15" dirty="0">
                <a:solidFill>
                  <a:srgbClr val="404040"/>
                </a:solidFill>
                <a:latin typeface="Roboto"/>
                <a:cs typeface="Roboto"/>
              </a:rPr>
              <a:t> </a:t>
            </a:r>
            <a:r>
              <a:rPr sz="1600" b="1" spc="-85" dirty="0">
                <a:solidFill>
                  <a:srgbClr val="404040"/>
                </a:solidFill>
                <a:latin typeface="Roboto"/>
                <a:cs typeface="Roboto"/>
              </a:rPr>
              <a:t>-</a:t>
            </a:r>
            <a:r>
              <a:rPr sz="1600" b="1" dirty="0">
                <a:solidFill>
                  <a:srgbClr val="404040"/>
                </a:solidFill>
                <a:latin typeface="Roboto"/>
                <a:cs typeface="Roboto"/>
              </a:rPr>
              <a:t>&gt;</a:t>
            </a:r>
            <a:r>
              <a:rPr sz="1600" b="1" spc="5" dirty="0">
                <a:solidFill>
                  <a:srgbClr val="404040"/>
                </a:solidFill>
                <a:latin typeface="Roboto"/>
                <a:cs typeface="Roboto"/>
              </a:rPr>
              <a:t> </a:t>
            </a:r>
            <a:r>
              <a:rPr sz="1600" b="1" dirty="0">
                <a:solidFill>
                  <a:srgbClr val="404040"/>
                </a:solidFill>
                <a:latin typeface="Roboto"/>
                <a:cs typeface="Roboto"/>
              </a:rPr>
              <a:t>B)</a:t>
            </a:r>
            <a:r>
              <a:rPr sz="1600" b="1" spc="-5" dirty="0">
                <a:solidFill>
                  <a:srgbClr val="404040"/>
                </a:solidFill>
                <a:latin typeface="Roboto"/>
                <a:cs typeface="Roboto"/>
              </a:rPr>
              <a:t> </a:t>
            </a:r>
            <a:r>
              <a:rPr sz="1600" b="1" dirty="0">
                <a:solidFill>
                  <a:srgbClr val="404040"/>
                </a:solidFill>
                <a:latin typeface="Roboto"/>
                <a:cs typeface="Roboto"/>
              </a:rPr>
              <a:t>= Support (A</a:t>
            </a:r>
            <a:r>
              <a:rPr sz="1600" b="1" spc="5" dirty="0">
                <a:solidFill>
                  <a:srgbClr val="404040"/>
                </a:solidFill>
                <a:latin typeface="Roboto"/>
                <a:cs typeface="Roboto"/>
              </a:rPr>
              <a:t> </a:t>
            </a:r>
            <a:r>
              <a:rPr sz="1600" dirty="0">
                <a:solidFill>
                  <a:srgbClr val="404040"/>
                </a:solidFill>
                <a:latin typeface="Cambria Math"/>
                <a:cs typeface="Cambria Math"/>
              </a:rPr>
              <a:t>∪</a:t>
            </a:r>
            <a:r>
              <a:rPr sz="1600" spc="25" dirty="0">
                <a:solidFill>
                  <a:srgbClr val="404040"/>
                </a:solidFill>
                <a:latin typeface="Cambria Math"/>
                <a:cs typeface="Cambria Math"/>
              </a:rPr>
              <a:t> </a:t>
            </a:r>
            <a:r>
              <a:rPr sz="1600" b="1" dirty="0">
                <a:solidFill>
                  <a:srgbClr val="404040"/>
                </a:solidFill>
                <a:latin typeface="Roboto"/>
                <a:cs typeface="Roboto"/>
              </a:rPr>
              <a:t>B) / Support</a:t>
            </a:r>
            <a:r>
              <a:rPr sz="1600" b="1" spc="5" dirty="0">
                <a:solidFill>
                  <a:srgbClr val="404040"/>
                </a:solidFill>
                <a:latin typeface="Roboto"/>
                <a:cs typeface="Roboto"/>
              </a:rPr>
              <a:t> </a:t>
            </a:r>
            <a:r>
              <a:rPr sz="1600" b="1" spc="-25" dirty="0">
                <a:solidFill>
                  <a:srgbClr val="404040"/>
                </a:solidFill>
                <a:latin typeface="Roboto"/>
                <a:cs typeface="Roboto"/>
              </a:rPr>
              <a:t>(A)</a:t>
            </a:r>
            <a:endParaRPr sz="16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4455">
              <a:lnSpc>
                <a:spcPct val="100000"/>
              </a:lnSpc>
              <a:spcBef>
                <a:spcPts val="100"/>
              </a:spcBef>
            </a:pPr>
            <a:r>
              <a:rPr spc="-30" dirty="0"/>
              <a:t>Apriori</a:t>
            </a:r>
            <a:r>
              <a:rPr spc="-135" dirty="0"/>
              <a:t> </a:t>
            </a:r>
            <a:r>
              <a:rPr spc="-10" dirty="0"/>
              <a:t>Association</a:t>
            </a:r>
            <a:r>
              <a:rPr spc="-135" dirty="0"/>
              <a:t> </a:t>
            </a:r>
            <a:r>
              <a:rPr spc="-10" dirty="0"/>
              <a:t>Algorithm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25" dirty="0"/>
              <a:t>20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46925" y="1491107"/>
            <a:ext cx="4676140" cy="242570"/>
          </a:xfrm>
          <a:prstGeom prst="rect">
            <a:avLst/>
          </a:prstGeom>
          <a:solidFill>
            <a:srgbClr val="F7F7F8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835"/>
              </a:lnSpc>
            </a:pPr>
            <a:r>
              <a:rPr sz="1600" b="1" dirty="0">
                <a:solidFill>
                  <a:srgbClr val="404040"/>
                </a:solidFill>
                <a:latin typeface="Roboto"/>
                <a:cs typeface="Roboto"/>
              </a:rPr>
              <a:t>Confidence</a:t>
            </a:r>
            <a:r>
              <a:rPr sz="1600" b="1" spc="30" dirty="0">
                <a:solidFill>
                  <a:srgbClr val="404040"/>
                </a:solidFill>
                <a:latin typeface="Roboto"/>
                <a:cs typeface="Roboto"/>
              </a:rPr>
              <a:t> </a:t>
            </a:r>
            <a:r>
              <a:rPr sz="1600" b="1" dirty="0">
                <a:solidFill>
                  <a:srgbClr val="404040"/>
                </a:solidFill>
                <a:latin typeface="Roboto"/>
                <a:cs typeface="Roboto"/>
              </a:rPr>
              <a:t>(A</a:t>
            </a:r>
            <a:r>
              <a:rPr sz="1600" b="1" spc="-20" dirty="0">
                <a:solidFill>
                  <a:srgbClr val="404040"/>
                </a:solidFill>
                <a:latin typeface="Roboto"/>
                <a:cs typeface="Roboto"/>
              </a:rPr>
              <a:t> </a:t>
            </a:r>
            <a:r>
              <a:rPr sz="1600" b="1" spc="-85" dirty="0">
                <a:solidFill>
                  <a:srgbClr val="404040"/>
                </a:solidFill>
                <a:latin typeface="Roboto"/>
                <a:cs typeface="Roboto"/>
              </a:rPr>
              <a:t>-</a:t>
            </a:r>
            <a:r>
              <a:rPr sz="1600" b="1" dirty="0">
                <a:solidFill>
                  <a:srgbClr val="404040"/>
                </a:solidFill>
                <a:latin typeface="Roboto"/>
                <a:cs typeface="Roboto"/>
              </a:rPr>
              <a:t>&gt; B)</a:t>
            </a:r>
            <a:r>
              <a:rPr sz="1600" b="1" spc="-20" dirty="0">
                <a:solidFill>
                  <a:srgbClr val="404040"/>
                </a:solidFill>
                <a:latin typeface="Roboto"/>
                <a:cs typeface="Roboto"/>
              </a:rPr>
              <a:t> </a:t>
            </a:r>
            <a:r>
              <a:rPr sz="1600" b="1" dirty="0">
                <a:solidFill>
                  <a:srgbClr val="404040"/>
                </a:solidFill>
                <a:latin typeface="Roboto"/>
                <a:cs typeface="Roboto"/>
              </a:rPr>
              <a:t>=</a:t>
            </a:r>
            <a:r>
              <a:rPr sz="1600" b="1" spc="-5" dirty="0">
                <a:solidFill>
                  <a:srgbClr val="404040"/>
                </a:solidFill>
                <a:latin typeface="Roboto"/>
                <a:cs typeface="Roboto"/>
              </a:rPr>
              <a:t> </a:t>
            </a:r>
            <a:r>
              <a:rPr sz="1600" b="1" dirty="0">
                <a:solidFill>
                  <a:srgbClr val="404040"/>
                </a:solidFill>
                <a:latin typeface="Roboto"/>
                <a:cs typeface="Roboto"/>
              </a:rPr>
              <a:t>Support</a:t>
            </a:r>
            <a:r>
              <a:rPr sz="1600" b="1" spc="-5" dirty="0">
                <a:solidFill>
                  <a:srgbClr val="404040"/>
                </a:solidFill>
                <a:latin typeface="Roboto"/>
                <a:cs typeface="Roboto"/>
              </a:rPr>
              <a:t> </a:t>
            </a:r>
            <a:r>
              <a:rPr sz="1600" b="1" dirty="0">
                <a:solidFill>
                  <a:srgbClr val="404040"/>
                </a:solidFill>
                <a:latin typeface="Roboto"/>
                <a:cs typeface="Roboto"/>
              </a:rPr>
              <a:t>(A</a:t>
            </a:r>
            <a:r>
              <a:rPr sz="1600" b="1" spc="-5" dirty="0">
                <a:solidFill>
                  <a:srgbClr val="404040"/>
                </a:solidFill>
                <a:latin typeface="Roboto"/>
                <a:cs typeface="Roboto"/>
              </a:rPr>
              <a:t> </a:t>
            </a:r>
            <a:r>
              <a:rPr sz="1600" dirty="0">
                <a:solidFill>
                  <a:srgbClr val="404040"/>
                </a:solidFill>
                <a:latin typeface="Cambria Math"/>
                <a:cs typeface="Cambria Math"/>
              </a:rPr>
              <a:t>∪</a:t>
            </a:r>
            <a:r>
              <a:rPr sz="1600" spc="25" dirty="0">
                <a:solidFill>
                  <a:srgbClr val="404040"/>
                </a:solidFill>
                <a:latin typeface="Cambria Math"/>
                <a:cs typeface="Cambria Math"/>
              </a:rPr>
              <a:t> </a:t>
            </a:r>
            <a:r>
              <a:rPr sz="1600" b="1" dirty="0">
                <a:solidFill>
                  <a:srgbClr val="404040"/>
                </a:solidFill>
                <a:latin typeface="Roboto"/>
                <a:cs typeface="Roboto"/>
              </a:rPr>
              <a:t>B)</a:t>
            </a:r>
            <a:r>
              <a:rPr sz="1600" b="1" spc="-20" dirty="0">
                <a:solidFill>
                  <a:srgbClr val="404040"/>
                </a:solidFill>
                <a:latin typeface="Roboto"/>
                <a:cs typeface="Roboto"/>
              </a:rPr>
              <a:t> </a:t>
            </a:r>
            <a:r>
              <a:rPr sz="1600" b="1" dirty="0">
                <a:solidFill>
                  <a:srgbClr val="404040"/>
                </a:solidFill>
                <a:latin typeface="Roboto"/>
                <a:cs typeface="Roboto"/>
              </a:rPr>
              <a:t>/ Support</a:t>
            </a:r>
            <a:r>
              <a:rPr sz="1600" b="1" spc="-5" dirty="0">
                <a:solidFill>
                  <a:srgbClr val="404040"/>
                </a:solidFill>
                <a:latin typeface="Roboto"/>
                <a:cs typeface="Roboto"/>
              </a:rPr>
              <a:t> </a:t>
            </a:r>
            <a:r>
              <a:rPr sz="1600" b="1" spc="-25" dirty="0">
                <a:solidFill>
                  <a:srgbClr val="404040"/>
                </a:solidFill>
                <a:latin typeface="Roboto"/>
                <a:cs typeface="Roboto"/>
              </a:rPr>
              <a:t>(A)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78916" y="2276094"/>
            <a:ext cx="613854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400" b="1" spc="-20" dirty="0">
                <a:latin typeface="Roboto Bk"/>
                <a:cs typeface="Roboto Bk"/>
              </a:rPr>
              <a:t>Support(X)</a:t>
            </a:r>
            <a:r>
              <a:rPr sz="1400" b="1" spc="-45" dirty="0">
                <a:latin typeface="Roboto Bk"/>
                <a:cs typeface="Roboto Bk"/>
              </a:rPr>
              <a:t> </a:t>
            </a:r>
            <a:r>
              <a:rPr sz="1400" b="1" dirty="0">
                <a:latin typeface="Roboto Bk"/>
                <a:cs typeface="Roboto Bk"/>
              </a:rPr>
              <a:t>=</a:t>
            </a:r>
            <a:r>
              <a:rPr sz="1400" b="1" spc="-35" dirty="0">
                <a:latin typeface="Roboto Bk"/>
                <a:cs typeface="Roboto Bk"/>
              </a:rPr>
              <a:t> </a:t>
            </a:r>
            <a:r>
              <a:rPr sz="1400" b="1" dirty="0">
                <a:latin typeface="Roboto Bk"/>
                <a:cs typeface="Roboto Bk"/>
              </a:rPr>
              <a:t>number</a:t>
            </a:r>
            <a:r>
              <a:rPr sz="1400" b="1" spc="-55" dirty="0">
                <a:latin typeface="Roboto Bk"/>
                <a:cs typeface="Roboto Bk"/>
              </a:rPr>
              <a:t> </a:t>
            </a:r>
            <a:r>
              <a:rPr sz="1400" b="1" dirty="0">
                <a:latin typeface="Roboto Bk"/>
                <a:cs typeface="Roboto Bk"/>
              </a:rPr>
              <a:t>of</a:t>
            </a:r>
            <a:r>
              <a:rPr sz="1400" b="1" spc="-10" dirty="0">
                <a:latin typeface="Roboto Bk"/>
                <a:cs typeface="Roboto Bk"/>
              </a:rPr>
              <a:t> </a:t>
            </a:r>
            <a:r>
              <a:rPr sz="1400" b="1" dirty="0">
                <a:latin typeface="Roboto Bk"/>
                <a:cs typeface="Roboto Bk"/>
              </a:rPr>
              <a:t>times</a:t>
            </a:r>
            <a:r>
              <a:rPr sz="1400" b="1" spc="-25" dirty="0">
                <a:latin typeface="Roboto Bk"/>
                <a:cs typeface="Roboto Bk"/>
              </a:rPr>
              <a:t> </a:t>
            </a:r>
            <a:r>
              <a:rPr sz="1400" b="1" dirty="0">
                <a:latin typeface="Roboto Bk"/>
                <a:cs typeface="Roboto Bk"/>
              </a:rPr>
              <a:t>X</a:t>
            </a:r>
            <a:r>
              <a:rPr sz="1400" b="1" spc="-25" dirty="0">
                <a:latin typeface="Roboto Bk"/>
                <a:cs typeface="Roboto Bk"/>
              </a:rPr>
              <a:t> </a:t>
            </a:r>
            <a:r>
              <a:rPr sz="1400" b="1" dirty="0">
                <a:latin typeface="Roboto Bk"/>
                <a:cs typeface="Roboto Bk"/>
              </a:rPr>
              <a:t>appeared</a:t>
            </a:r>
            <a:r>
              <a:rPr sz="1400" b="1" spc="-65" dirty="0">
                <a:latin typeface="Roboto Bk"/>
                <a:cs typeface="Roboto Bk"/>
              </a:rPr>
              <a:t> </a:t>
            </a:r>
            <a:r>
              <a:rPr sz="1400" b="1" dirty="0">
                <a:latin typeface="Roboto Bk"/>
                <a:cs typeface="Roboto Bk"/>
              </a:rPr>
              <a:t>in</a:t>
            </a:r>
            <a:r>
              <a:rPr sz="1400" b="1" spc="-15" dirty="0">
                <a:latin typeface="Roboto Bk"/>
                <a:cs typeface="Roboto Bk"/>
              </a:rPr>
              <a:t> </a:t>
            </a:r>
            <a:r>
              <a:rPr sz="1400" b="1" dirty="0">
                <a:latin typeface="Roboto Bk"/>
                <a:cs typeface="Roboto Bk"/>
              </a:rPr>
              <a:t>any</a:t>
            </a:r>
            <a:r>
              <a:rPr sz="1400" b="1" spc="-25" dirty="0">
                <a:latin typeface="Roboto Bk"/>
                <a:cs typeface="Roboto Bk"/>
              </a:rPr>
              <a:t> </a:t>
            </a:r>
            <a:r>
              <a:rPr sz="1400" b="1" spc="-10" dirty="0">
                <a:latin typeface="Roboto Bk"/>
                <a:cs typeface="Roboto Bk"/>
              </a:rPr>
              <a:t>transaction</a:t>
            </a:r>
            <a:r>
              <a:rPr sz="1400" b="1" spc="-15" dirty="0">
                <a:latin typeface="Roboto Bk"/>
                <a:cs typeface="Roboto Bk"/>
              </a:rPr>
              <a:t> </a:t>
            </a:r>
            <a:r>
              <a:rPr sz="1400" b="1" dirty="0">
                <a:latin typeface="Roboto Bk"/>
                <a:cs typeface="Roboto Bk"/>
              </a:rPr>
              <a:t>/</a:t>
            </a:r>
            <a:r>
              <a:rPr sz="1400" b="1" spc="-20" dirty="0">
                <a:latin typeface="Roboto Bk"/>
                <a:cs typeface="Roboto Bk"/>
              </a:rPr>
              <a:t> total</a:t>
            </a:r>
            <a:r>
              <a:rPr sz="1400" b="1" spc="-30" dirty="0">
                <a:latin typeface="Roboto Bk"/>
                <a:cs typeface="Roboto Bk"/>
              </a:rPr>
              <a:t> </a:t>
            </a:r>
            <a:r>
              <a:rPr sz="1400" b="1" dirty="0">
                <a:latin typeface="Roboto Bk"/>
                <a:cs typeface="Roboto Bk"/>
              </a:rPr>
              <a:t>number</a:t>
            </a:r>
            <a:r>
              <a:rPr sz="1400" b="1" spc="-50" dirty="0">
                <a:latin typeface="Roboto Bk"/>
                <a:cs typeface="Roboto Bk"/>
              </a:rPr>
              <a:t> </a:t>
            </a:r>
            <a:r>
              <a:rPr sz="1400" b="1" spc="-25" dirty="0">
                <a:latin typeface="Roboto Bk"/>
                <a:cs typeface="Roboto Bk"/>
              </a:rPr>
              <a:t>of </a:t>
            </a:r>
            <a:r>
              <a:rPr sz="1400" b="1" spc="-10" dirty="0">
                <a:latin typeface="Roboto Bk"/>
                <a:cs typeface="Roboto Bk"/>
              </a:rPr>
              <a:t>transactions.</a:t>
            </a:r>
            <a:endParaRPr sz="1400">
              <a:latin typeface="Roboto Bk"/>
              <a:cs typeface="Roboto Bk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91400" y="3152013"/>
            <a:ext cx="329565" cy="238125"/>
          </a:xfrm>
          <a:prstGeom prst="rect">
            <a:avLst/>
          </a:prstGeom>
          <a:solidFill>
            <a:srgbClr val="F7F7F8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839"/>
              </a:lnSpc>
            </a:pPr>
            <a:r>
              <a:rPr sz="1600" dirty="0">
                <a:solidFill>
                  <a:srgbClr val="404040"/>
                </a:solidFill>
                <a:latin typeface="Cambria Math"/>
                <a:cs typeface="Cambria Math"/>
              </a:rPr>
              <a:t>∪</a:t>
            </a:r>
            <a:r>
              <a:rPr sz="1600" spc="30" dirty="0">
                <a:solidFill>
                  <a:srgbClr val="404040"/>
                </a:solidFill>
                <a:latin typeface="Cambria Math"/>
                <a:cs typeface="Cambria Math"/>
              </a:rPr>
              <a:t> </a:t>
            </a:r>
            <a:r>
              <a:rPr sz="1400" b="1" spc="-50" dirty="0">
                <a:solidFill>
                  <a:srgbClr val="404040"/>
                </a:solidFill>
                <a:latin typeface="Roboto Bk"/>
                <a:cs typeface="Roboto Bk"/>
              </a:rPr>
              <a:t>=</a:t>
            </a:r>
            <a:endParaRPr sz="1400">
              <a:latin typeface="Roboto Bk"/>
              <a:cs typeface="Roboto Bk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08100" y="3153613"/>
            <a:ext cx="401383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20" dirty="0">
                <a:latin typeface="Roboto Bk"/>
                <a:cs typeface="Roboto Bk"/>
              </a:rPr>
              <a:t>Union</a:t>
            </a:r>
            <a:r>
              <a:rPr sz="1400" b="1" spc="-50" dirty="0">
                <a:latin typeface="Roboto Bk"/>
                <a:cs typeface="Roboto Bk"/>
              </a:rPr>
              <a:t> </a:t>
            </a:r>
            <a:r>
              <a:rPr sz="1400" b="1" spc="-65" dirty="0">
                <a:latin typeface="Roboto Bk"/>
                <a:cs typeface="Roboto Bk"/>
              </a:rPr>
              <a:t>i.e.,</a:t>
            </a:r>
            <a:r>
              <a:rPr sz="1400" b="1" spc="-25" dirty="0">
                <a:latin typeface="Roboto Bk"/>
                <a:cs typeface="Roboto Bk"/>
              </a:rPr>
              <a:t> </a:t>
            </a:r>
            <a:r>
              <a:rPr sz="1400" b="1" dirty="0">
                <a:latin typeface="Roboto Bk"/>
                <a:cs typeface="Roboto Bk"/>
              </a:rPr>
              <a:t>Transactions</a:t>
            </a:r>
            <a:r>
              <a:rPr sz="1400" b="1" spc="-35" dirty="0">
                <a:latin typeface="Roboto Bk"/>
                <a:cs typeface="Roboto Bk"/>
              </a:rPr>
              <a:t> </a:t>
            </a:r>
            <a:r>
              <a:rPr sz="1400" b="1" dirty="0">
                <a:latin typeface="Roboto Bk"/>
                <a:cs typeface="Roboto Bk"/>
              </a:rPr>
              <a:t>that have</a:t>
            </a:r>
            <a:r>
              <a:rPr sz="1400" b="1" spc="-35" dirty="0">
                <a:latin typeface="Roboto Bk"/>
                <a:cs typeface="Roboto Bk"/>
              </a:rPr>
              <a:t> </a:t>
            </a:r>
            <a:r>
              <a:rPr sz="1400" b="1" dirty="0">
                <a:latin typeface="Roboto Bk"/>
                <a:cs typeface="Roboto Bk"/>
              </a:rPr>
              <a:t>A</a:t>
            </a:r>
            <a:r>
              <a:rPr sz="1400" b="1" spc="-30" dirty="0">
                <a:latin typeface="Roboto Bk"/>
                <a:cs typeface="Roboto Bk"/>
              </a:rPr>
              <a:t> </a:t>
            </a:r>
            <a:r>
              <a:rPr sz="1400" b="1" dirty="0">
                <a:latin typeface="Roboto Bk"/>
                <a:cs typeface="Roboto Bk"/>
              </a:rPr>
              <a:t>and</a:t>
            </a:r>
            <a:r>
              <a:rPr sz="1400" b="1" spc="-30" dirty="0">
                <a:latin typeface="Roboto Bk"/>
                <a:cs typeface="Roboto Bk"/>
              </a:rPr>
              <a:t> </a:t>
            </a:r>
            <a:r>
              <a:rPr sz="1400" b="1" dirty="0">
                <a:latin typeface="Roboto Bk"/>
                <a:cs typeface="Roboto Bk"/>
              </a:rPr>
              <a:t>B</a:t>
            </a:r>
            <a:r>
              <a:rPr sz="1400" b="1" spc="-20" dirty="0">
                <a:latin typeface="Roboto Bk"/>
                <a:cs typeface="Roboto Bk"/>
              </a:rPr>
              <a:t> </a:t>
            </a:r>
            <a:r>
              <a:rPr sz="1400" b="1" spc="-10" dirty="0">
                <a:latin typeface="Roboto Bk"/>
                <a:cs typeface="Roboto Bk"/>
              </a:rPr>
              <a:t>together</a:t>
            </a:r>
            <a:endParaRPr sz="1400">
              <a:latin typeface="Roboto Bk"/>
              <a:cs typeface="Roboto Bk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4455">
              <a:lnSpc>
                <a:spcPct val="100000"/>
              </a:lnSpc>
              <a:spcBef>
                <a:spcPts val="100"/>
              </a:spcBef>
            </a:pPr>
            <a:r>
              <a:rPr spc="-30" dirty="0"/>
              <a:t>Apriori</a:t>
            </a:r>
            <a:r>
              <a:rPr spc="-135" dirty="0"/>
              <a:t> </a:t>
            </a:r>
            <a:r>
              <a:rPr spc="-10" dirty="0"/>
              <a:t>Association</a:t>
            </a:r>
            <a:r>
              <a:rPr spc="-135" dirty="0"/>
              <a:t> </a:t>
            </a:r>
            <a:r>
              <a:rPr spc="-10" dirty="0"/>
              <a:t>Algorithm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25" dirty="0"/>
              <a:t>21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45693" y="1346149"/>
            <a:ext cx="5544185" cy="1093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10" dirty="0">
                <a:latin typeface="Roboto Bk"/>
                <a:cs typeface="Roboto Bk"/>
              </a:rPr>
              <a:t>Sales</a:t>
            </a:r>
            <a:r>
              <a:rPr sz="1400" b="1" spc="-25" dirty="0">
                <a:latin typeface="Roboto Bk"/>
                <a:cs typeface="Roboto Bk"/>
              </a:rPr>
              <a:t> </a:t>
            </a:r>
            <a:r>
              <a:rPr sz="1400" b="1" dirty="0">
                <a:latin typeface="Roboto Bk"/>
                <a:cs typeface="Roboto Bk"/>
              </a:rPr>
              <a:t>data of</a:t>
            </a:r>
            <a:r>
              <a:rPr sz="1400" b="1" spc="-10" dirty="0">
                <a:latin typeface="Roboto Bk"/>
                <a:cs typeface="Roboto Bk"/>
              </a:rPr>
              <a:t> </a:t>
            </a:r>
            <a:r>
              <a:rPr sz="1400" b="1" dirty="0">
                <a:latin typeface="Roboto Bk"/>
                <a:cs typeface="Roboto Bk"/>
              </a:rPr>
              <a:t>a </a:t>
            </a:r>
            <a:r>
              <a:rPr sz="1400" b="1" spc="-20" dirty="0">
                <a:latin typeface="Roboto Bk"/>
                <a:cs typeface="Roboto Bk"/>
              </a:rPr>
              <a:t>shop</a:t>
            </a:r>
            <a:endParaRPr sz="1400">
              <a:latin typeface="Roboto Bk"/>
              <a:cs typeface="Roboto Bk"/>
            </a:endParaRPr>
          </a:p>
          <a:p>
            <a:pPr>
              <a:lnSpc>
                <a:spcPct val="100000"/>
              </a:lnSpc>
            </a:pPr>
            <a:endParaRPr sz="1400">
              <a:latin typeface="Roboto Bk"/>
              <a:cs typeface="Roboto Bk"/>
            </a:endParaRPr>
          </a:p>
          <a:p>
            <a:pPr marL="469265" indent="-316865">
              <a:lnSpc>
                <a:spcPct val="100000"/>
              </a:lnSpc>
              <a:buAutoNum type="arabicPeriod"/>
              <a:tabLst>
                <a:tab pos="469265" algn="l"/>
              </a:tabLst>
            </a:pPr>
            <a:r>
              <a:rPr sz="1400" b="1" spc="-10" dirty="0">
                <a:latin typeface="Roboto Bk"/>
                <a:cs typeface="Roboto Bk"/>
              </a:rPr>
              <a:t>1000</a:t>
            </a:r>
            <a:r>
              <a:rPr sz="1400" b="1" spc="-50" dirty="0">
                <a:latin typeface="Roboto Bk"/>
                <a:cs typeface="Roboto Bk"/>
              </a:rPr>
              <a:t> </a:t>
            </a:r>
            <a:r>
              <a:rPr sz="1400" b="1" spc="-20" dirty="0">
                <a:latin typeface="Roboto Bk"/>
                <a:cs typeface="Roboto Bk"/>
              </a:rPr>
              <a:t>overall</a:t>
            </a:r>
            <a:r>
              <a:rPr sz="1400" b="1" spc="-60" dirty="0">
                <a:latin typeface="Roboto Bk"/>
                <a:cs typeface="Roboto Bk"/>
              </a:rPr>
              <a:t> </a:t>
            </a:r>
            <a:r>
              <a:rPr sz="1400" b="1" spc="-10" dirty="0">
                <a:latin typeface="Roboto Bk"/>
                <a:cs typeface="Roboto Bk"/>
              </a:rPr>
              <a:t>Transactions.</a:t>
            </a:r>
            <a:endParaRPr sz="1400">
              <a:latin typeface="Roboto Bk"/>
              <a:cs typeface="Roboto Bk"/>
            </a:endParaRPr>
          </a:p>
          <a:p>
            <a:pPr marL="469265" indent="-316865">
              <a:lnSpc>
                <a:spcPct val="100000"/>
              </a:lnSpc>
              <a:buAutoNum type="arabicPeriod"/>
              <a:tabLst>
                <a:tab pos="469265" algn="l"/>
              </a:tabLst>
            </a:pPr>
            <a:r>
              <a:rPr sz="1400" b="1" dirty="0">
                <a:latin typeface="Roboto Bk"/>
                <a:cs typeface="Roboto Bk"/>
              </a:rPr>
              <a:t>200</a:t>
            </a:r>
            <a:r>
              <a:rPr sz="1400" b="1" spc="-45" dirty="0">
                <a:latin typeface="Roboto Bk"/>
                <a:cs typeface="Roboto Bk"/>
              </a:rPr>
              <a:t> </a:t>
            </a:r>
            <a:r>
              <a:rPr sz="1400" b="1" spc="-10" dirty="0">
                <a:latin typeface="Roboto Bk"/>
                <a:cs typeface="Roboto Bk"/>
              </a:rPr>
              <a:t>transactions</a:t>
            </a:r>
            <a:r>
              <a:rPr sz="1400" b="1" spc="-40" dirty="0">
                <a:latin typeface="Roboto Bk"/>
                <a:cs typeface="Roboto Bk"/>
              </a:rPr>
              <a:t> </a:t>
            </a:r>
            <a:r>
              <a:rPr sz="1400" b="1" spc="-10" dirty="0">
                <a:latin typeface="Roboto Bk"/>
                <a:cs typeface="Roboto Bk"/>
              </a:rPr>
              <a:t>included</a:t>
            </a:r>
            <a:r>
              <a:rPr sz="1400" b="1" spc="-45" dirty="0">
                <a:latin typeface="Roboto Bk"/>
                <a:cs typeface="Roboto Bk"/>
              </a:rPr>
              <a:t> </a:t>
            </a:r>
            <a:r>
              <a:rPr sz="1400" b="1" dirty="0">
                <a:latin typeface="Roboto Bk"/>
                <a:cs typeface="Roboto Bk"/>
              </a:rPr>
              <a:t>the</a:t>
            </a:r>
            <a:r>
              <a:rPr sz="1400" b="1" spc="-30" dirty="0">
                <a:latin typeface="Roboto Bk"/>
                <a:cs typeface="Roboto Bk"/>
              </a:rPr>
              <a:t> </a:t>
            </a:r>
            <a:r>
              <a:rPr sz="1400" b="1" dirty="0">
                <a:latin typeface="Roboto Bk"/>
                <a:cs typeface="Roboto Bk"/>
              </a:rPr>
              <a:t>purchase</a:t>
            </a:r>
            <a:r>
              <a:rPr sz="1400" b="1" spc="-45" dirty="0">
                <a:latin typeface="Roboto Bk"/>
                <a:cs typeface="Roboto Bk"/>
              </a:rPr>
              <a:t> </a:t>
            </a:r>
            <a:r>
              <a:rPr sz="1400" b="1" dirty="0">
                <a:latin typeface="Roboto Bk"/>
                <a:cs typeface="Roboto Bk"/>
              </a:rPr>
              <a:t>of</a:t>
            </a:r>
            <a:r>
              <a:rPr sz="1400" b="1" spc="-30" dirty="0">
                <a:latin typeface="Roboto Bk"/>
                <a:cs typeface="Roboto Bk"/>
              </a:rPr>
              <a:t> </a:t>
            </a:r>
            <a:r>
              <a:rPr sz="1400" b="1" spc="-20" dirty="0">
                <a:latin typeface="Roboto Bk"/>
                <a:cs typeface="Roboto Bk"/>
              </a:rPr>
              <a:t>milk</a:t>
            </a:r>
            <a:endParaRPr sz="1400">
              <a:latin typeface="Roboto Bk"/>
              <a:cs typeface="Roboto Bk"/>
            </a:endParaRPr>
          </a:p>
          <a:p>
            <a:pPr marL="469265" indent="-316865">
              <a:lnSpc>
                <a:spcPct val="100000"/>
              </a:lnSpc>
              <a:buAutoNum type="arabicPeriod"/>
              <a:tabLst>
                <a:tab pos="469265" algn="l"/>
              </a:tabLst>
            </a:pPr>
            <a:r>
              <a:rPr sz="1400" b="1" dirty="0">
                <a:latin typeface="Roboto Bk"/>
                <a:cs typeface="Roboto Bk"/>
              </a:rPr>
              <a:t>150</a:t>
            </a:r>
            <a:r>
              <a:rPr sz="1400" b="1" spc="-45" dirty="0">
                <a:latin typeface="Roboto Bk"/>
                <a:cs typeface="Roboto Bk"/>
              </a:rPr>
              <a:t> </a:t>
            </a:r>
            <a:r>
              <a:rPr sz="1400" b="1" spc="-10" dirty="0">
                <a:latin typeface="Roboto Bk"/>
                <a:cs typeface="Roboto Bk"/>
              </a:rPr>
              <a:t>transactions</a:t>
            </a:r>
            <a:r>
              <a:rPr sz="1400" b="1" spc="-40" dirty="0">
                <a:latin typeface="Roboto Bk"/>
                <a:cs typeface="Roboto Bk"/>
              </a:rPr>
              <a:t> </a:t>
            </a:r>
            <a:r>
              <a:rPr sz="1400" b="1" spc="-10" dirty="0">
                <a:latin typeface="Roboto Bk"/>
                <a:cs typeface="Roboto Bk"/>
              </a:rPr>
              <a:t>included</a:t>
            </a:r>
            <a:r>
              <a:rPr sz="1400" b="1" spc="-50" dirty="0">
                <a:latin typeface="Roboto Bk"/>
                <a:cs typeface="Roboto Bk"/>
              </a:rPr>
              <a:t> </a:t>
            </a:r>
            <a:r>
              <a:rPr sz="1400" b="1" dirty="0">
                <a:latin typeface="Roboto Bk"/>
                <a:cs typeface="Roboto Bk"/>
              </a:rPr>
              <a:t>the</a:t>
            </a:r>
            <a:r>
              <a:rPr sz="1400" b="1" spc="-30" dirty="0">
                <a:latin typeface="Roboto Bk"/>
                <a:cs typeface="Roboto Bk"/>
              </a:rPr>
              <a:t> </a:t>
            </a:r>
            <a:r>
              <a:rPr sz="1400" b="1" dirty="0">
                <a:latin typeface="Roboto Bk"/>
                <a:cs typeface="Roboto Bk"/>
              </a:rPr>
              <a:t>purchase</a:t>
            </a:r>
            <a:r>
              <a:rPr sz="1400" b="1" spc="-45" dirty="0">
                <a:latin typeface="Roboto Bk"/>
                <a:cs typeface="Roboto Bk"/>
              </a:rPr>
              <a:t> </a:t>
            </a:r>
            <a:r>
              <a:rPr sz="1400" b="1" dirty="0">
                <a:latin typeface="Roboto Bk"/>
                <a:cs typeface="Roboto Bk"/>
              </a:rPr>
              <a:t>of</a:t>
            </a:r>
            <a:r>
              <a:rPr sz="1400" b="1" spc="-30" dirty="0">
                <a:latin typeface="Roboto Bk"/>
                <a:cs typeface="Roboto Bk"/>
              </a:rPr>
              <a:t> </a:t>
            </a:r>
            <a:r>
              <a:rPr sz="1400" b="1" dirty="0">
                <a:latin typeface="Roboto Bk"/>
                <a:cs typeface="Roboto Bk"/>
              </a:rPr>
              <a:t>bread</a:t>
            </a:r>
            <a:r>
              <a:rPr sz="1400" b="1" spc="-60" dirty="0">
                <a:latin typeface="Roboto Bk"/>
                <a:cs typeface="Roboto Bk"/>
              </a:rPr>
              <a:t> </a:t>
            </a:r>
            <a:r>
              <a:rPr sz="1400" b="1" dirty="0">
                <a:latin typeface="Roboto Bk"/>
                <a:cs typeface="Roboto Bk"/>
              </a:rPr>
              <a:t>along</a:t>
            </a:r>
            <a:r>
              <a:rPr sz="1400" b="1" spc="-55" dirty="0">
                <a:latin typeface="Roboto Bk"/>
                <a:cs typeface="Roboto Bk"/>
              </a:rPr>
              <a:t> </a:t>
            </a:r>
            <a:r>
              <a:rPr sz="1400" b="1" dirty="0">
                <a:latin typeface="Roboto Bk"/>
                <a:cs typeface="Roboto Bk"/>
              </a:rPr>
              <a:t>with</a:t>
            </a:r>
            <a:r>
              <a:rPr sz="1400" b="1" spc="-35" dirty="0">
                <a:latin typeface="Roboto Bk"/>
                <a:cs typeface="Roboto Bk"/>
              </a:rPr>
              <a:t> </a:t>
            </a:r>
            <a:r>
              <a:rPr sz="1400" b="1" spc="-20" dirty="0">
                <a:latin typeface="Roboto Bk"/>
                <a:cs typeface="Roboto Bk"/>
              </a:rPr>
              <a:t>milk</a:t>
            </a:r>
            <a:endParaRPr sz="1400">
              <a:latin typeface="Roboto Bk"/>
              <a:cs typeface="Roboto Bk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45693" y="2656077"/>
            <a:ext cx="323024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40" dirty="0">
                <a:latin typeface="Roboto Bk"/>
                <a:cs typeface="Roboto Bk"/>
              </a:rPr>
              <a:t>Confidence(Milk-</a:t>
            </a:r>
            <a:r>
              <a:rPr sz="1400" b="1" dirty="0">
                <a:latin typeface="Roboto Bk"/>
                <a:cs typeface="Roboto Bk"/>
              </a:rPr>
              <a:t>&gt;Bread)</a:t>
            </a:r>
            <a:r>
              <a:rPr sz="1400" b="1" spc="20" dirty="0">
                <a:latin typeface="Roboto Bk"/>
                <a:cs typeface="Roboto Bk"/>
              </a:rPr>
              <a:t> </a:t>
            </a:r>
            <a:r>
              <a:rPr sz="1400" b="1" spc="-50" dirty="0">
                <a:latin typeface="Roboto Bk"/>
                <a:cs typeface="Roboto Bk"/>
              </a:rPr>
              <a:t>=</a:t>
            </a:r>
            <a:r>
              <a:rPr sz="1400" b="1" spc="-5" dirty="0">
                <a:latin typeface="Roboto Bk"/>
                <a:cs typeface="Roboto Bk"/>
              </a:rPr>
              <a:t> </a:t>
            </a:r>
            <a:r>
              <a:rPr sz="1400" b="1" spc="-10" dirty="0">
                <a:latin typeface="Roboto Bk"/>
                <a:cs typeface="Roboto Bk"/>
              </a:rPr>
              <a:t>Support</a:t>
            </a:r>
            <a:r>
              <a:rPr sz="1400" b="1" spc="10" dirty="0">
                <a:latin typeface="Roboto Bk"/>
                <a:cs typeface="Roboto Bk"/>
              </a:rPr>
              <a:t> </a:t>
            </a:r>
            <a:r>
              <a:rPr sz="1400" b="1" spc="-20" dirty="0">
                <a:latin typeface="Roboto Bk"/>
                <a:cs typeface="Roboto Bk"/>
              </a:rPr>
              <a:t>(Milk</a:t>
            </a:r>
            <a:endParaRPr sz="1400">
              <a:latin typeface="Roboto Bk"/>
              <a:cs typeface="Roboto Bk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07333" y="2654173"/>
            <a:ext cx="149860" cy="238125"/>
          </a:xfrm>
          <a:prstGeom prst="rect">
            <a:avLst/>
          </a:prstGeom>
          <a:solidFill>
            <a:srgbClr val="F7F7F8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839"/>
              </a:lnSpc>
            </a:pPr>
            <a:r>
              <a:rPr sz="1600" spc="-50" dirty="0">
                <a:solidFill>
                  <a:srgbClr val="404040"/>
                </a:solidFill>
                <a:latin typeface="Cambria Math"/>
                <a:cs typeface="Cambria Math"/>
              </a:rPr>
              <a:t>∪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976496" y="2656077"/>
            <a:ext cx="18338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Roboto Bk"/>
                <a:cs typeface="Roboto Bk"/>
              </a:rPr>
              <a:t>Bread)</a:t>
            </a:r>
            <a:r>
              <a:rPr sz="1400" b="1" spc="-40" dirty="0">
                <a:latin typeface="Roboto Bk"/>
                <a:cs typeface="Roboto Bk"/>
              </a:rPr>
              <a:t> </a:t>
            </a:r>
            <a:r>
              <a:rPr sz="1400" b="1" dirty="0">
                <a:latin typeface="Roboto Bk"/>
                <a:cs typeface="Roboto Bk"/>
              </a:rPr>
              <a:t>/</a:t>
            </a:r>
            <a:r>
              <a:rPr sz="1400" b="1" spc="-15" dirty="0">
                <a:latin typeface="Roboto Bk"/>
                <a:cs typeface="Roboto Bk"/>
              </a:rPr>
              <a:t> </a:t>
            </a:r>
            <a:r>
              <a:rPr sz="1400" b="1" spc="-10" dirty="0">
                <a:latin typeface="Roboto Bk"/>
                <a:cs typeface="Roboto Bk"/>
              </a:rPr>
              <a:t>Support</a:t>
            </a:r>
            <a:r>
              <a:rPr sz="1400" b="1" spc="-30" dirty="0">
                <a:latin typeface="Roboto Bk"/>
                <a:cs typeface="Roboto Bk"/>
              </a:rPr>
              <a:t> </a:t>
            </a:r>
            <a:r>
              <a:rPr sz="1400" b="1" spc="-20" dirty="0">
                <a:latin typeface="Roboto Bk"/>
                <a:cs typeface="Roboto Bk"/>
              </a:rPr>
              <a:t>(Milk)</a:t>
            </a:r>
            <a:endParaRPr sz="1400">
              <a:latin typeface="Roboto Bk"/>
              <a:cs typeface="Roboto Bk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45693" y="3084322"/>
            <a:ext cx="3067685" cy="927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Roboto Bk"/>
                <a:cs typeface="Roboto Bk"/>
              </a:rPr>
              <a:t>Confidence</a:t>
            </a:r>
            <a:r>
              <a:rPr sz="1400" b="1" spc="-40" dirty="0">
                <a:latin typeface="Roboto Bk"/>
                <a:cs typeface="Roboto Bk"/>
              </a:rPr>
              <a:t> </a:t>
            </a:r>
            <a:r>
              <a:rPr sz="1400" b="1" dirty="0">
                <a:latin typeface="Roboto Bk"/>
                <a:cs typeface="Roboto Bk"/>
              </a:rPr>
              <a:t>=</a:t>
            </a:r>
            <a:r>
              <a:rPr sz="1400" b="1" spc="-25" dirty="0">
                <a:latin typeface="Roboto Bk"/>
                <a:cs typeface="Roboto Bk"/>
              </a:rPr>
              <a:t> (150/1000)</a:t>
            </a:r>
            <a:r>
              <a:rPr sz="1400" b="1" spc="-45" dirty="0">
                <a:latin typeface="Roboto Bk"/>
                <a:cs typeface="Roboto Bk"/>
              </a:rPr>
              <a:t> </a:t>
            </a:r>
            <a:r>
              <a:rPr sz="1400" b="1" dirty="0">
                <a:latin typeface="Roboto Bk"/>
                <a:cs typeface="Roboto Bk"/>
              </a:rPr>
              <a:t>/</a:t>
            </a:r>
            <a:r>
              <a:rPr sz="1400" b="1" spc="-10" dirty="0">
                <a:latin typeface="Roboto Bk"/>
                <a:cs typeface="Roboto Bk"/>
              </a:rPr>
              <a:t> (200/1000)</a:t>
            </a:r>
            <a:endParaRPr sz="1400">
              <a:latin typeface="Roboto Bk"/>
              <a:cs typeface="Roboto Bk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1400">
              <a:latin typeface="Roboto Bk"/>
              <a:cs typeface="Roboto Bk"/>
            </a:endParaRPr>
          </a:p>
          <a:p>
            <a:pPr marL="12700">
              <a:lnSpc>
                <a:spcPct val="100000"/>
              </a:lnSpc>
            </a:pPr>
            <a:r>
              <a:rPr sz="1400" b="1" spc="-10" dirty="0">
                <a:latin typeface="Roboto Bk"/>
                <a:cs typeface="Roboto Bk"/>
              </a:rPr>
              <a:t>Confidence</a:t>
            </a:r>
            <a:r>
              <a:rPr sz="1400" b="1" spc="-40" dirty="0">
                <a:latin typeface="Roboto Bk"/>
                <a:cs typeface="Roboto Bk"/>
              </a:rPr>
              <a:t> </a:t>
            </a:r>
            <a:r>
              <a:rPr sz="1400" b="1" dirty="0">
                <a:latin typeface="Roboto Bk"/>
                <a:cs typeface="Roboto Bk"/>
              </a:rPr>
              <a:t>=</a:t>
            </a:r>
            <a:r>
              <a:rPr sz="1400" b="1" spc="-25" dirty="0">
                <a:latin typeface="Roboto Bk"/>
                <a:cs typeface="Roboto Bk"/>
              </a:rPr>
              <a:t> </a:t>
            </a:r>
            <a:r>
              <a:rPr sz="1400" b="1" spc="-20" dirty="0">
                <a:latin typeface="Roboto Bk"/>
                <a:cs typeface="Roboto Bk"/>
              </a:rPr>
              <a:t>0.15 </a:t>
            </a:r>
            <a:r>
              <a:rPr sz="1400" b="1" dirty="0">
                <a:latin typeface="Roboto Bk"/>
                <a:cs typeface="Roboto Bk"/>
              </a:rPr>
              <a:t>/</a:t>
            </a:r>
            <a:r>
              <a:rPr sz="1400" b="1" spc="-15" dirty="0">
                <a:latin typeface="Roboto Bk"/>
                <a:cs typeface="Roboto Bk"/>
              </a:rPr>
              <a:t> </a:t>
            </a:r>
            <a:r>
              <a:rPr sz="1400" b="1" spc="-25" dirty="0">
                <a:latin typeface="Roboto Bk"/>
                <a:cs typeface="Roboto Bk"/>
              </a:rPr>
              <a:t>0.2</a:t>
            </a:r>
            <a:endParaRPr sz="1400">
              <a:latin typeface="Roboto Bk"/>
              <a:cs typeface="Roboto Bk"/>
            </a:endParaRPr>
          </a:p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sz="1400" b="1" dirty="0">
                <a:latin typeface="Roboto"/>
                <a:cs typeface="Roboto"/>
              </a:rPr>
              <a:t>Confidence</a:t>
            </a:r>
            <a:r>
              <a:rPr sz="1400" b="1" spc="-15" dirty="0">
                <a:latin typeface="Roboto"/>
                <a:cs typeface="Roboto"/>
              </a:rPr>
              <a:t> </a:t>
            </a:r>
            <a:r>
              <a:rPr sz="1400" b="1" dirty="0">
                <a:latin typeface="Roboto"/>
                <a:cs typeface="Roboto"/>
              </a:rPr>
              <a:t>=</a:t>
            </a:r>
            <a:r>
              <a:rPr sz="1400" b="1" spc="15" dirty="0">
                <a:latin typeface="Roboto"/>
                <a:cs typeface="Roboto"/>
              </a:rPr>
              <a:t> </a:t>
            </a:r>
            <a:r>
              <a:rPr sz="1400" b="1" spc="-20" dirty="0">
                <a:latin typeface="Roboto"/>
                <a:cs typeface="Roboto"/>
              </a:rPr>
              <a:t>0.75</a:t>
            </a:r>
            <a:endParaRPr sz="14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0176" y="1278049"/>
            <a:ext cx="4901712" cy="326440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4455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Frequent</a:t>
            </a:r>
            <a:r>
              <a:rPr spc="-110" dirty="0"/>
              <a:t> </a:t>
            </a:r>
            <a:r>
              <a:rPr spc="-10" dirty="0"/>
              <a:t>Itemset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25" dirty="0"/>
              <a:t>22</a:t>
            </a:fld>
            <a:endParaRPr spc="-25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4455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Frequent</a:t>
            </a:r>
            <a:r>
              <a:rPr spc="-95" dirty="0"/>
              <a:t> </a:t>
            </a:r>
            <a:r>
              <a:rPr spc="-85" dirty="0"/>
              <a:t>Itemset-</a:t>
            </a:r>
            <a:r>
              <a:rPr spc="-90" dirty="0"/>
              <a:t> </a:t>
            </a:r>
            <a:r>
              <a:rPr dirty="0"/>
              <a:t>Candidate</a:t>
            </a:r>
            <a:r>
              <a:rPr spc="-105" dirty="0"/>
              <a:t> </a:t>
            </a:r>
            <a:r>
              <a:rPr dirty="0"/>
              <a:t>1</a:t>
            </a:r>
            <a:r>
              <a:rPr spc="-70" dirty="0"/>
              <a:t> </a:t>
            </a:r>
            <a:r>
              <a:rPr dirty="0"/>
              <a:t>and</a:t>
            </a:r>
            <a:r>
              <a:rPr spc="-70" dirty="0"/>
              <a:t> </a:t>
            </a:r>
            <a:r>
              <a:rPr spc="-10" dirty="0"/>
              <a:t>Itemset</a:t>
            </a:r>
            <a:r>
              <a:rPr spc="-90" dirty="0"/>
              <a:t> </a:t>
            </a:r>
            <a:r>
              <a:rPr spc="-50" dirty="0"/>
              <a:t>1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3659" y="1225173"/>
            <a:ext cx="4036476" cy="179277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635319" y="1341486"/>
            <a:ext cx="4205748" cy="1553746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25" dirty="0"/>
              <a:t>23</a:t>
            </a:fld>
            <a:endParaRPr spc="-25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4455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Frequent</a:t>
            </a:r>
            <a:r>
              <a:rPr spc="-95" dirty="0"/>
              <a:t> </a:t>
            </a:r>
            <a:r>
              <a:rPr spc="-85" dirty="0"/>
              <a:t>Itemset-</a:t>
            </a:r>
            <a:r>
              <a:rPr spc="-90" dirty="0"/>
              <a:t> </a:t>
            </a:r>
            <a:r>
              <a:rPr dirty="0"/>
              <a:t>Candidate</a:t>
            </a:r>
            <a:r>
              <a:rPr spc="-105" dirty="0"/>
              <a:t> </a:t>
            </a:r>
            <a:r>
              <a:rPr dirty="0"/>
              <a:t>2</a:t>
            </a:r>
            <a:r>
              <a:rPr spc="-70" dirty="0"/>
              <a:t> </a:t>
            </a:r>
            <a:r>
              <a:rPr dirty="0"/>
              <a:t>and</a:t>
            </a:r>
            <a:r>
              <a:rPr spc="-70" dirty="0"/>
              <a:t> </a:t>
            </a:r>
            <a:r>
              <a:rPr spc="-10" dirty="0"/>
              <a:t>Itemset</a:t>
            </a:r>
            <a:r>
              <a:rPr spc="-90" dirty="0"/>
              <a:t> </a:t>
            </a:r>
            <a:r>
              <a:rPr spc="-50" dirty="0"/>
              <a:t>2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4048" y="1282051"/>
            <a:ext cx="4117054" cy="213472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85595" y="1389888"/>
            <a:ext cx="3938160" cy="223018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25" dirty="0"/>
              <a:t>24</a:t>
            </a:fld>
            <a:endParaRPr spc="-25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4455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Frequent</a:t>
            </a:r>
            <a:r>
              <a:rPr spc="-95" dirty="0"/>
              <a:t> </a:t>
            </a:r>
            <a:r>
              <a:rPr spc="-85" dirty="0"/>
              <a:t>Itemset-</a:t>
            </a:r>
            <a:r>
              <a:rPr spc="-90" dirty="0"/>
              <a:t> </a:t>
            </a:r>
            <a:r>
              <a:rPr dirty="0"/>
              <a:t>Candidate</a:t>
            </a:r>
            <a:r>
              <a:rPr spc="-105" dirty="0"/>
              <a:t> </a:t>
            </a:r>
            <a:r>
              <a:rPr dirty="0"/>
              <a:t>3</a:t>
            </a:r>
            <a:r>
              <a:rPr spc="-70" dirty="0"/>
              <a:t> </a:t>
            </a:r>
            <a:r>
              <a:rPr dirty="0"/>
              <a:t>and</a:t>
            </a:r>
            <a:r>
              <a:rPr spc="-70" dirty="0"/>
              <a:t> </a:t>
            </a:r>
            <a:r>
              <a:rPr spc="-10" dirty="0"/>
              <a:t>Itemset</a:t>
            </a:r>
            <a:r>
              <a:rPr spc="-90" dirty="0"/>
              <a:t> </a:t>
            </a:r>
            <a:r>
              <a:rPr spc="-50" dirty="0"/>
              <a:t>3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13780" y="1136903"/>
            <a:ext cx="4783588" cy="1849447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816533" y="3297364"/>
          <a:ext cx="5875020" cy="7918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37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375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sz="1400" b="1" spc="-10" dirty="0">
                          <a:latin typeface="Arial"/>
                          <a:cs typeface="Arial"/>
                        </a:rPr>
                        <a:t>Itemset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86360" marB="0">
                    <a:lnL w="28575">
                      <a:solidFill>
                        <a:srgbClr val="434343"/>
                      </a:solidFill>
                      <a:prstDash val="solid"/>
                    </a:lnL>
                    <a:lnR w="28575">
                      <a:solidFill>
                        <a:srgbClr val="434343"/>
                      </a:solidFill>
                      <a:prstDash val="solid"/>
                    </a:lnR>
                    <a:lnT w="28575">
                      <a:solidFill>
                        <a:srgbClr val="434343"/>
                      </a:solidFill>
                      <a:prstDash val="solid"/>
                    </a:lnT>
                    <a:lnB w="28575">
                      <a:solidFill>
                        <a:srgbClr val="43434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sz="1400" b="1" dirty="0">
                          <a:latin typeface="Arial"/>
                          <a:cs typeface="Arial"/>
                        </a:rPr>
                        <a:t>Support</a:t>
                      </a:r>
                      <a:r>
                        <a:rPr sz="1400" b="1" spc="-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20" dirty="0">
                          <a:latin typeface="Arial"/>
                          <a:cs typeface="Arial"/>
                        </a:rPr>
                        <a:t>count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86360" marB="0">
                    <a:lnL w="28575">
                      <a:solidFill>
                        <a:srgbClr val="434343"/>
                      </a:solidFill>
                      <a:prstDash val="solid"/>
                    </a:lnL>
                    <a:lnR w="28575">
                      <a:solidFill>
                        <a:srgbClr val="434343"/>
                      </a:solidFill>
                      <a:prstDash val="solid"/>
                    </a:lnR>
                    <a:lnT w="28575">
                      <a:solidFill>
                        <a:srgbClr val="434343"/>
                      </a:solidFill>
                      <a:prstDash val="solid"/>
                    </a:lnT>
                    <a:lnB w="28575">
                      <a:solidFill>
                        <a:srgbClr val="43434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6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{A,</a:t>
                      </a:r>
                      <a:r>
                        <a:rPr sz="14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B,</a:t>
                      </a:r>
                      <a:r>
                        <a:rPr sz="14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25" dirty="0">
                          <a:latin typeface="Arial MT"/>
                          <a:cs typeface="Arial MT"/>
                        </a:rPr>
                        <a:t>C}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86995" marB="0">
                    <a:lnL w="28575">
                      <a:solidFill>
                        <a:srgbClr val="434343"/>
                      </a:solidFill>
                      <a:prstDash val="solid"/>
                    </a:lnL>
                    <a:lnR w="28575">
                      <a:solidFill>
                        <a:srgbClr val="434343"/>
                      </a:solidFill>
                      <a:prstDash val="solid"/>
                    </a:lnR>
                    <a:lnT w="28575">
                      <a:solidFill>
                        <a:srgbClr val="434343"/>
                      </a:solidFill>
                      <a:prstDash val="solid"/>
                    </a:lnT>
                    <a:lnB w="28575">
                      <a:solidFill>
                        <a:srgbClr val="43434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2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86995" marB="0">
                    <a:lnL w="28575">
                      <a:solidFill>
                        <a:srgbClr val="434343"/>
                      </a:solidFill>
                      <a:prstDash val="solid"/>
                    </a:lnL>
                    <a:lnR w="28575">
                      <a:solidFill>
                        <a:srgbClr val="434343"/>
                      </a:solidFill>
                      <a:prstDash val="solid"/>
                    </a:lnR>
                    <a:lnT w="28575">
                      <a:solidFill>
                        <a:srgbClr val="434343"/>
                      </a:solidFill>
                      <a:prstDash val="solid"/>
                    </a:lnT>
                    <a:lnB w="28575">
                      <a:solidFill>
                        <a:srgbClr val="43434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25" dirty="0"/>
              <a:t>25</a:t>
            </a:fld>
            <a:endParaRPr spc="-25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Confidence</a:t>
            </a:r>
          </a:p>
        </p:txBody>
      </p:sp>
      <p:sp>
        <p:nvSpPr>
          <p:cNvPr id="3" name="object 3"/>
          <p:cNvSpPr/>
          <p:nvPr/>
        </p:nvSpPr>
        <p:spPr>
          <a:xfrm>
            <a:off x="2708148" y="2265298"/>
            <a:ext cx="189230" cy="327660"/>
          </a:xfrm>
          <a:custGeom>
            <a:avLst/>
            <a:gdLst/>
            <a:ahLst/>
            <a:cxnLst/>
            <a:rect l="l" t="t" r="r" b="b"/>
            <a:pathLst>
              <a:path w="189230" h="327660">
                <a:moveTo>
                  <a:pt x="188975" y="0"/>
                </a:moveTo>
                <a:lnTo>
                  <a:pt x="0" y="0"/>
                </a:lnTo>
                <a:lnTo>
                  <a:pt x="0" y="327660"/>
                </a:lnTo>
                <a:lnTo>
                  <a:pt x="188975" y="327660"/>
                </a:lnTo>
                <a:lnTo>
                  <a:pt x="188975" y="0"/>
                </a:lnTo>
                <a:close/>
              </a:path>
            </a:pathLst>
          </a:custGeom>
          <a:solidFill>
            <a:srgbClr val="F7F7F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158740" y="2265298"/>
            <a:ext cx="189230" cy="327660"/>
          </a:xfrm>
          <a:custGeom>
            <a:avLst/>
            <a:gdLst/>
            <a:ahLst/>
            <a:cxnLst/>
            <a:rect l="l" t="t" r="r" b="b"/>
            <a:pathLst>
              <a:path w="189229" h="327660">
                <a:moveTo>
                  <a:pt x="188975" y="0"/>
                </a:moveTo>
                <a:lnTo>
                  <a:pt x="0" y="0"/>
                </a:lnTo>
                <a:lnTo>
                  <a:pt x="0" y="327660"/>
                </a:lnTo>
                <a:lnTo>
                  <a:pt x="188975" y="327660"/>
                </a:lnTo>
                <a:lnTo>
                  <a:pt x="188975" y="0"/>
                </a:lnTo>
                <a:close/>
              </a:path>
            </a:pathLst>
          </a:custGeom>
          <a:solidFill>
            <a:srgbClr val="F7F7F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594603" y="2265298"/>
            <a:ext cx="189230" cy="327660"/>
          </a:xfrm>
          <a:custGeom>
            <a:avLst/>
            <a:gdLst/>
            <a:ahLst/>
            <a:cxnLst/>
            <a:rect l="l" t="t" r="r" b="b"/>
            <a:pathLst>
              <a:path w="189229" h="327660">
                <a:moveTo>
                  <a:pt x="188975" y="0"/>
                </a:moveTo>
                <a:lnTo>
                  <a:pt x="0" y="0"/>
                </a:lnTo>
                <a:lnTo>
                  <a:pt x="0" y="327660"/>
                </a:lnTo>
                <a:lnTo>
                  <a:pt x="188975" y="327660"/>
                </a:lnTo>
                <a:lnTo>
                  <a:pt x="188975" y="0"/>
                </a:lnTo>
                <a:close/>
              </a:path>
            </a:pathLst>
          </a:custGeom>
          <a:solidFill>
            <a:srgbClr val="F7F7F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348728" y="2265298"/>
            <a:ext cx="187960" cy="327660"/>
          </a:xfrm>
          <a:custGeom>
            <a:avLst/>
            <a:gdLst/>
            <a:ahLst/>
            <a:cxnLst/>
            <a:rect l="l" t="t" r="r" b="b"/>
            <a:pathLst>
              <a:path w="187959" h="327660">
                <a:moveTo>
                  <a:pt x="187451" y="0"/>
                </a:moveTo>
                <a:lnTo>
                  <a:pt x="0" y="0"/>
                </a:lnTo>
                <a:lnTo>
                  <a:pt x="0" y="327660"/>
                </a:lnTo>
                <a:lnTo>
                  <a:pt x="187451" y="327660"/>
                </a:lnTo>
                <a:lnTo>
                  <a:pt x="187451" y="0"/>
                </a:lnTo>
                <a:close/>
              </a:path>
            </a:pathLst>
          </a:custGeom>
          <a:solidFill>
            <a:srgbClr val="F7F7F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069644" y="2239772"/>
            <a:ext cx="672782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30" dirty="0">
                <a:latin typeface="Roboto Bk"/>
                <a:cs typeface="Roboto Bk"/>
              </a:rPr>
              <a:t>Confidence((A</a:t>
            </a:r>
            <a:r>
              <a:rPr sz="2200" spc="-30" dirty="0">
                <a:solidFill>
                  <a:srgbClr val="404040"/>
                </a:solidFill>
                <a:latin typeface="Cambria Math"/>
                <a:cs typeface="Cambria Math"/>
              </a:rPr>
              <a:t>∪</a:t>
            </a:r>
            <a:r>
              <a:rPr sz="2000" b="1" spc="-30" dirty="0">
                <a:latin typeface="Roboto Bk"/>
                <a:cs typeface="Roboto Bk"/>
              </a:rPr>
              <a:t>B)-</a:t>
            </a:r>
            <a:r>
              <a:rPr sz="2000" b="1" dirty="0">
                <a:latin typeface="Roboto Bk"/>
                <a:cs typeface="Roboto Bk"/>
              </a:rPr>
              <a:t>&gt;C)</a:t>
            </a:r>
            <a:r>
              <a:rPr sz="2000" b="1" spc="-35" dirty="0">
                <a:latin typeface="Roboto Bk"/>
                <a:cs typeface="Roboto Bk"/>
              </a:rPr>
              <a:t> </a:t>
            </a:r>
            <a:r>
              <a:rPr sz="2000" b="1" dirty="0">
                <a:latin typeface="Roboto Bk"/>
                <a:cs typeface="Roboto Bk"/>
              </a:rPr>
              <a:t>=</a:t>
            </a:r>
            <a:r>
              <a:rPr sz="2000" b="1" spc="-35" dirty="0">
                <a:latin typeface="Roboto Bk"/>
                <a:cs typeface="Roboto Bk"/>
              </a:rPr>
              <a:t> </a:t>
            </a:r>
            <a:r>
              <a:rPr sz="2000" b="1" spc="-10" dirty="0">
                <a:latin typeface="Roboto Bk"/>
                <a:cs typeface="Roboto Bk"/>
              </a:rPr>
              <a:t>Support</a:t>
            </a:r>
            <a:r>
              <a:rPr sz="2000" b="1" spc="-45" dirty="0">
                <a:latin typeface="Roboto Bk"/>
                <a:cs typeface="Roboto Bk"/>
              </a:rPr>
              <a:t> </a:t>
            </a:r>
            <a:r>
              <a:rPr sz="2000" b="1" spc="-20" dirty="0">
                <a:latin typeface="Roboto Bk"/>
                <a:cs typeface="Roboto Bk"/>
              </a:rPr>
              <a:t>((A</a:t>
            </a:r>
            <a:r>
              <a:rPr sz="2200" spc="-20" dirty="0">
                <a:solidFill>
                  <a:srgbClr val="404040"/>
                </a:solidFill>
                <a:latin typeface="Cambria Math"/>
                <a:cs typeface="Cambria Math"/>
              </a:rPr>
              <a:t>∪</a:t>
            </a:r>
            <a:r>
              <a:rPr sz="2000" b="1" spc="-20" dirty="0">
                <a:latin typeface="Roboto Bk"/>
                <a:cs typeface="Roboto Bk"/>
              </a:rPr>
              <a:t>B)</a:t>
            </a:r>
            <a:r>
              <a:rPr sz="2200" spc="-20" dirty="0">
                <a:solidFill>
                  <a:srgbClr val="404040"/>
                </a:solidFill>
                <a:latin typeface="Cambria Math"/>
                <a:cs typeface="Cambria Math"/>
              </a:rPr>
              <a:t>∪</a:t>
            </a:r>
            <a:r>
              <a:rPr sz="2000" b="1" spc="-20" dirty="0">
                <a:latin typeface="Roboto Bk"/>
                <a:cs typeface="Roboto Bk"/>
              </a:rPr>
              <a:t>C)/Support</a:t>
            </a:r>
            <a:r>
              <a:rPr sz="2000" b="1" spc="-40" dirty="0">
                <a:latin typeface="Roboto Bk"/>
                <a:cs typeface="Roboto Bk"/>
              </a:rPr>
              <a:t> </a:t>
            </a:r>
            <a:r>
              <a:rPr sz="2000" b="1" spc="-10" dirty="0">
                <a:latin typeface="Roboto Bk"/>
                <a:cs typeface="Roboto Bk"/>
              </a:rPr>
              <a:t>(A</a:t>
            </a:r>
            <a:r>
              <a:rPr sz="2200" spc="-10" dirty="0">
                <a:solidFill>
                  <a:srgbClr val="404040"/>
                </a:solidFill>
                <a:latin typeface="Cambria Math"/>
                <a:cs typeface="Cambria Math"/>
              </a:rPr>
              <a:t>∪</a:t>
            </a:r>
            <a:r>
              <a:rPr sz="2000" b="1" spc="-10" dirty="0">
                <a:latin typeface="Roboto Bk"/>
                <a:cs typeface="Roboto Bk"/>
              </a:rPr>
              <a:t>B)</a:t>
            </a:r>
            <a:endParaRPr sz="2000">
              <a:latin typeface="Roboto Bk"/>
              <a:cs typeface="Roboto Bk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25" dirty="0"/>
              <a:t>26</a:t>
            </a:fld>
            <a:endParaRPr spc="-25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4455">
              <a:lnSpc>
                <a:spcPct val="100000"/>
              </a:lnSpc>
              <a:spcBef>
                <a:spcPts val="100"/>
              </a:spcBef>
            </a:pPr>
            <a:r>
              <a:rPr dirty="0"/>
              <a:t>Pros</a:t>
            </a:r>
            <a:r>
              <a:rPr spc="-60" dirty="0"/>
              <a:t> </a:t>
            </a:r>
            <a:r>
              <a:rPr dirty="0"/>
              <a:t>and</a:t>
            </a:r>
            <a:r>
              <a:rPr spc="-55" dirty="0"/>
              <a:t> </a:t>
            </a:r>
            <a:r>
              <a:rPr dirty="0"/>
              <a:t>cons</a:t>
            </a:r>
            <a:r>
              <a:rPr spc="-55" dirty="0"/>
              <a:t> </a:t>
            </a:r>
            <a:r>
              <a:rPr dirty="0"/>
              <a:t>of</a:t>
            </a:r>
            <a:r>
              <a:rPr spc="-45" dirty="0"/>
              <a:t> </a:t>
            </a:r>
            <a:r>
              <a:rPr spc="-30" dirty="0"/>
              <a:t>Apriori</a:t>
            </a:r>
            <a:r>
              <a:rPr spc="-60" dirty="0"/>
              <a:t> </a:t>
            </a:r>
            <a:r>
              <a:rPr spc="-10" dirty="0"/>
              <a:t>Algorithm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25" dirty="0"/>
              <a:t>27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2042922" y="1547317"/>
            <a:ext cx="42227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20" dirty="0">
                <a:latin typeface="Arial"/>
                <a:cs typeface="Arial"/>
              </a:rPr>
              <a:t>Pros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638546" y="1547317"/>
            <a:ext cx="46863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20" dirty="0">
                <a:latin typeface="Arial"/>
                <a:cs typeface="Arial"/>
              </a:rPr>
              <a:t>Cons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98142" y="1944116"/>
            <a:ext cx="70993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Arial MT"/>
                <a:cs typeface="Arial MT"/>
              </a:rPr>
              <a:t>Scalable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449571" y="1944116"/>
            <a:ext cx="284670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05535" marR="5080" indent="-109347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 MT"/>
                <a:cs typeface="Arial MT"/>
              </a:rPr>
              <a:t>Computationally</a:t>
            </a:r>
            <a:r>
              <a:rPr sz="1400" spc="-7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expensive</a:t>
            </a:r>
            <a:r>
              <a:rPr sz="1400" spc="-4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for</a:t>
            </a:r>
            <a:r>
              <a:rPr sz="1400" spc="-5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large dataset.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68245" y="2553716"/>
            <a:ext cx="57023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Arial MT"/>
                <a:cs typeface="Arial MT"/>
              </a:rPr>
              <a:t>Simple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755896" y="2553716"/>
            <a:ext cx="223520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 MT"/>
                <a:cs typeface="Arial MT"/>
              </a:rPr>
              <a:t>Only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suitable</a:t>
            </a:r>
            <a:r>
              <a:rPr sz="1400" spc="-5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for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binary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spc="-20" dirty="0">
                <a:latin typeface="Arial MT"/>
                <a:cs typeface="Arial MT"/>
              </a:rPr>
              <a:t>data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56410" y="2949651"/>
            <a:ext cx="995044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Arial MT"/>
                <a:cs typeface="Arial MT"/>
              </a:rPr>
              <a:t>Widely</a:t>
            </a:r>
            <a:r>
              <a:rPr sz="1400" spc="-45" dirty="0">
                <a:latin typeface="Arial MT"/>
                <a:cs typeface="Arial MT"/>
              </a:rPr>
              <a:t> </a:t>
            </a:r>
            <a:r>
              <a:rPr sz="1400" spc="-20" dirty="0">
                <a:latin typeface="Arial MT"/>
                <a:cs typeface="Arial MT"/>
              </a:rPr>
              <a:t>used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173728" y="2949651"/>
            <a:ext cx="3397885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Arial MT"/>
                <a:cs typeface="Arial MT"/>
              </a:rPr>
              <a:t>Need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high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memory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to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store</a:t>
            </a:r>
            <a:r>
              <a:rPr sz="1400" spc="-6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all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the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itemsets</a:t>
            </a:r>
            <a:endParaRPr sz="14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</a:pPr>
            <a:r>
              <a:rPr sz="1400" dirty="0">
                <a:latin typeface="Arial MT"/>
                <a:cs typeface="Arial MT"/>
              </a:rPr>
              <a:t>generated</a:t>
            </a:r>
            <a:r>
              <a:rPr sz="1400" spc="-7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in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between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4455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Unsupervised</a:t>
            </a:r>
            <a:r>
              <a:rPr spc="-85" dirty="0"/>
              <a:t> </a:t>
            </a:r>
            <a:r>
              <a:rPr spc="-465" dirty="0"/>
              <a:t>-</a:t>
            </a:r>
            <a:r>
              <a:rPr spc="-15" dirty="0"/>
              <a:t> </a:t>
            </a:r>
            <a:r>
              <a:rPr dirty="0"/>
              <a:t>Pros</a:t>
            </a:r>
            <a:r>
              <a:rPr spc="-55" dirty="0"/>
              <a:t> </a:t>
            </a:r>
            <a:r>
              <a:rPr dirty="0"/>
              <a:t>and</a:t>
            </a:r>
            <a:r>
              <a:rPr spc="-45" dirty="0"/>
              <a:t> </a:t>
            </a:r>
            <a:r>
              <a:rPr spc="-20" dirty="0"/>
              <a:t>cons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25" dirty="0"/>
              <a:t>28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1055624" y="1528953"/>
            <a:ext cx="3191510" cy="200596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b="1" spc="-20" dirty="0">
                <a:latin typeface="Arial"/>
                <a:cs typeface="Arial"/>
              </a:rPr>
              <a:t>Pros</a:t>
            </a:r>
            <a:endParaRPr sz="1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1764"/>
              </a:spcBef>
            </a:pPr>
            <a:r>
              <a:rPr sz="1800" b="1" dirty="0">
                <a:solidFill>
                  <a:srgbClr val="434343"/>
                </a:solidFill>
                <a:latin typeface="Roboto Bk"/>
                <a:cs typeface="Roboto Bk"/>
              </a:rPr>
              <a:t>No</a:t>
            </a:r>
            <a:r>
              <a:rPr sz="1800" b="1" spc="-45" dirty="0">
                <a:solidFill>
                  <a:srgbClr val="434343"/>
                </a:solidFill>
                <a:latin typeface="Roboto Bk"/>
                <a:cs typeface="Roboto Bk"/>
              </a:rPr>
              <a:t> </a:t>
            </a:r>
            <a:r>
              <a:rPr sz="1800" b="1" dirty="0">
                <a:solidFill>
                  <a:srgbClr val="434343"/>
                </a:solidFill>
                <a:latin typeface="Roboto Bk"/>
                <a:cs typeface="Roboto Bk"/>
              </a:rPr>
              <a:t>need</a:t>
            </a:r>
            <a:r>
              <a:rPr sz="1800" b="1" spc="-50" dirty="0">
                <a:solidFill>
                  <a:srgbClr val="434343"/>
                </a:solidFill>
                <a:latin typeface="Roboto Bk"/>
                <a:cs typeface="Roboto Bk"/>
              </a:rPr>
              <a:t> </a:t>
            </a:r>
            <a:r>
              <a:rPr sz="1800" b="1" dirty="0">
                <a:solidFill>
                  <a:srgbClr val="434343"/>
                </a:solidFill>
                <a:latin typeface="Roboto Bk"/>
                <a:cs typeface="Roboto Bk"/>
              </a:rPr>
              <a:t>for</a:t>
            </a:r>
            <a:r>
              <a:rPr sz="1800" b="1" spc="-50" dirty="0">
                <a:solidFill>
                  <a:srgbClr val="434343"/>
                </a:solidFill>
                <a:latin typeface="Roboto Bk"/>
                <a:cs typeface="Roboto Bk"/>
              </a:rPr>
              <a:t> </a:t>
            </a:r>
            <a:r>
              <a:rPr sz="1800" b="1" dirty="0">
                <a:solidFill>
                  <a:srgbClr val="434343"/>
                </a:solidFill>
                <a:latin typeface="Roboto Bk"/>
                <a:cs typeface="Roboto Bk"/>
              </a:rPr>
              <a:t>labeled</a:t>
            </a:r>
            <a:r>
              <a:rPr sz="1800" b="1" spc="-35" dirty="0">
                <a:solidFill>
                  <a:srgbClr val="434343"/>
                </a:solidFill>
                <a:latin typeface="Roboto Bk"/>
                <a:cs typeface="Roboto Bk"/>
              </a:rPr>
              <a:t> </a:t>
            </a:r>
            <a:r>
              <a:rPr sz="1800" b="1" spc="-20" dirty="0">
                <a:solidFill>
                  <a:srgbClr val="434343"/>
                </a:solidFill>
                <a:latin typeface="Roboto Bk"/>
                <a:cs typeface="Roboto Bk"/>
              </a:rPr>
              <a:t>data</a:t>
            </a:r>
            <a:endParaRPr sz="1800">
              <a:latin typeface="Roboto Bk"/>
              <a:cs typeface="Roboto Bk"/>
            </a:endParaRPr>
          </a:p>
          <a:p>
            <a:pPr marL="12700" marR="5080" algn="ctr">
              <a:lnSpc>
                <a:spcPct val="173400"/>
              </a:lnSpc>
              <a:spcBef>
                <a:spcPts val="2014"/>
              </a:spcBef>
            </a:pPr>
            <a:r>
              <a:rPr sz="1800" b="1" spc="-10" dirty="0">
                <a:solidFill>
                  <a:srgbClr val="434343"/>
                </a:solidFill>
                <a:latin typeface="Roboto Bk"/>
                <a:cs typeface="Roboto Bk"/>
              </a:rPr>
              <a:t>Discovers</a:t>
            </a:r>
            <a:r>
              <a:rPr sz="1800" b="1" spc="-35" dirty="0">
                <a:solidFill>
                  <a:srgbClr val="434343"/>
                </a:solidFill>
                <a:latin typeface="Roboto Bk"/>
                <a:cs typeface="Roboto Bk"/>
              </a:rPr>
              <a:t> </a:t>
            </a:r>
            <a:r>
              <a:rPr sz="1800" b="1" spc="-10" dirty="0">
                <a:solidFill>
                  <a:srgbClr val="434343"/>
                </a:solidFill>
                <a:latin typeface="Roboto Bk"/>
                <a:cs typeface="Roboto Bk"/>
              </a:rPr>
              <a:t>hidden</a:t>
            </a:r>
            <a:r>
              <a:rPr sz="1800" b="1" spc="-55" dirty="0">
                <a:solidFill>
                  <a:srgbClr val="434343"/>
                </a:solidFill>
                <a:latin typeface="Roboto Bk"/>
                <a:cs typeface="Roboto Bk"/>
              </a:rPr>
              <a:t> </a:t>
            </a:r>
            <a:r>
              <a:rPr sz="1800" b="1" spc="-10" dirty="0">
                <a:solidFill>
                  <a:srgbClr val="434343"/>
                </a:solidFill>
                <a:latin typeface="Roboto Bk"/>
                <a:cs typeface="Roboto Bk"/>
              </a:rPr>
              <a:t>patterns </a:t>
            </a:r>
            <a:r>
              <a:rPr sz="1800" b="1" spc="-25" dirty="0">
                <a:solidFill>
                  <a:srgbClr val="434343"/>
                </a:solidFill>
                <a:latin typeface="Roboto Bk"/>
                <a:cs typeface="Roboto Bk"/>
              </a:rPr>
              <a:t>Useful</a:t>
            </a:r>
            <a:r>
              <a:rPr sz="1800" b="1" spc="-60" dirty="0">
                <a:solidFill>
                  <a:srgbClr val="434343"/>
                </a:solidFill>
                <a:latin typeface="Roboto Bk"/>
                <a:cs typeface="Roboto Bk"/>
              </a:rPr>
              <a:t> </a:t>
            </a:r>
            <a:r>
              <a:rPr sz="1800" b="1" dirty="0">
                <a:solidFill>
                  <a:srgbClr val="434343"/>
                </a:solidFill>
                <a:latin typeface="Roboto Bk"/>
                <a:cs typeface="Roboto Bk"/>
              </a:rPr>
              <a:t>in</a:t>
            </a:r>
            <a:r>
              <a:rPr sz="1800" b="1" spc="-45" dirty="0">
                <a:solidFill>
                  <a:srgbClr val="434343"/>
                </a:solidFill>
                <a:latin typeface="Roboto Bk"/>
                <a:cs typeface="Roboto Bk"/>
              </a:rPr>
              <a:t> </a:t>
            </a:r>
            <a:r>
              <a:rPr sz="1800" b="1" spc="-10" dirty="0">
                <a:solidFill>
                  <a:srgbClr val="434343"/>
                </a:solidFill>
                <a:latin typeface="Roboto Bk"/>
                <a:cs typeface="Roboto Bk"/>
              </a:rPr>
              <a:t>preprocessing</a:t>
            </a:r>
            <a:r>
              <a:rPr sz="1800" b="1" spc="-55" dirty="0">
                <a:solidFill>
                  <a:srgbClr val="434343"/>
                </a:solidFill>
                <a:latin typeface="Roboto Bk"/>
                <a:cs typeface="Roboto Bk"/>
              </a:rPr>
              <a:t> </a:t>
            </a:r>
            <a:r>
              <a:rPr sz="1800" b="1" dirty="0">
                <a:solidFill>
                  <a:srgbClr val="434343"/>
                </a:solidFill>
                <a:latin typeface="Roboto Bk"/>
                <a:cs typeface="Roboto Bk"/>
              </a:rPr>
              <a:t>of</a:t>
            </a:r>
            <a:r>
              <a:rPr sz="1800" b="1" spc="-55" dirty="0">
                <a:solidFill>
                  <a:srgbClr val="434343"/>
                </a:solidFill>
                <a:latin typeface="Roboto Bk"/>
                <a:cs typeface="Roboto Bk"/>
              </a:rPr>
              <a:t> </a:t>
            </a:r>
            <a:r>
              <a:rPr sz="1800" b="1" spc="-20" dirty="0">
                <a:solidFill>
                  <a:srgbClr val="434343"/>
                </a:solidFill>
                <a:latin typeface="Roboto Bk"/>
                <a:cs typeface="Roboto Bk"/>
              </a:rPr>
              <a:t>data</a:t>
            </a:r>
            <a:endParaRPr sz="1800">
              <a:latin typeface="Roboto Bk"/>
              <a:cs typeface="Roboto Bk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895215" y="1528953"/>
            <a:ext cx="2752725" cy="1991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b="1" spc="-20" dirty="0">
                <a:latin typeface="Arial"/>
                <a:cs typeface="Arial"/>
              </a:rPr>
              <a:t>Cons</a:t>
            </a:r>
            <a:endParaRPr sz="1800">
              <a:latin typeface="Arial"/>
              <a:cs typeface="Arial"/>
            </a:endParaRPr>
          </a:p>
          <a:p>
            <a:pPr marL="76200" marR="68580" indent="-1270" algn="ctr">
              <a:lnSpc>
                <a:spcPct val="100000"/>
              </a:lnSpc>
              <a:spcBef>
                <a:spcPts val="1620"/>
              </a:spcBef>
            </a:pPr>
            <a:r>
              <a:rPr sz="1800" b="1" spc="-20" dirty="0">
                <a:latin typeface="Roboto Bk"/>
                <a:cs typeface="Roboto Bk"/>
              </a:rPr>
              <a:t>Challenging</a:t>
            </a:r>
            <a:r>
              <a:rPr sz="1800" b="1" spc="-50" dirty="0">
                <a:latin typeface="Roboto Bk"/>
                <a:cs typeface="Roboto Bk"/>
              </a:rPr>
              <a:t> </a:t>
            </a:r>
            <a:r>
              <a:rPr sz="1800" b="1" dirty="0">
                <a:latin typeface="Roboto Bk"/>
                <a:cs typeface="Roboto Bk"/>
              </a:rPr>
              <a:t>to</a:t>
            </a:r>
            <a:r>
              <a:rPr sz="1800" b="1" spc="-40" dirty="0">
                <a:latin typeface="Roboto Bk"/>
                <a:cs typeface="Roboto Bk"/>
              </a:rPr>
              <a:t> </a:t>
            </a:r>
            <a:r>
              <a:rPr sz="1800" b="1" dirty="0">
                <a:latin typeface="Roboto Bk"/>
                <a:cs typeface="Roboto Bk"/>
              </a:rPr>
              <a:t>know</a:t>
            </a:r>
            <a:r>
              <a:rPr sz="1800" b="1" spc="-60" dirty="0">
                <a:latin typeface="Roboto Bk"/>
                <a:cs typeface="Roboto Bk"/>
              </a:rPr>
              <a:t> </a:t>
            </a:r>
            <a:r>
              <a:rPr sz="1800" b="1" spc="-25" dirty="0">
                <a:latin typeface="Roboto Bk"/>
                <a:cs typeface="Roboto Bk"/>
              </a:rPr>
              <a:t>the </a:t>
            </a:r>
            <a:r>
              <a:rPr sz="1800" b="1" dirty="0">
                <a:latin typeface="Roboto Bk"/>
                <a:cs typeface="Roboto Bk"/>
              </a:rPr>
              <a:t>performance</a:t>
            </a:r>
            <a:r>
              <a:rPr sz="1800" b="1" spc="-55" dirty="0">
                <a:latin typeface="Roboto Bk"/>
                <a:cs typeface="Roboto Bk"/>
              </a:rPr>
              <a:t> </a:t>
            </a:r>
            <a:r>
              <a:rPr sz="1800" b="1" dirty="0">
                <a:latin typeface="Roboto Bk"/>
                <a:cs typeface="Roboto Bk"/>
              </a:rPr>
              <a:t>of</a:t>
            </a:r>
            <a:r>
              <a:rPr sz="1800" b="1" spc="-35" dirty="0">
                <a:latin typeface="Roboto Bk"/>
                <a:cs typeface="Roboto Bk"/>
              </a:rPr>
              <a:t> </a:t>
            </a:r>
            <a:r>
              <a:rPr sz="1800" b="1" spc="-10" dirty="0">
                <a:latin typeface="Roboto Bk"/>
                <a:cs typeface="Roboto Bk"/>
              </a:rPr>
              <a:t>algorithm</a:t>
            </a:r>
            <a:endParaRPr sz="1800">
              <a:latin typeface="Roboto Bk"/>
              <a:cs typeface="Roboto Bk"/>
            </a:endParaRPr>
          </a:p>
          <a:p>
            <a:pPr marL="12700" marR="5080" algn="ctr">
              <a:lnSpc>
                <a:spcPts val="3750"/>
              </a:lnSpc>
              <a:spcBef>
                <a:spcPts val="75"/>
              </a:spcBef>
            </a:pPr>
            <a:r>
              <a:rPr sz="1800" dirty="0">
                <a:latin typeface="Arial MT"/>
                <a:cs typeface="Arial MT"/>
              </a:rPr>
              <a:t>Computationally</a:t>
            </a:r>
            <a:r>
              <a:rPr sz="1800" spc="-7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expensive </a:t>
            </a:r>
            <a:r>
              <a:rPr sz="1800" dirty="0">
                <a:latin typeface="Arial MT"/>
                <a:cs typeface="Arial MT"/>
              </a:rPr>
              <a:t>Difficult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interpret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results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5" dirty="0"/>
              <a:t>What’s</a:t>
            </a:r>
            <a:r>
              <a:rPr spc="-85" dirty="0"/>
              <a:t> </a:t>
            </a:r>
            <a:r>
              <a:rPr spc="-30" dirty="0"/>
              <a:t>next?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98800" y="1648923"/>
            <a:ext cx="2629847" cy="51717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289808" y="1617929"/>
            <a:ext cx="2565400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dirty="0">
                <a:solidFill>
                  <a:srgbClr val="434343"/>
                </a:solidFill>
                <a:latin typeface="Roboto Bk"/>
                <a:cs typeface="Roboto Bk"/>
              </a:rPr>
              <a:t>KNN</a:t>
            </a:r>
            <a:r>
              <a:rPr sz="3000" b="1" spc="-25" dirty="0">
                <a:solidFill>
                  <a:srgbClr val="434343"/>
                </a:solidFill>
                <a:latin typeface="Roboto Bk"/>
                <a:cs typeface="Roboto Bk"/>
              </a:rPr>
              <a:t> Algorithm</a:t>
            </a:r>
            <a:endParaRPr sz="3000">
              <a:latin typeface="Roboto Bk"/>
              <a:cs typeface="Roboto Bk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25" dirty="0"/>
              <a:t>29</a:t>
            </a:fld>
            <a:endParaRPr spc="-25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3921760" cy="5143500"/>
          </a:xfrm>
          <a:custGeom>
            <a:avLst/>
            <a:gdLst/>
            <a:ahLst/>
            <a:cxnLst/>
            <a:rect l="l" t="t" r="r" b="b"/>
            <a:pathLst>
              <a:path w="3921760" h="5143500">
                <a:moveTo>
                  <a:pt x="0" y="5143499"/>
                </a:moveTo>
                <a:lnTo>
                  <a:pt x="3921251" y="5143500"/>
                </a:lnTo>
                <a:lnTo>
                  <a:pt x="3921252" y="0"/>
                </a:lnTo>
                <a:lnTo>
                  <a:pt x="0" y="0"/>
                </a:lnTo>
                <a:lnTo>
                  <a:pt x="0" y="5143499"/>
                </a:lnTo>
                <a:close/>
              </a:path>
            </a:pathLst>
          </a:custGeom>
          <a:solidFill>
            <a:srgbClr val="00336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68538" y="4134227"/>
            <a:ext cx="766505" cy="57487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2939796" cy="514349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18617" y="444499"/>
            <a:ext cx="62357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215" dirty="0">
                <a:solidFill>
                  <a:srgbClr val="FFFFFF"/>
                </a:solidFill>
                <a:latin typeface="Arial Black"/>
                <a:cs typeface="Arial Black"/>
              </a:rPr>
              <a:t>OUR</a:t>
            </a:r>
            <a:endParaRPr sz="2200">
              <a:latin typeface="Arial Black"/>
              <a:cs typeface="Arial Black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18617" y="779779"/>
            <a:ext cx="258572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0" spc="-160" dirty="0">
                <a:solidFill>
                  <a:srgbClr val="FFFFFF"/>
                </a:solidFill>
                <a:latin typeface="Arial Black"/>
                <a:cs typeface="Arial Black"/>
              </a:rPr>
              <a:t>CONTACT</a:t>
            </a:r>
            <a:r>
              <a:rPr sz="2200" b="0" spc="-22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200" b="0" spc="-265" dirty="0">
                <a:solidFill>
                  <a:srgbClr val="FFFFFF"/>
                </a:solidFill>
                <a:latin typeface="Arial Black"/>
                <a:cs typeface="Arial Black"/>
              </a:rPr>
              <a:t>DETAILS</a:t>
            </a:r>
            <a:endParaRPr sz="2200">
              <a:latin typeface="Arial Black"/>
              <a:cs typeface="Arial Black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18820" y="1550924"/>
            <a:ext cx="258191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274955">
              <a:lnSpc>
                <a:spcPct val="15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Lucida Sans Unicode"/>
                <a:cs typeface="Lucida Sans Unicode"/>
              </a:rPr>
              <a:t>Livares</a:t>
            </a:r>
            <a:r>
              <a:rPr sz="120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FFFFFF"/>
                </a:solidFill>
                <a:latin typeface="Lucida Sans Unicode"/>
                <a:cs typeface="Lucida Sans Unicode"/>
              </a:rPr>
              <a:t>Technologies</a:t>
            </a:r>
            <a:r>
              <a:rPr sz="120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FFFFFF"/>
                </a:solidFill>
                <a:latin typeface="Lucida Sans Unicode"/>
                <a:cs typeface="Lucida Sans Unicode"/>
              </a:rPr>
              <a:t>Pvt</a:t>
            </a:r>
            <a:r>
              <a:rPr sz="12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Ltd </a:t>
            </a:r>
            <a:r>
              <a:rPr sz="1200" dirty="0">
                <a:solidFill>
                  <a:srgbClr val="FFFFFF"/>
                </a:solidFill>
                <a:latin typeface="Lucida Sans Unicode"/>
                <a:cs typeface="Lucida Sans Unicode"/>
              </a:rPr>
              <a:t>5</a:t>
            </a:r>
            <a:r>
              <a:rPr sz="1200" baseline="24305" dirty="0">
                <a:solidFill>
                  <a:srgbClr val="FFFFFF"/>
                </a:solidFill>
                <a:latin typeface="Lucida Sans Unicode"/>
                <a:cs typeface="Lucida Sans Unicode"/>
              </a:rPr>
              <a:t>th</a:t>
            </a:r>
            <a:r>
              <a:rPr sz="1200" spc="97" baseline="2430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-40" dirty="0">
                <a:solidFill>
                  <a:srgbClr val="FFFFFF"/>
                </a:solidFill>
                <a:latin typeface="Lucida Sans Unicode"/>
                <a:cs typeface="Lucida Sans Unicode"/>
              </a:rPr>
              <a:t>Floor,</a:t>
            </a:r>
            <a:r>
              <a:rPr sz="120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Yamuna</a:t>
            </a:r>
            <a:r>
              <a:rPr sz="1200" spc="-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Building </a:t>
            </a:r>
            <a:r>
              <a:rPr sz="1200" dirty="0">
                <a:solidFill>
                  <a:srgbClr val="FFFFFF"/>
                </a:solidFill>
                <a:latin typeface="Lucida Sans Unicode"/>
                <a:cs typeface="Lucida Sans Unicode"/>
              </a:rPr>
              <a:t>Technopark</a:t>
            </a:r>
            <a:r>
              <a:rPr sz="12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Phase</a:t>
            </a:r>
            <a:r>
              <a:rPr sz="120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-65" dirty="0">
                <a:solidFill>
                  <a:srgbClr val="FFFFFF"/>
                </a:solidFill>
                <a:latin typeface="Lucida Sans Unicode"/>
                <a:cs typeface="Lucida Sans Unicode"/>
              </a:rPr>
              <a:t>III</a:t>
            </a:r>
            <a:r>
              <a:rPr sz="1200" spc="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Campus</a:t>
            </a:r>
            <a:endParaRPr sz="1200">
              <a:latin typeface="Lucida Sans Unicode"/>
              <a:cs typeface="Lucida Sans Unicode"/>
            </a:endParaRPr>
          </a:p>
          <a:p>
            <a:pPr marL="38100">
              <a:lnSpc>
                <a:spcPct val="100000"/>
              </a:lnSpc>
              <a:spcBef>
                <a:spcPts val="720"/>
              </a:spcBef>
            </a:pPr>
            <a:r>
              <a:rPr sz="1200" dirty="0">
                <a:solidFill>
                  <a:srgbClr val="FFFFFF"/>
                </a:solidFill>
                <a:latin typeface="Lucida Sans Unicode"/>
                <a:cs typeface="Lucida Sans Unicode"/>
              </a:rPr>
              <a:t>Trivandrum,</a:t>
            </a:r>
            <a:r>
              <a:rPr sz="12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FFFFFF"/>
                </a:solidFill>
                <a:latin typeface="Lucida Sans Unicode"/>
                <a:cs typeface="Lucida Sans Unicode"/>
              </a:rPr>
              <a:t>Kerala,</a:t>
            </a:r>
            <a:r>
              <a:rPr sz="12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FFFFFF"/>
                </a:solidFill>
                <a:latin typeface="Lucida Sans Unicode"/>
                <a:cs typeface="Lucida Sans Unicode"/>
              </a:rPr>
              <a:t>India-</a:t>
            </a:r>
            <a:r>
              <a:rPr sz="12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695581</a:t>
            </a:r>
            <a:endParaRPr sz="120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369809" y="4735474"/>
            <a:ext cx="1433830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003361"/>
                </a:solidFill>
                <a:latin typeface="Lucida Sans Unicode"/>
                <a:cs typeface="Lucida Sans Unicode"/>
              </a:rPr>
              <a:t>Livares</a:t>
            </a:r>
            <a:r>
              <a:rPr sz="800" spc="20" dirty="0">
                <a:solidFill>
                  <a:srgbClr val="003361"/>
                </a:solidFill>
                <a:latin typeface="Lucida Sans Unicode"/>
                <a:cs typeface="Lucida Sans Unicode"/>
              </a:rPr>
              <a:t> </a:t>
            </a:r>
            <a:r>
              <a:rPr sz="800" dirty="0">
                <a:solidFill>
                  <a:srgbClr val="003361"/>
                </a:solidFill>
                <a:latin typeface="Lucida Sans Unicode"/>
                <a:cs typeface="Lucida Sans Unicode"/>
              </a:rPr>
              <a:t>Technologies</a:t>
            </a:r>
            <a:r>
              <a:rPr sz="800" spc="-5" dirty="0">
                <a:solidFill>
                  <a:srgbClr val="003361"/>
                </a:solidFill>
                <a:latin typeface="Lucida Sans Unicode"/>
                <a:cs typeface="Lucida Sans Unicode"/>
              </a:rPr>
              <a:t> </a:t>
            </a:r>
            <a:r>
              <a:rPr sz="800" dirty="0">
                <a:solidFill>
                  <a:srgbClr val="003361"/>
                </a:solidFill>
                <a:latin typeface="Lucida Sans Unicode"/>
                <a:cs typeface="Lucida Sans Unicode"/>
              </a:rPr>
              <a:t>Pvt</a:t>
            </a:r>
            <a:r>
              <a:rPr sz="800" spc="15" dirty="0">
                <a:solidFill>
                  <a:srgbClr val="003361"/>
                </a:solidFill>
                <a:latin typeface="Lucida Sans Unicode"/>
                <a:cs typeface="Lucida Sans Unicode"/>
              </a:rPr>
              <a:t> </a:t>
            </a:r>
            <a:r>
              <a:rPr sz="800" spc="-25" dirty="0">
                <a:solidFill>
                  <a:srgbClr val="003361"/>
                </a:solidFill>
                <a:latin typeface="Lucida Sans Unicode"/>
                <a:cs typeface="Lucida Sans Unicode"/>
              </a:rPr>
              <a:t>Ltd</a:t>
            </a:r>
            <a:endParaRPr sz="800">
              <a:latin typeface="Lucida Sans Unicode"/>
              <a:cs typeface="Lucida Sans Unicod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384040" y="4713528"/>
            <a:ext cx="1793239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A9A9A9"/>
                </a:solidFill>
                <a:latin typeface="Lucida Sans Unicode"/>
                <a:cs typeface="Lucida Sans Unicode"/>
              </a:rPr>
              <a:t>Tech&amp;Socio-Cultural</a:t>
            </a:r>
            <a:r>
              <a:rPr sz="1000" spc="380" dirty="0">
                <a:solidFill>
                  <a:srgbClr val="A9A9A9"/>
                </a:solidFill>
                <a:latin typeface="Lucida Sans Unicode"/>
                <a:cs typeface="Lucida Sans Unicode"/>
              </a:rPr>
              <a:t> </a:t>
            </a:r>
            <a:r>
              <a:rPr sz="1000" spc="-10" dirty="0">
                <a:solidFill>
                  <a:srgbClr val="A9A9A9"/>
                </a:solidFill>
                <a:latin typeface="Lucida Sans Unicode"/>
                <a:cs typeface="Lucida Sans Unicode"/>
              </a:rPr>
              <a:t>Group</a:t>
            </a:r>
            <a:endParaRPr sz="1000">
              <a:latin typeface="Lucida Sans Unicode"/>
              <a:cs typeface="Lucida Sans Unicode"/>
            </a:endParaRPr>
          </a:p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579364" y="0"/>
            <a:ext cx="3140964" cy="3122676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4972050" y="3241065"/>
            <a:ext cx="3159760" cy="805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5270" marR="5080" indent="-242570">
              <a:lnSpc>
                <a:spcPct val="150000"/>
              </a:lnSpc>
              <a:spcBef>
                <a:spcPts val="100"/>
              </a:spcBef>
            </a:pPr>
            <a:r>
              <a:rPr sz="1000" spc="-10" dirty="0">
                <a:solidFill>
                  <a:srgbClr val="004B80"/>
                </a:solidFill>
                <a:latin typeface="Lucida Sans Unicode"/>
                <a:cs typeface="Lucida Sans Unicode"/>
              </a:rPr>
              <a:t>Our</a:t>
            </a:r>
            <a:r>
              <a:rPr sz="1000" spc="20" dirty="0">
                <a:solidFill>
                  <a:srgbClr val="004B80"/>
                </a:solidFill>
                <a:latin typeface="Lucida Sans Unicode"/>
                <a:cs typeface="Lucida Sans Unicode"/>
              </a:rPr>
              <a:t> </a:t>
            </a:r>
            <a:r>
              <a:rPr sz="1000" dirty="0">
                <a:solidFill>
                  <a:srgbClr val="004B80"/>
                </a:solidFill>
                <a:latin typeface="Lucida Sans Unicode"/>
                <a:cs typeface="Lucida Sans Unicode"/>
              </a:rPr>
              <a:t>helpline</a:t>
            </a:r>
            <a:r>
              <a:rPr sz="1000" spc="80" dirty="0">
                <a:solidFill>
                  <a:srgbClr val="004B80"/>
                </a:solidFill>
                <a:latin typeface="Lucida Sans Unicode"/>
                <a:cs typeface="Lucida Sans Unicode"/>
              </a:rPr>
              <a:t> </a:t>
            </a:r>
            <a:r>
              <a:rPr sz="1000" spc="-10" dirty="0">
                <a:solidFill>
                  <a:srgbClr val="004B80"/>
                </a:solidFill>
                <a:latin typeface="Lucida Sans Unicode"/>
                <a:cs typeface="Lucida Sans Unicode"/>
              </a:rPr>
              <a:t>is</a:t>
            </a:r>
            <a:r>
              <a:rPr sz="1000" spc="25" dirty="0">
                <a:solidFill>
                  <a:srgbClr val="004B80"/>
                </a:solidFill>
                <a:latin typeface="Lucida Sans Unicode"/>
                <a:cs typeface="Lucida Sans Unicode"/>
              </a:rPr>
              <a:t> </a:t>
            </a:r>
            <a:r>
              <a:rPr sz="1000" dirty="0">
                <a:solidFill>
                  <a:srgbClr val="004B80"/>
                </a:solidFill>
                <a:latin typeface="Lucida Sans Unicode"/>
                <a:cs typeface="Lucida Sans Unicode"/>
              </a:rPr>
              <a:t>always</a:t>
            </a:r>
            <a:r>
              <a:rPr sz="1000" spc="55" dirty="0">
                <a:solidFill>
                  <a:srgbClr val="004B80"/>
                </a:solidFill>
                <a:latin typeface="Lucida Sans Unicode"/>
                <a:cs typeface="Lucida Sans Unicode"/>
              </a:rPr>
              <a:t> </a:t>
            </a:r>
            <a:r>
              <a:rPr sz="1000" dirty="0">
                <a:solidFill>
                  <a:srgbClr val="004B80"/>
                </a:solidFill>
                <a:latin typeface="Lucida Sans Unicode"/>
                <a:cs typeface="Lucida Sans Unicode"/>
              </a:rPr>
              <a:t>open</a:t>
            </a:r>
            <a:r>
              <a:rPr sz="1000" spc="25" dirty="0">
                <a:solidFill>
                  <a:srgbClr val="004B80"/>
                </a:solidFill>
                <a:latin typeface="Lucida Sans Unicode"/>
                <a:cs typeface="Lucida Sans Unicode"/>
              </a:rPr>
              <a:t> </a:t>
            </a:r>
            <a:r>
              <a:rPr sz="1000" dirty="0">
                <a:solidFill>
                  <a:srgbClr val="004B80"/>
                </a:solidFill>
                <a:latin typeface="Lucida Sans Unicode"/>
                <a:cs typeface="Lucida Sans Unicode"/>
              </a:rPr>
              <a:t>to</a:t>
            </a:r>
            <a:r>
              <a:rPr sz="1000" spc="25" dirty="0">
                <a:solidFill>
                  <a:srgbClr val="004B80"/>
                </a:solidFill>
                <a:latin typeface="Lucida Sans Unicode"/>
                <a:cs typeface="Lucida Sans Unicode"/>
              </a:rPr>
              <a:t> </a:t>
            </a:r>
            <a:r>
              <a:rPr sz="1000" dirty="0">
                <a:solidFill>
                  <a:srgbClr val="004B80"/>
                </a:solidFill>
                <a:latin typeface="Lucida Sans Unicode"/>
                <a:cs typeface="Lucida Sans Unicode"/>
              </a:rPr>
              <a:t>receive</a:t>
            </a:r>
            <a:r>
              <a:rPr sz="1000" spc="80" dirty="0">
                <a:solidFill>
                  <a:srgbClr val="004B80"/>
                </a:solidFill>
                <a:latin typeface="Lucida Sans Unicode"/>
                <a:cs typeface="Lucida Sans Unicode"/>
              </a:rPr>
              <a:t> </a:t>
            </a:r>
            <a:r>
              <a:rPr sz="1000" spc="55" dirty="0">
                <a:solidFill>
                  <a:srgbClr val="004B80"/>
                </a:solidFill>
                <a:latin typeface="Lucida Sans Unicode"/>
                <a:cs typeface="Lucida Sans Unicode"/>
              </a:rPr>
              <a:t>any</a:t>
            </a:r>
            <a:r>
              <a:rPr sz="1000" spc="25" dirty="0">
                <a:solidFill>
                  <a:srgbClr val="004B80"/>
                </a:solidFill>
                <a:latin typeface="Lucida Sans Unicode"/>
                <a:cs typeface="Lucida Sans Unicode"/>
              </a:rPr>
              <a:t> </a:t>
            </a:r>
            <a:r>
              <a:rPr sz="1000" spc="-10" dirty="0">
                <a:solidFill>
                  <a:srgbClr val="004B80"/>
                </a:solidFill>
                <a:latin typeface="Lucida Sans Unicode"/>
                <a:cs typeface="Lucida Sans Unicode"/>
              </a:rPr>
              <a:t>inquiry </a:t>
            </a:r>
            <a:r>
              <a:rPr sz="1000" dirty="0">
                <a:solidFill>
                  <a:srgbClr val="004B80"/>
                </a:solidFill>
                <a:latin typeface="Lucida Sans Unicode"/>
                <a:cs typeface="Lucida Sans Unicode"/>
              </a:rPr>
              <a:t>or</a:t>
            </a:r>
            <a:r>
              <a:rPr sz="1000" spc="-10" dirty="0">
                <a:solidFill>
                  <a:srgbClr val="004B80"/>
                </a:solidFill>
                <a:latin typeface="Lucida Sans Unicode"/>
                <a:cs typeface="Lucida Sans Unicode"/>
              </a:rPr>
              <a:t> </a:t>
            </a:r>
            <a:r>
              <a:rPr sz="1000" spc="-20" dirty="0">
                <a:solidFill>
                  <a:srgbClr val="004B80"/>
                </a:solidFill>
                <a:latin typeface="Lucida Sans Unicode"/>
                <a:cs typeface="Lucida Sans Unicode"/>
              </a:rPr>
              <a:t>feedback.</a:t>
            </a:r>
            <a:r>
              <a:rPr sz="1000" spc="-20" dirty="0">
                <a:solidFill>
                  <a:srgbClr val="004B80"/>
                </a:solidFill>
                <a:latin typeface="Arial Black"/>
                <a:cs typeface="Arial Black"/>
              </a:rPr>
              <a:t>Please</a:t>
            </a:r>
            <a:r>
              <a:rPr sz="1000" spc="-10" dirty="0">
                <a:solidFill>
                  <a:srgbClr val="004B80"/>
                </a:solidFill>
                <a:latin typeface="Arial Black"/>
                <a:cs typeface="Arial Black"/>
              </a:rPr>
              <a:t> </a:t>
            </a:r>
            <a:r>
              <a:rPr sz="1000" spc="-55" dirty="0">
                <a:solidFill>
                  <a:srgbClr val="004B80"/>
                </a:solidFill>
                <a:latin typeface="Arial Black"/>
                <a:cs typeface="Arial Black"/>
              </a:rPr>
              <a:t>feel</a:t>
            </a:r>
            <a:r>
              <a:rPr sz="1000" spc="-75" dirty="0">
                <a:solidFill>
                  <a:srgbClr val="004B80"/>
                </a:solidFill>
                <a:latin typeface="Arial Black"/>
                <a:cs typeface="Arial Black"/>
              </a:rPr>
              <a:t> </a:t>
            </a:r>
            <a:r>
              <a:rPr sz="1000" spc="-45" dirty="0">
                <a:solidFill>
                  <a:srgbClr val="004B80"/>
                </a:solidFill>
                <a:latin typeface="Arial Black"/>
                <a:cs typeface="Arial Black"/>
              </a:rPr>
              <a:t>free</a:t>
            </a:r>
            <a:r>
              <a:rPr sz="1000" spc="-95" dirty="0">
                <a:solidFill>
                  <a:srgbClr val="004B80"/>
                </a:solidFill>
                <a:latin typeface="Arial Black"/>
                <a:cs typeface="Arial Black"/>
              </a:rPr>
              <a:t> </a:t>
            </a:r>
            <a:r>
              <a:rPr sz="1000" spc="-50" dirty="0">
                <a:solidFill>
                  <a:srgbClr val="004B80"/>
                </a:solidFill>
                <a:latin typeface="Arial Black"/>
                <a:cs typeface="Arial Black"/>
              </a:rPr>
              <a:t>to</a:t>
            </a:r>
            <a:r>
              <a:rPr sz="1000" spc="-90" dirty="0">
                <a:solidFill>
                  <a:srgbClr val="004B80"/>
                </a:solidFill>
                <a:latin typeface="Arial Black"/>
                <a:cs typeface="Arial Black"/>
              </a:rPr>
              <a:t> </a:t>
            </a:r>
            <a:r>
              <a:rPr sz="1000" spc="-45" dirty="0">
                <a:solidFill>
                  <a:srgbClr val="004B80"/>
                </a:solidFill>
                <a:latin typeface="Arial Black"/>
                <a:cs typeface="Arial Black"/>
              </a:rPr>
              <a:t>contact</a:t>
            </a:r>
            <a:r>
              <a:rPr sz="1000" spc="-90" dirty="0">
                <a:solidFill>
                  <a:srgbClr val="004B80"/>
                </a:solidFill>
                <a:latin typeface="Arial Black"/>
                <a:cs typeface="Arial Black"/>
              </a:rPr>
              <a:t> </a:t>
            </a:r>
            <a:r>
              <a:rPr sz="1000" spc="-25" dirty="0">
                <a:solidFill>
                  <a:srgbClr val="004B80"/>
                </a:solidFill>
                <a:latin typeface="Arial Black"/>
                <a:cs typeface="Arial Black"/>
              </a:rPr>
              <a:t>us</a:t>
            </a:r>
            <a:endParaRPr sz="1000">
              <a:latin typeface="Arial Black"/>
              <a:cs typeface="Arial Black"/>
            </a:endParaRPr>
          </a:p>
          <a:p>
            <a:pPr marL="944244">
              <a:lnSpc>
                <a:spcPct val="100000"/>
              </a:lnSpc>
              <a:spcBef>
                <a:spcPts val="735"/>
              </a:spcBef>
            </a:pPr>
            <a:r>
              <a:rPr sz="1500" spc="-155" dirty="0">
                <a:solidFill>
                  <a:srgbClr val="004B80"/>
                </a:solidFill>
                <a:latin typeface="Arial Black"/>
                <a:cs typeface="Arial Black"/>
              </a:rPr>
              <a:t>THANK</a:t>
            </a:r>
            <a:r>
              <a:rPr sz="1500" spc="-180" dirty="0">
                <a:solidFill>
                  <a:srgbClr val="004B80"/>
                </a:solidFill>
                <a:latin typeface="Arial Black"/>
                <a:cs typeface="Arial Black"/>
              </a:rPr>
              <a:t> </a:t>
            </a:r>
            <a:r>
              <a:rPr sz="1500" spc="-25" dirty="0">
                <a:solidFill>
                  <a:srgbClr val="004B80"/>
                </a:solidFill>
                <a:latin typeface="Arial Black"/>
                <a:cs typeface="Arial Black"/>
              </a:rPr>
              <a:t>YOU</a:t>
            </a:r>
            <a:endParaRPr sz="1500">
              <a:latin typeface="Arial Black"/>
              <a:cs typeface="Arial Black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121155" y="4858003"/>
            <a:ext cx="108966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solidFill>
                  <a:srgbClr val="FFFFFF"/>
                </a:solidFill>
                <a:latin typeface="Lucida Sans Unicode"/>
                <a:cs typeface="Lucida Sans Unicode"/>
                <a:hlinkClick r:id="rId5"/>
              </a:rPr>
              <a:t>www.livares.com</a:t>
            </a:r>
            <a:endParaRPr sz="1000">
              <a:latin typeface="Lucida Sans Unicode"/>
              <a:cs typeface="Lucida Sans Unicode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24611" y="3134867"/>
            <a:ext cx="139065" cy="1056640"/>
            <a:chOff x="324611" y="3134867"/>
            <a:chExt cx="139065" cy="1056640"/>
          </a:xfrm>
        </p:grpSpPr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24611" y="3134867"/>
              <a:ext cx="129539" cy="92963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24611" y="3436619"/>
              <a:ext cx="112775" cy="112776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24611" y="3749039"/>
              <a:ext cx="70104" cy="131064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24611" y="4076700"/>
              <a:ext cx="138683" cy="114300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565200" y="3024377"/>
            <a:ext cx="2606040" cy="119761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200" spc="-10" dirty="0">
                <a:solidFill>
                  <a:srgbClr val="FFFFFF"/>
                </a:solidFill>
                <a:latin typeface="Lucida Sans Unicode"/>
                <a:cs typeface="Lucida Sans Unicode"/>
                <a:hlinkClick r:id="rId10"/>
              </a:rPr>
              <a:t>contact@livares.com</a:t>
            </a:r>
            <a:endParaRPr sz="12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sz="1200" spc="-155" dirty="0">
                <a:solidFill>
                  <a:srgbClr val="FFFFFF"/>
                </a:solidFill>
                <a:latin typeface="Lucida Sans Unicode"/>
                <a:cs typeface="Lucida Sans Unicode"/>
              </a:rPr>
              <a:t>+91-</a:t>
            </a:r>
            <a:r>
              <a:rPr sz="1200" spc="-145" dirty="0">
                <a:solidFill>
                  <a:srgbClr val="FFFFFF"/>
                </a:solidFill>
                <a:latin typeface="Lucida Sans Unicode"/>
                <a:cs typeface="Lucida Sans Unicode"/>
              </a:rPr>
              <a:t>471-</a:t>
            </a:r>
            <a:r>
              <a:rPr sz="12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2710003</a:t>
            </a:r>
            <a:r>
              <a:rPr sz="1200" spc="1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FFFFFF"/>
                </a:solidFill>
                <a:latin typeface="Lucida Sans Unicode"/>
                <a:cs typeface="Lucida Sans Unicode"/>
              </a:rPr>
              <a:t>|</a:t>
            </a:r>
            <a:r>
              <a:rPr sz="1200" spc="17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-150" dirty="0">
                <a:solidFill>
                  <a:srgbClr val="FFFFFF"/>
                </a:solidFill>
                <a:latin typeface="Lucida Sans Unicode"/>
                <a:cs typeface="Lucida Sans Unicode"/>
              </a:rPr>
              <a:t>+91-</a:t>
            </a:r>
            <a:r>
              <a:rPr sz="12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471-</a:t>
            </a:r>
            <a:endParaRPr sz="1200">
              <a:latin typeface="Lucida Sans Unicode"/>
              <a:cs typeface="Lucida Sans Unicode"/>
            </a:endParaRPr>
          </a:p>
          <a:p>
            <a:pPr marL="228600">
              <a:lnSpc>
                <a:spcPct val="100000"/>
              </a:lnSpc>
              <a:spcBef>
                <a:spcPts val="145"/>
              </a:spcBef>
            </a:pPr>
            <a:r>
              <a:rPr sz="12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2710004</a:t>
            </a:r>
            <a:endParaRPr sz="12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1200" spc="-10" dirty="0">
                <a:solidFill>
                  <a:srgbClr val="FFFFFF"/>
                </a:solidFill>
                <a:latin typeface="Lucida Sans Unicode"/>
                <a:cs typeface="Lucida Sans Unicode"/>
                <a:hlinkClick r:id="rId11"/>
              </a:rPr>
              <a:t>www.facebook.com/livaresofficial</a:t>
            </a:r>
            <a:endParaRPr sz="12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1030"/>
              </a:spcBef>
            </a:pPr>
            <a:r>
              <a:rPr sz="12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@livaresofficial</a:t>
            </a:r>
            <a:endParaRPr sz="12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Words>901</Words>
  <Application>Microsoft Office PowerPoint</Application>
  <PresentationFormat>On-screen Show (16:9)</PresentationFormat>
  <Paragraphs>197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40" baseType="lpstr">
      <vt:lpstr>Arial</vt:lpstr>
      <vt:lpstr>Arial Black</vt:lpstr>
      <vt:lpstr>Arial MT</vt:lpstr>
      <vt:lpstr>Cambria Math</vt:lpstr>
      <vt:lpstr>Lucida Sans Unicode</vt:lpstr>
      <vt:lpstr>Roboto</vt:lpstr>
      <vt:lpstr>Roboto Bk</vt:lpstr>
      <vt:lpstr>Roboto Cn</vt:lpstr>
      <vt:lpstr>Segoe UI Symbol</vt:lpstr>
      <vt:lpstr>Office Theme</vt:lpstr>
      <vt:lpstr>Unsupervised Machine Learning</vt:lpstr>
      <vt:lpstr>What is Machine Learning?</vt:lpstr>
      <vt:lpstr>Why we need ML?</vt:lpstr>
      <vt:lpstr>Types of ML</vt:lpstr>
      <vt:lpstr>Unsupervised ML- What?</vt:lpstr>
      <vt:lpstr>Unsupervised ML - Why?</vt:lpstr>
      <vt:lpstr>Unsupervised ML - How?</vt:lpstr>
      <vt:lpstr>Clustering</vt:lpstr>
      <vt:lpstr>Association</vt:lpstr>
      <vt:lpstr>Popular Algorithms</vt:lpstr>
      <vt:lpstr>K-Means Algorithm(K=3)</vt:lpstr>
      <vt:lpstr>K-Means Algorithm(K=3)</vt:lpstr>
      <vt:lpstr>Pros and cons of K-mean</vt:lpstr>
      <vt:lpstr>Hierarchical Clustering</vt:lpstr>
      <vt:lpstr>Hierarchical Clustering - Linkage methods</vt:lpstr>
      <vt:lpstr>PowerPoint Presentation</vt:lpstr>
      <vt:lpstr>Pros and cons of Hierarchical Clustering</vt:lpstr>
      <vt:lpstr>Apriori Association Algorithm</vt:lpstr>
      <vt:lpstr>Apriori Association Algorithm</vt:lpstr>
      <vt:lpstr>Apriori Association Algorithm</vt:lpstr>
      <vt:lpstr>Apriori Association Algorithm</vt:lpstr>
      <vt:lpstr>Frequent Itemset</vt:lpstr>
      <vt:lpstr>Frequent Itemset- Candidate 1 and Itemset 1</vt:lpstr>
      <vt:lpstr>Frequent Itemset- Candidate 2 and Itemset 2</vt:lpstr>
      <vt:lpstr>Frequent Itemset- Candidate 3 and Itemset 3</vt:lpstr>
      <vt:lpstr>Confidence</vt:lpstr>
      <vt:lpstr>Pros and cons of Apriori Algorithm</vt:lpstr>
      <vt:lpstr>Unsupervised - Pros and cons</vt:lpstr>
      <vt:lpstr>What’s next?</vt:lpstr>
      <vt:lpstr>CONTACT DETAILS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GANESH</dc:creator>
  <cp:lastModifiedBy>GANESH BHOSALE</cp:lastModifiedBy>
  <cp:revision>2</cp:revision>
  <dcterms:created xsi:type="dcterms:W3CDTF">2026-02-06T11:28:35Z</dcterms:created>
  <dcterms:modified xsi:type="dcterms:W3CDTF">2026-02-06T11:32:37Z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2023-05-24T00:00:00Z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2026-02-06T00:00:00Z</vt:filetime>
  </property>
  <property fmtid="{D5CDD505-2E9C-101B-9397-08002B2CF9AE}" pid="5" name="Producer">
    <vt:lpwstr>Microsoft® PowerPoint® 2013</vt:lpwstr>
  </property>
</Properties>
</file>